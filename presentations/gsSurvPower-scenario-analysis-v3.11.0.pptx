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3.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4.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5.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4271f74aba4bd0" /><Relationship Type="http://schemas.openxmlformats.org/officeDocument/2006/relationships/extended-properties" Target="/docProps/app.xml" Id="Rb0ddd42d188b4144" /><Relationship Type="http://schemas.openxmlformats.org/officeDocument/2006/relationships/officeDocument" Target="/ppt/presentation.xml" Id="R07f3e77a34f5433b" /></Relationships>
</file>

<file path=ppt/presentation.xml><?xml version="1.0" encoding="utf-8"?>
<p:presentation xmlns:p="http://schemas.openxmlformats.org/presentationml/2006/main">
  <p:sldMasterIdLst>
    <p:sldMasterId xmlns:r="http://schemas.openxmlformats.org/officeDocument/2006/relationships" id="2147483648" r:id="Rd26503b0f1244331"/>
  </p:sldMasterIdLst>
  <p:notesMasterIdLst>
    <p:notesMasterId xmlns:r="http://schemas.openxmlformats.org/officeDocument/2006/relationships" r:id="R793e1b86f15e4391"/>
  </p:notesMasterIdLst>
  <p:sldIdLst>
    <p:sldId xmlns:r="http://schemas.openxmlformats.org/officeDocument/2006/relationships" id="256" r:id="R81da0f647e71490f"/>
    <p:sldId xmlns:r="http://schemas.openxmlformats.org/officeDocument/2006/relationships" id="257" r:id="R8f12af95211b4bf1"/>
    <p:sldId xmlns:r="http://schemas.openxmlformats.org/officeDocument/2006/relationships" id="258" r:id="Rdee02d580e2549ba"/>
    <p:sldId xmlns:r="http://schemas.openxmlformats.org/officeDocument/2006/relationships" id="259" r:id="R1eba9f2f7eeb4901"/>
    <p:sldId xmlns:r="http://schemas.openxmlformats.org/officeDocument/2006/relationships" id="260" r:id="R88a4286f800d4858"/>
    <p:sldId xmlns:r="http://schemas.openxmlformats.org/officeDocument/2006/relationships" id="261" r:id="R8f5102311bff4a96"/>
    <p:sldId xmlns:r="http://schemas.openxmlformats.org/officeDocument/2006/relationships" id="262" r:id="R37179ed431d94e41"/>
    <p:sldId xmlns:r="http://schemas.openxmlformats.org/officeDocument/2006/relationships" id="263" r:id="Ra33383a573f64f1b"/>
    <p:sldId xmlns:r="http://schemas.openxmlformats.org/officeDocument/2006/relationships" id="264" r:id="R2bd9dd7011cc49cc"/>
    <p:sldId xmlns:r="http://schemas.openxmlformats.org/officeDocument/2006/relationships" id="265" r:id="R21b8380ffea84f7f"/>
    <p:sldId xmlns:r="http://schemas.openxmlformats.org/officeDocument/2006/relationships" id="266" r:id="Rfc6949a559454540"/>
    <p:sldId xmlns:r="http://schemas.openxmlformats.org/officeDocument/2006/relationships" id="267" r:id="Rf092e21393464ca0"/>
    <p:sldId xmlns:r="http://schemas.openxmlformats.org/officeDocument/2006/relationships" id="268" r:id="Rd6a2b5a27657411d"/>
    <p:sldId xmlns:r="http://schemas.openxmlformats.org/officeDocument/2006/relationships" id="269" r:id="Re64ac62a05e04a09"/>
    <p:sldId xmlns:r="http://schemas.openxmlformats.org/officeDocument/2006/relationships" id="270" r:id="R13405280a258487a"/>
    <p:sldId xmlns:r="http://schemas.openxmlformats.org/officeDocument/2006/relationships" id="271" r:id="Ra31b1b2c4f394079"/>
    <p:sldId xmlns:r="http://schemas.openxmlformats.org/officeDocument/2006/relationships" id="272" r:id="R23e7eb36f90e4f74"/>
    <p:sldId xmlns:r="http://schemas.openxmlformats.org/officeDocument/2006/relationships" id="273" r:id="R61d4715c484744c3"/>
    <p:sldId xmlns:r="http://schemas.openxmlformats.org/officeDocument/2006/relationships" id="274" r:id="Rc4bc5ba16b984dc9"/>
    <p:sldId xmlns:r="http://schemas.openxmlformats.org/officeDocument/2006/relationships" id="275" r:id="Red53024a8c2e434b"/>
    <p:sldId xmlns:r="http://schemas.openxmlformats.org/officeDocument/2006/relationships" id="276" r:id="R6993498a308c44eb"/>
    <p:sldId xmlns:r="http://schemas.openxmlformats.org/officeDocument/2006/relationships" id="277" r:id="Rc992c2b36a12484d"/>
    <p:sldId xmlns:r="http://schemas.openxmlformats.org/officeDocument/2006/relationships" id="278" r:id="R3091747b991d4353"/>
    <p:sldId xmlns:r="http://schemas.openxmlformats.org/officeDocument/2006/relationships" id="279" r:id="R599b957c5f2540a4"/>
    <p:sldId xmlns:r="http://schemas.openxmlformats.org/officeDocument/2006/relationships" id="280" r:id="Raec62c0ae5c34b0a"/>
    <p:sldId xmlns:r="http://schemas.openxmlformats.org/officeDocument/2006/relationships" id="281" r:id="R1b2bc8c032b74c53"/>
    <p:sldId xmlns:r="http://schemas.openxmlformats.org/officeDocument/2006/relationships" id="282" r:id="R764e761c7c524d41"/>
    <p:sldId xmlns:r="http://schemas.openxmlformats.org/officeDocument/2006/relationships" id="283" r:id="R91afdf1b624f43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9de855948b43ea" /><Relationship Type="http://schemas.openxmlformats.org/officeDocument/2006/relationships/slideMaster" Target="/ppt/slideMasters/slideMaster1.xml" Id="Rd26503b0f1244331" /><Relationship Type="http://schemas.openxmlformats.org/officeDocument/2006/relationships/notesMaster" Target="/ppt/notesMasters/notesMaster1.xml" Id="R793e1b86f15e4391" /><Relationship Type="http://schemas.openxmlformats.org/officeDocument/2006/relationships/presProps" Target="/ppt/presProps.xml" Id="R76a00d8997204dd9" /><Relationship Type="http://schemas.openxmlformats.org/officeDocument/2006/relationships/tableStyles" Target="/ppt/tableStyles.xml" Id="R9eac41622c834a90" /><Relationship Type="http://schemas.openxmlformats.org/officeDocument/2006/relationships/slide" Target="/ppt/slides/slide1.xml" Id="R81da0f647e71490f" /><Relationship Type="http://schemas.openxmlformats.org/officeDocument/2006/relationships/slide" Target="/ppt/slides/slide2.xml" Id="R8f12af95211b4bf1" /><Relationship Type="http://schemas.openxmlformats.org/officeDocument/2006/relationships/slide" Target="/ppt/slides/slide3.xml" Id="Rdee02d580e2549ba" /><Relationship Type="http://schemas.openxmlformats.org/officeDocument/2006/relationships/slide" Target="/ppt/slides/slide4.xml" Id="R1eba9f2f7eeb4901" /><Relationship Type="http://schemas.openxmlformats.org/officeDocument/2006/relationships/slide" Target="/ppt/slides/slide5.xml" Id="R88a4286f800d4858" /><Relationship Type="http://schemas.openxmlformats.org/officeDocument/2006/relationships/slide" Target="/ppt/slides/slide6.xml" Id="R8f5102311bff4a96" /><Relationship Type="http://schemas.openxmlformats.org/officeDocument/2006/relationships/slide" Target="/ppt/slides/slide7.xml" Id="R37179ed431d94e41" /><Relationship Type="http://schemas.openxmlformats.org/officeDocument/2006/relationships/slide" Target="/ppt/slides/slide8.xml" Id="Ra33383a573f64f1b" /><Relationship Type="http://schemas.openxmlformats.org/officeDocument/2006/relationships/slide" Target="/ppt/slides/slide9.xml" Id="R2bd9dd7011cc49cc" /><Relationship Type="http://schemas.openxmlformats.org/officeDocument/2006/relationships/slide" Target="/ppt/slides/slide10.xml" Id="R21b8380ffea84f7f" /><Relationship Type="http://schemas.openxmlformats.org/officeDocument/2006/relationships/slide" Target="/ppt/slides/slide11.xml" Id="Rfc6949a559454540" /><Relationship Type="http://schemas.openxmlformats.org/officeDocument/2006/relationships/slide" Target="/ppt/slides/slide12.xml" Id="Rf092e21393464ca0" /><Relationship Type="http://schemas.openxmlformats.org/officeDocument/2006/relationships/slide" Target="/ppt/slides/slide13.xml" Id="Rd6a2b5a27657411d" /><Relationship Type="http://schemas.openxmlformats.org/officeDocument/2006/relationships/slide" Target="/ppt/slides/slide14.xml" Id="Re64ac62a05e04a09" /><Relationship Type="http://schemas.openxmlformats.org/officeDocument/2006/relationships/slide" Target="/ppt/slides/slide15.xml" Id="R13405280a258487a" /><Relationship Type="http://schemas.openxmlformats.org/officeDocument/2006/relationships/slide" Target="/ppt/slides/slide16.xml" Id="Ra31b1b2c4f394079" /><Relationship Type="http://schemas.openxmlformats.org/officeDocument/2006/relationships/slide" Target="/ppt/slides/slide17.xml" Id="R23e7eb36f90e4f74" /><Relationship Type="http://schemas.openxmlformats.org/officeDocument/2006/relationships/slide" Target="/ppt/slides/slide18.xml" Id="R61d4715c484744c3" /><Relationship Type="http://schemas.openxmlformats.org/officeDocument/2006/relationships/slide" Target="/ppt/slides/slide19.xml" Id="Rc4bc5ba16b984dc9" /><Relationship Type="http://schemas.openxmlformats.org/officeDocument/2006/relationships/slide" Target="/ppt/slides/slide20.xml" Id="Red53024a8c2e434b" /><Relationship Type="http://schemas.openxmlformats.org/officeDocument/2006/relationships/slide" Target="/ppt/slides/slide21.xml" Id="R6993498a308c44eb" /><Relationship Type="http://schemas.openxmlformats.org/officeDocument/2006/relationships/slide" Target="/ppt/slides/slide22.xml" Id="Rc992c2b36a12484d" /><Relationship Type="http://schemas.openxmlformats.org/officeDocument/2006/relationships/slide" Target="/ppt/slides/slide23.xml" Id="R3091747b991d4353" /><Relationship Type="http://schemas.openxmlformats.org/officeDocument/2006/relationships/slide" Target="/ppt/slides/slide24.xml" Id="R599b957c5f2540a4" /><Relationship Type="http://schemas.openxmlformats.org/officeDocument/2006/relationships/slide" Target="/ppt/slides/slide25.xml" Id="Raec62c0ae5c34b0a" /><Relationship Type="http://schemas.openxmlformats.org/officeDocument/2006/relationships/slide" Target="/ppt/slides/slide26.xml" Id="R1b2bc8c032b74c53" /><Relationship Type="http://schemas.openxmlformats.org/officeDocument/2006/relationships/slide" Target="/ppt/slides/slide27.xml" Id="R764e761c7c524d41" /><Relationship Type="http://schemas.openxmlformats.org/officeDocument/2006/relationships/slide" Target="/ppt/slides/slide28.xml" Id="R91afdf1b624f43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bc72d8bee847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gsSurvPower">
      <a:dk1>
        <a:srgbClr val="000000"/>
      </a:dk1>
      <a:lt1>
        <a:srgbClr val="FFFFFF"/>
      </a:lt1>
      <a:dk2>
        <a:srgbClr val="4B5563"/>
      </a:dk2>
      <a:lt2>
        <a:srgbClr val="F2F2F2"/>
      </a:lt2>
      <a:accent1>
        <a:srgbClr val="3D8DFF"/>
      </a:accent1>
      <a:accent2>
        <a:srgbClr val="6DCBF4"/>
      </a:accent2>
      <a:accent3>
        <a:srgbClr val="2E8B57"/>
      </a:accent3>
      <a:accent4>
        <a:srgbClr val="E07A3F"/>
      </a:accent4>
      <a:accent5>
        <a:srgbClr val="C94B4B"/>
      </a:accent5>
      <a:accent6>
        <a:srgbClr val="7C6CE7"/>
      </a:accent6>
      <a:hlink>
        <a:srgbClr val="3D8DFF"/>
      </a:hlink>
      <a:folHlink>
        <a:srgbClr val="7C6CE7"/>
      </a:folHlink>
    </a:clrScheme>
    <a:fontScheme name="Office">
      <a:majorFont>
        <a:latin typeface="Calibri Light"/>
        <a:ea typeface="Calibri Light"/>
        <a:cs typeface="Calibri Light"/>
      </a:majorFont>
      <a:minorFont>
        <a:latin typeface="Calibri"/>
        <a:ea typeface="Calibri"/>
        <a:cs typeface="Calibri"/>
      </a:minorFont>
    </a:fontScheme>
    <a:fmtScheme name="gsSurvPow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353854f922436e" /><Relationship Type="http://schemas.openxmlformats.org/officeDocument/2006/relationships/notesMaster" Target="/ppt/notesMasters/notesMaster1.xml" Id="R4768716de20e47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4df88a743c4e24" /><Relationship Type="http://schemas.openxmlformats.org/officeDocument/2006/relationships/notesMaster" Target="/ppt/notesMasters/notesMaster1.xml" Id="R436dafb7f4fc4f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a04219cead4263" /><Relationship Type="http://schemas.openxmlformats.org/officeDocument/2006/relationships/notesMaster" Target="/ppt/notesMasters/notesMaster1.xml" Id="Rd38e73e4420d4b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7459d9b08046d1" /><Relationship Type="http://schemas.openxmlformats.org/officeDocument/2006/relationships/notesMaster" Target="/ppt/notesMasters/notesMaster1.xml" Id="R1862953d4dae4c1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007d1e0c9343b2" /><Relationship Type="http://schemas.openxmlformats.org/officeDocument/2006/relationships/notesMaster" Target="/ppt/notesMasters/notesMaster1.xml" Id="R29ffe788c7504a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85a0499ffd4fc8" /><Relationship Type="http://schemas.openxmlformats.org/officeDocument/2006/relationships/notesMaster" Target="/ppt/notesMasters/notesMaster1.xml" Id="R62b42339d8364f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37d8f1767c4ae0" /><Relationship Type="http://schemas.openxmlformats.org/officeDocument/2006/relationships/notesMaster" Target="/ppt/notesMasters/notesMaster1.xml" Id="R90068838c36a42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7fe01094004ef5" /><Relationship Type="http://schemas.openxmlformats.org/officeDocument/2006/relationships/notesMaster" Target="/ppt/notesMasters/notesMaster1.xml" Id="R58644d0fbc6843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fc633a4f3f47d6" /><Relationship Type="http://schemas.openxmlformats.org/officeDocument/2006/relationships/notesMaster" Target="/ppt/notesMasters/notesMaster1.xml" Id="R8bbe23a542d34a1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4380a46cb543c6" /><Relationship Type="http://schemas.openxmlformats.org/officeDocument/2006/relationships/notesMaster" Target="/ppt/notesMasters/notesMaster1.xml" Id="R227602b4560847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fcd4b89adfa49ab" /><Relationship Type="http://schemas.openxmlformats.org/officeDocument/2006/relationships/notesMaster" Target="/ppt/notesMasters/notesMaster1.xml" Id="Reb44621ff9914c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b2666162a042e9" /><Relationship Type="http://schemas.openxmlformats.org/officeDocument/2006/relationships/notesMaster" Target="/ppt/notesMasters/notesMaster1.xml" Id="R8654c6badbcf48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1a43ee1f15b4e13" /><Relationship Type="http://schemas.openxmlformats.org/officeDocument/2006/relationships/notesMaster" Target="/ppt/notesMasters/notesMaster1.xml" Id="R1f454195b2b5426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912f9ac80724f77" /><Relationship Type="http://schemas.openxmlformats.org/officeDocument/2006/relationships/notesMaster" Target="/ppt/notesMasters/notesMaster1.xml" Id="Rda21dd2a81034e2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5f600e715844688" /><Relationship Type="http://schemas.openxmlformats.org/officeDocument/2006/relationships/notesMaster" Target="/ppt/notesMasters/notesMaster1.xml" Id="Rf43d27046b824fb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c3b92ffbed84f52" /><Relationship Type="http://schemas.openxmlformats.org/officeDocument/2006/relationships/notesMaster" Target="/ppt/notesMasters/notesMaster1.xml" Id="Ra2e47b6f04104e5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fc97437c6194f86" /><Relationship Type="http://schemas.openxmlformats.org/officeDocument/2006/relationships/notesMaster" Target="/ppt/notesMasters/notesMaster1.xml" Id="Ra03b1ee658ed4c6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7ad29ca98704952" /><Relationship Type="http://schemas.openxmlformats.org/officeDocument/2006/relationships/notesMaster" Target="/ppt/notesMasters/notesMaster1.xml" Id="Rad9422a8018348f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f96268ca504581" /><Relationship Type="http://schemas.openxmlformats.org/officeDocument/2006/relationships/notesMaster" Target="/ppt/notesMasters/notesMaster1.xml" Id="Rf0140f59a4ff49e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3bb0ff98b3e49b2" /><Relationship Type="http://schemas.openxmlformats.org/officeDocument/2006/relationships/notesMaster" Target="/ppt/notesMasters/notesMaster1.xml" Id="R34e0de2ae8574fc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c9292059db64cd4" /><Relationship Type="http://schemas.openxmlformats.org/officeDocument/2006/relationships/notesMaster" Target="/ppt/notesMasters/notesMaster1.xml" Id="R95a8e1b2650f497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4f240f0e56b4d5f" /><Relationship Type="http://schemas.openxmlformats.org/officeDocument/2006/relationships/notesMaster" Target="/ppt/notesMasters/notesMaster1.xml" Id="Rbca225c22a2e469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03a0dab52d848bd" /><Relationship Type="http://schemas.openxmlformats.org/officeDocument/2006/relationships/notesMaster" Target="/ppt/notesMasters/notesMaster1.xml" Id="Rd9b305eec6ac4af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81e93812bf44e39" /><Relationship Type="http://schemas.openxmlformats.org/officeDocument/2006/relationships/notesMaster" Target="/ppt/notesMasters/notesMaster1.xml" Id="R9ca8160822bf448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c2e62bb683649cb" /><Relationship Type="http://schemas.openxmlformats.org/officeDocument/2006/relationships/notesMaster" Target="/ppt/notesMasters/notesMaster1.xml" Id="Rff056b0e32ac42b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c385b5f415d4e0a" /><Relationship Type="http://schemas.openxmlformats.org/officeDocument/2006/relationships/notesMaster" Target="/ppt/notesMasters/notesMaster1.xml" Id="Rfd951950846d4e8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66cc13f49794d9b" /><Relationship Type="http://schemas.openxmlformats.org/officeDocument/2006/relationships/notesMaster" Target="/ppt/notesMasters/notesMaster1.xml" Id="R53e1e6dd2e704e4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cb9627a75a44dfa" /><Relationship Type="http://schemas.openxmlformats.org/officeDocument/2006/relationships/notesMaster" Target="/ppt/notesMasters/notesMaster1.xml" Id="R2a94ff798be84e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operational question: after a survival design is chosen, how do we quantify the power consequences of plausible deviations from plan? Preview that the talk covers the function's role, timing-rule grammar, spending, and stratified examples. Suggested time: 1 minute.</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the reversal from design functions: gsSurvPower evaluates a specified plan rather than solving for the plan. This is the organizing principle for the whole vignette. Suggested time: 1 minute.</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routing prevents category errors. Use the design functions to derive a plan, gsSurvPower for deterministic expected-value scenario analysis, and simulation when realized operational variability matters. Suggested time: 1.5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a:p xmlns:a="http://schemas.openxmlformats.org/drawingml/2006/main">
            <a:r>
              <a:t>- https://merck.github.io/simtrial/reference/get_analysis_date.html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minimum viable call. A supplied x provides defaults; explicit arguments override them. The output shown uses the vignette design and reproduces 90% power. Point users to the six components they should inspect before diving into details. Suggested time: 1.5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scenarios as overrides to a reference plan. Encourage changing one family at a time first; combinations are most interpretable after the isolated effects are understood. Mention changing alpha as an advanced multiplicity sensitivity analysis. Suggested time: 1 minute.</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distinction is central to beta spending. The scenario drift uses hr; the futility design is still anchored to hr1. Test types 3, 4, 7, and 8 use hr1 for beta-spending futility calibration. Suggested time: 1.25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design's 10% beta is a spending target for constructing futility bounds. It is not guaranteed under every evaluated scenario. In the vignette example at HR 0.80, achieved beta is about 47.5% with fixed events and 45.9% with fixed calendar time. Non-binding futility still affects achieved power operationally. Suggested time: 1.5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practical decision rule. A change to hr alone with fixed event targets usually preserves timing and bounds. A change to hr at fixed calendar time can alter expected information fractions and trigger recalibration. Suggested time: 1.5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a worse HR can create more expected events at the same calendar time: the experimental arm fails faster. That extra information slightly offsets the weaker effect. Neither mode is universally correct; each represents a different operational estimand. Suggested time: 1.5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curves coincide at the design HR and remain close elsewhere, but they are not identical. At HR 0.80, calendar anchoring gives 54.1% power versus 52.5% with fixed events because more events are expected by the fixed dates. Suggested time: 1.5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the algorithm in plain language: take the latest active floor and target time, then apply hard caps. Active requirements combine with AND logic. This is the grammar that connects protocol statements to function arguments. Suggested time: 1.5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resolves the most common ambiguity. plannedCalendarTime becomes a floor when combined with event criteria. If events are early, stay at the floor. If late, wait. If a cap intervenes, analyze with fewer expected events. Other floors can push the analysis later before caps are applied. Suggested time: 1.5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quick protocol-to-code translation. Mixed NA values apply to timing-rule inputs: an NA disables the corresponding rule at that look, and an NA in a k-by-nstrata matrix disables only that analysis-by-stratum requirement. Selective upper or lower testing uses FALSE, not NA. Spending-time vectors must be complete and contain no NA values. Suggested time: 1.5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a:p xmlns:a="http://schemas.openxmlformats.org/drawingml/2006/main">
            <a:r>
              <a:t>- https://keaven.github.io/gsDesign/reference/gsSurvPower.html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crosswalk is mostly one-to-one in meaning and camel-case naming. Call out the intentional exception: simtrial's max_extension_for_target_event maps to the absolute maxCalendarTime. gsSurvPower retains maxExtension for its older relative convention. Suggested time: 1.5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a:p xmlns:a="http://schemas.openxmlformats.org/drawingml/2006/main">
            <a:r>
              <a:t>- https://merck.github.io/simtrial/reference/get_analysis_date.html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limitation precisely: event- or enrollment-triggered times are expected times. Simulation is needed for distributions of dates, the probability that competing rules bind, and power under realistic trial execution. Suggested time: 1.25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a:p xmlns:a="http://schemas.openxmlformats.org/drawingml/2006/main">
            <a:r>
              <a:t>- https://merck.github.io/simtrial/reference/get_analysis_date.html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operational inputs to a fixed plan. minfup delays the final look even if event targets are reached. targetN uses the supplied enrollment-rate shape to determine duration; if duration is fixed, set R and scale gamma yourself. Suggested time: 1.5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maxExtension only makes sense relative to a floor or timing anchor. maxCalendarTime is an absolute date and can be used even without a natural extension anchor. When both apply, take the earlier cap. Suggested time: 1.25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follow-up clock starts after all active overall and per-stratum enrollment requirements are satisfied. NA in minFollowUp means no additional follow-up gate at that look; a non-NA value requires an active minN or minNPerStratum requirement at the same look. Repeating identical thresholds can create duplicate times, so the user may need a calendar floor, event target, or minTimeFromPreviousAnalysis. Analysis times must remain strictly increasing. Suggested time: 1.5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a:p xmlns:a="http://schemas.openxmlformats.org/drawingml/2006/main">
            <a:r>
              <a:t>- https://keaven.github.io/gsDesign/reference/gsSurvPower.html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up the worked example. Enrollment totals about 629 patients. At baseline the calendar and enrollment/follow-up floors align with the event targets, so no extension is needed and power remains 90%. Suggested time: 1.25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half the planned enrollment rate, enrollment and event targets cannot be met before the caps. Analysis times move to 15.4, 30.9, and 48.0 months. The final look has only about 234 of 353 targeted events, and power drops to 74.3%. Suggested time: 1.5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an 8-month rather than 12-month control median, event targets are reached before the planned dates. The calendar floors hold the schedule fixed, expected final events rise to about 438, and power rises to 94.9%. Suggested time: 1.25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three built-in clocks. Custom usTime and lsTime remain available, but calendar and min_planned_actual modes override them. The effective time determines how much alpha and design beta is allocated by each look. Suggested time: 1.5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first look, 44.4% of calendar duration has elapsed but only 33.3% of information has accumulated. Calendar spending therefore lowers the efficacy bound and raises the futility bound, making both early decisions less conservative. Suggested time: 1.5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slow-enrollment scenario, the scenario's own information fraction normalizes to 1 at its final look. min_planned_actual instead references the planned final event total, so effective final spending is only 0.661 and power falls to 52.8%. This is intentional if unspent alpha/beta should remain unspent. Suggested time: 1.5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Despite its name, informationRates is best understood as a planned spending-time cap. It prevents spending from running ahead of either the plan or the actual information. informationRates and the other spending-time vectors must be complete and contain no NA values. In this example fullSpendingAtFinal forces the last value to 1 and power is 76.2%. Suggested time: 1.5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a:p xmlns:a="http://schemas.openxmlformats.org/drawingml/2006/main">
            <a:r>
              <a:t>- https://keaven.github.io/gsDesign/reference/gsSurvPower.html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matrix has one row per analysis and one column per stratum. Each non-NA requirement must be met. In the example, stratum 2 is slower, so stratum 1 reaches its target while stratum 2 continues, leading to totals of 31.7 and 66.3 rather than 30 and 60. Suggested time: 1.5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shared operating plan can support multiple hypotheses even when only some drive sample size. Use gsSurv() or gsSurvCalendar() to choose enrollment and analysis timing based on the priority hypothesis or the most demanding set. Once enrollment and planned analysis times are fixed, evaluate each remaining hypothesis separately with gsSurvPower(), using its hypothesis-specific effect, failure and dropout assumptions, alpha, spending, and testing schedule. The example uses biomarker-positive and overall-population hypotheses on common 12-, 24-, and 36-month dates.</a:t>
            </a:r>
          </a:p>
          <a:p xmlns:a="http://schemas.openxmlformats.org/drawingml/2006/main">
            <a:r>
              <a:t/>
            </a:r>
          </a:p>
          <a:p xmlns:a="http://schemas.openxmlformats.org/drawingml/2006/main">
            <a:r>
              <a:t>Future targeted presentation: develop this into a dedicated workflow covering which hypotheses drive sample size, common versus hypothesis-specific information, alpha allocation and multiplicity, subgroup prevalence and event mix, and how one shared operating calendar yields distinct group sequential designs. gsSurvPower() evaluates one hypothesis at a time; it does not itself define the multiplicity procedure.</a:t>
            </a:r>
          </a:p>
          <a:p xmlns:a="http://schemas.openxmlformats.org/drawingml/2006/main">
            <a:r>
              <a:t/>
            </a:r>
          </a:p>
          <a:p xmlns:a="http://schemas.openxmlformats.org/drawingml/2006/main">
            <a:r>
              <a:t>Suggested time: 1.5 minutes.</a:t>
            </a:r>
          </a:p>
          <a:p xmlns:a="http://schemas.openxmlformats.org/drawingml/2006/main">
            <a:r>
              <a:t/>
            </a:r>
          </a:p>
          <a:p xmlns:a="http://schemas.openxmlformats.org/drawingml/2006/main">
            <a:r>
              <a:t>[Sources]</a:t>
            </a:r>
          </a:p>
          <a:p xmlns:a="http://schemas.openxmlformats.org/drawingml/2006/main">
            <a:r>
              <a:t>- https://keaven.github.io/gsDesign/articles/gsSurvPower.html</a:t>
            </a:r>
          </a:p>
          <a:p xmlns:a="http://schemas.openxmlformats.org/drawingml/2006/main">
            <a:r>
              <a:t>- https://keaven.github.io/gsDesign/reference/gsSurvPower.html</a:t>
            </a:r>
          </a:p>
          <a:p xmlns:a="http://schemas.openxmlformats.org/drawingml/2006/main">
            <a:r>
              <a:t>- https://keaven.github.io/gsDesign/reference/gsSurv.html</a:t>
            </a:r>
          </a:p>
          <a:p xmlns:a="http://schemas.openxmlformats.org/drawingml/2006/main">
            <a:r>
              <a:t>- https://keaven.github.io/gsDesign/reference/gsSurvCalendar.html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reinforcing the boundary: gsSurvPower provides transparent expected-value calculations under an explicit operating plan. Its timing rules combine with AND logic until a cap intervenes. Simulation remains the tool for variability and realized execution risk. Suggested time: 1 minute.</a:t>
            </a:r>
          </a:p>
          <a:p xmlns:a="http://schemas.openxmlformats.org/drawingml/2006/main">
            <a:r>
              <a:t/>
            </a:r>
          </a:p>
          <a:p xmlns:a="http://schemas.openxmlformats.org/drawingml/2006/main">
            <a:r>
              <a:t>[Sources]</a:t>
            </a:r>
          </a:p>
          <a:p xmlns:a="http://schemas.openxmlformats.org/drawingml/2006/main">
            <a:r>
              <a:t>- https://keaven.github.io/gsDesign/articles/gsSurvPower.html</a:t>
            </a:r>
          </a:p>
          <a:p xmlns:a="http://schemas.openxmlformats.org/drawingml/2006/main">
            <a:r>
              <a:t>- https://keaven.github.io/gsDesign/reference/gsSurvPower.html</a:t>
            </a:r>
          </a:p>
          <a:p xmlns:a="http://schemas.openxmlformats.org/drawingml/2006/main">
            <a:r>
              <a:t>- https://merck.github.io/simtrial/reference/get_analysis_date.html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9baf74a49d48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f622cb6def4f03" /><Relationship Type="http://schemas.openxmlformats.org/officeDocument/2006/relationships/slideLayout" Target="/ppt/slideLayouts/slideLayout1.xml" Id="R29afc71d8005415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afc71d800541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gsSurvPower">
      <a:dk1>
        <a:srgbClr val="000000"/>
      </a:dk1>
      <a:lt1>
        <a:srgbClr val="FFFFFF"/>
      </a:lt1>
      <a:dk2>
        <a:srgbClr val="4B5563"/>
      </a:dk2>
      <a:lt2>
        <a:srgbClr val="F2F2F2"/>
      </a:lt2>
      <a:accent1>
        <a:srgbClr val="3D8DFF"/>
      </a:accent1>
      <a:accent2>
        <a:srgbClr val="6DCBF4"/>
      </a:accent2>
      <a:accent3>
        <a:srgbClr val="2E8B57"/>
      </a:accent3>
      <a:accent4>
        <a:srgbClr val="E07A3F"/>
      </a:accent4>
      <a:accent5>
        <a:srgbClr val="C94B4B"/>
      </a:accent5>
      <a:accent6>
        <a:srgbClr val="7C6CE7"/>
      </a:accent6>
      <a:hlink>
        <a:srgbClr val="3D8DFF"/>
      </a:hlink>
      <a:folHlink>
        <a:srgbClr val="7C6CE7"/>
      </a:folHlink>
    </a:clrScheme>
    <a:fontScheme name="Office">
      <a:majorFont>
        <a:latin typeface="Calibri Light"/>
        <a:ea typeface="Calibri Light"/>
        <a:cs typeface="Calibri Light"/>
      </a:majorFont>
      <a:minorFont>
        <a:latin typeface="Calibri"/>
        <a:ea typeface="Calibri"/>
        <a:cs typeface="Calibri"/>
      </a:minorFont>
    </a:fontScheme>
    <a:fmtScheme name="gsSurvPow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ec0769be32449f7" /><Relationship Type="http://schemas.openxmlformats.org/officeDocument/2006/relationships/notesSlide" Target="/ppt/notesSlides/notesSlide1.xml" Id="R65cc43aebb8d48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7abaff45ced47f5" /><Relationship Type="http://schemas.openxmlformats.org/officeDocument/2006/relationships/notesSlide" Target="/ppt/notesSlides/notesSlide2.xml" Id="Rae20c12ee51e4a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d1210c9acbe4b48" /><Relationship Type="http://schemas.openxmlformats.org/officeDocument/2006/relationships/notesSlide" Target="/ppt/notesSlides/notesSlide3.xml" Id="R872a190badd94b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48428c7a274816" /><Relationship Type="http://schemas.openxmlformats.org/officeDocument/2006/relationships/notesSlide" Target="/ppt/notesSlides/notesSlide4.xml" Id="R5a46839618474e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d12bda39e75400a" /><Relationship Type="http://schemas.openxmlformats.org/officeDocument/2006/relationships/notesSlide" Target="/ppt/notesSlides/notesSlide5.xml" Id="R4d848d67e3fe4c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82c2f17d2e1411d" /><Relationship Type="http://schemas.openxmlformats.org/officeDocument/2006/relationships/notesSlide" Target="/ppt/notesSlides/notesSlide6.xml" Id="Reda80218e6064f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504906d7013467a" /><Relationship Type="http://schemas.openxmlformats.org/officeDocument/2006/relationships/notesSlide" Target="/ppt/notesSlides/notesSlide7.xml" Id="Ra731a45dba2b48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1b1cba18b0d49de" /><Relationship Type="http://schemas.openxmlformats.org/officeDocument/2006/relationships/notesSlide" Target="/ppt/notesSlides/notesSlide8.xml" Id="R57db91c8769240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f090ebd378e44ae" /><Relationship Type="http://schemas.openxmlformats.org/officeDocument/2006/relationships/notesSlide" Target="/ppt/notesSlides/notesSlide9.xml" Id="R55b3c809bea947a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a0e329424734c4a" /><Relationship Type="http://schemas.openxmlformats.org/officeDocument/2006/relationships/chart" Target="/ppt/slides/charts/chart1.xml" Id="Rc5bc0fa46397471d" /><Relationship Type="http://schemas.openxmlformats.org/officeDocument/2006/relationships/notesSlide" Target="/ppt/notesSlides/notesSlide10.xml" Id="R6227dad816da4a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0eea4b95b6c46dc" /><Relationship Type="http://schemas.openxmlformats.org/officeDocument/2006/relationships/notesSlide" Target="/ppt/notesSlides/notesSlide11.xml" Id="R5034fd3f406b415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761f8d3b4444b6b" /><Relationship Type="http://schemas.openxmlformats.org/officeDocument/2006/relationships/notesSlide" Target="/ppt/notesSlides/notesSlide12.xml" Id="R257a55b62c25474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0542f27a9ca456b" /><Relationship Type="http://schemas.openxmlformats.org/officeDocument/2006/relationships/notesSlide" Target="/ppt/notesSlides/notesSlide13.xml" Id="Rdd751eb7e0ef451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1f4a9310ddd497a" /><Relationship Type="http://schemas.openxmlformats.org/officeDocument/2006/relationships/notesSlide" Target="/ppt/notesSlides/notesSlide14.xml" Id="Rfa772d286679445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ea655fc5c394e04" /><Relationship Type="http://schemas.openxmlformats.org/officeDocument/2006/relationships/notesSlide" Target="/ppt/notesSlides/notesSlide15.xml" Id="Rb0e2620faf6f42f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b606ccaf3264e77" /><Relationship Type="http://schemas.openxmlformats.org/officeDocument/2006/relationships/notesSlide" Target="/ppt/notesSlides/notesSlide16.xml" Id="R1618812df628451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ad18eb093144f06" /><Relationship Type="http://schemas.openxmlformats.org/officeDocument/2006/relationships/notesSlide" Target="/ppt/notesSlides/notesSlide17.xml" Id="R1c26147beb9647b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b980b770c214db8" /><Relationship Type="http://schemas.openxmlformats.org/officeDocument/2006/relationships/notesSlide" Target="/ppt/notesSlides/notesSlide18.xml" Id="R7e22418c9bc940c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f49da300cc54a1d" /><Relationship Type="http://schemas.openxmlformats.org/officeDocument/2006/relationships/notesSlide" Target="/ppt/notesSlides/notesSlide19.xml" Id="Ra164d3cd5b134f5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94410375c01403d" /><Relationship Type="http://schemas.openxmlformats.org/officeDocument/2006/relationships/chart" Target="/ppt/slides/charts/chart2.xml" Id="R440c2874fbff40d1" /><Relationship Type="http://schemas.openxmlformats.org/officeDocument/2006/relationships/notesSlide" Target="/ppt/notesSlides/notesSlide20.xml" Id="R02600645db81416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faced1eaf7b401c" /><Relationship Type="http://schemas.openxmlformats.org/officeDocument/2006/relationships/chart" Target="/ppt/slides/charts/chart3.xml" Id="R2a9c78c6f4704f9a" /><Relationship Type="http://schemas.openxmlformats.org/officeDocument/2006/relationships/notesSlide" Target="/ppt/notesSlides/notesSlide21.xml" Id="R3fae260e62a4444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d1eb457c47745e5" /><Relationship Type="http://schemas.openxmlformats.org/officeDocument/2006/relationships/notesSlide" Target="/ppt/notesSlides/notesSlide22.xml" Id="R5bed6db6ffc043e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b42798e59074612" /><Relationship Type="http://schemas.openxmlformats.org/officeDocument/2006/relationships/chart" Target="/ppt/slides/charts/chart4.xml" Id="R0af0457ab20c4893" /><Relationship Type="http://schemas.openxmlformats.org/officeDocument/2006/relationships/notesSlide" Target="/ppt/notesSlides/notesSlide23.xml" Id="R04e730c65da4462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695bd72d60a74691" /><Relationship Type="http://schemas.openxmlformats.org/officeDocument/2006/relationships/chart" Target="/ppt/slides/charts/chart5.xml" Id="R4366d3a71e43437f" /><Relationship Type="http://schemas.openxmlformats.org/officeDocument/2006/relationships/notesSlide" Target="/ppt/notesSlides/notesSlide24.xml" Id="Rb39b32827b79479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c80c734096e4c6c" /><Relationship Type="http://schemas.openxmlformats.org/officeDocument/2006/relationships/notesSlide" Target="/ppt/notesSlides/notesSlide25.xml" Id="R1539546ebe6e492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f954cf251014335" /><Relationship Type="http://schemas.openxmlformats.org/officeDocument/2006/relationships/notesSlide" Target="/ppt/notesSlides/notesSlide26.xml" Id="R1638eb1881f640d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ca7deed9ea24884" /><Relationship Type="http://schemas.openxmlformats.org/officeDocument/2006/relationships/notesSlide" Target="/ppt/notesSlides/notesSlide27.xml" Id="Refca2b1de9b34ad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84b65d8c1e34fe7" /><Relationship Type="http://schemas.openxmlformats.org/officeDocument/2006/relationships/notesSlide" Target="/ppt/notesSlides/notesSlide28.xml" Id="R62b0591aefa84286" /></Relationships>
</file>

<file path=ppt/slides/charts/chart1.xml><?xml version="1.0" encoding="utf-8"?>
<c:chartSpace xmlns:c="http://schemas.openxmlformats.org/drawingml/2006/chart">
  <c:lang val="en-US"/>
  <c:chart>
    <c:plotArea>
      <c:lineChart>
        <c:grouping val="standard"/>
        <c:varyColors val="0"/>
        <c:ser>
          <c:idx val="0"/>
          <c:order val="0"/>
          <c:tx>
            <c:v>Fixed events</c:v>
          </c:tx>
          <c:spPr>
            <a:ln xmlns:a="http://schemas.openxmlformats.org/drawingml/2006/main" w="38100">
              <a:solidFill>
                <a:srgbClr val="3D8DFF"/>
              </a:solidFill>
              <a:prstDash val="solid"/>
            </a:ln>
          </c:spPr>
          <c:marker>
            <c:symbol val="circle"/>
            <c:size val="7"/>
            <c:spPr>
              <a:solidFill xmlns:a="http://schemas.openxmlformats.org/drawingml/2006/main">
                <a:srgbClr val="3D8DFF"/>
              </a:solidFill>
            </c:spPr>
          </c:marker>
          <c:cat>
            <c:numLit>
              <c:formatCode>General</c:formatCode>
              <c:ptCount val="9"/>
              <c:pt idx="0">
                <c:v>0.55</c:v>
              </c:pt>
              <c:pt idx="1">
                <c:v>0.60</c:v>
              </c:pt>
              <c:pt idx="2">
                <c:v>0.65</c:v>
              </c:pt>
              <c:pt idx="3">
                <c:v>0.70</c:v>
              </c:pt>
              <c:pt idx="4">
                <c:v>0.75</c:v>
              </c:pt>
              <c:pt idx="5">
                <c:v>0.80</c:v>
              </c:pt>
              <c:pt idx="6">
                <c:v>0.85</c:v>
              </c:pt>
              <c:pt idx="7">
                <c:v>0.90</c:v>
              </c:pt>
              <c:pt idx="8">
                <c:v>0.95</c:v>
              </c:pt>
            </c:numLit>
          </c:cat>
          <c:val>
            <c:numLit>
              <c:formatCode>0</c:formatCode>
              <c:ptCount val="9"/>
              <c:pt idx="0">
                <c:v>99.95</c:v>
              </c:pt>
              <c:pt idx="1">
                <c:v>99.57</c:v>
              </c:pt>
              <c:pt idx="2">
                <c:v>97.4</c:v>
              </c:pt>
              <c:pt idx="3">
                <c:v>90</c:v>
              </c:pt>
              <c:pt idx="4">
                <c:v>74.37</c:v>
              </c:pt>
              <c:pt idx="5">
                <c:v>52.53</c:v>
              </c:pt>
              <c:pt idx="6">
                <c:v>31.05</c:v>
              </c:pt>
              <c:pt idx="7">
                <c:v>15.36</c:v>
              </c:pt>
              <c:pt idx="8">
                <c:v>6.44</c:v>
              </c:pt>
            </c:numLit>
          </c:val>
        </c:ser>
        <c:ser>
          <c:idx val="1"/>
          <c:order val="1"/>
          <c:tx>
            <c:v>Fixed calendar</c:v>
          </c:tx>
          <c:spPr>
            <a:ln xmlns:a="http://schemas.openxmlformats.org/drawingml/2006/main" w="38100">
              <a:solidFill>
                <a:srgbClr val="6DCBF4"/>
              </a:solidFill>
              <a:prstDash val="solid"/>
            </a:ln>
          </c:spPr>
          <c:marker>
            <c:symbol val="circle"/>
            <c:size val="7"/>
            <c:spPr>
              <a:solidFill xmlns:a="http://schemas.openxmlformats.org/drawingml/2006/main">
                <a:srgbClr val="6DCBF4"/>
              </a:solidFill>
            </c:spPr>
          </c:marker>
          <c:cat>
            <c:numLit>
              <c:formatCode>General</c:formatCode>
              <c:ptCount val="9"/>
              <c:pt idx="0">
                <c:v>0.55</c:v>
              </c:pt>
              <c:pt idx="1">
                <c:v>0.60</c:v>
              </c:pt>
              <c:pt idx="2">
                <c:v>0.65</c:v>
              </c:pt>
              <c:pt idx="3">
                <c:v>0.70</c:v>
              </c:pt>
              <c:pt idx="4">
                <c:v>0.75</c:v>
              </c:pt>
              <c:pt idx="5">
                <c:v>0.80</c:v>
              </c:pt>
              <c:pt idx="6">
                <c:v>0.85</c:v>
              </c:pt>
              <c:pt idx="7">
                <c:v>0.90</c:v>
              </c:pt>
              <c:pt idx="8">
                <c:v>0.95</c:v>
              </c:pt>
            </c:numLit>
          </c:cat>
          <c:val>
            <c:numLit>
              <c:formatCode>0</c:formatCode>
              <c:ptCount val="9"/>
              <c:pt idx="0">
                <c:v>99.92</c:v>
              </c:pt>
              <c:pt idx="1">
                <c:v>99.43</c:v>
              </c:pt>
              <c:pt idx="2">
                <c:v>97.14</c:v>
              </c:pt>
              <c:pt idx="3">
                <c:v>90</c:v>
              </c:pt>
              <c:pt idx="4">
                <c:v>75.21</c:v>
              </c:pt>
              <c:pt idx="5">
                <c:v>54.1</c:v>
              </c:pt>
              <c:pt idx="6">
                <c:v>32.54</c:v>
              </c:pt>
              <c:pt idx="7">
                <c:v>16.2</c:v>
              </c:pt>
              <c:pt idx="8">
                <c:v>6.69</c:v>
              </c:pt>
            </c:numLit>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b="1">
                    <a:solidFill>
                      <a:srgbClr val="000000"/>
                    </a:solidFill>
                  </a:rPr>
                  <a:t>Assumed hazard ratio</a:t>
                </a:r>
              </a:p>
            </c:rich>
          </c:tx>
          <c:overlay val="0"/>
          <c:txPr>
            <a:bodyPr xmlns:a="http://schemas.openxmlformats.org/drawingml/2006/main" anchorCtr="1"/>
            <a:lstStyle xmlns:a="http://schemas.openxmlformats.org/drawingml/2006/main"/>
            <a:p xmlns:a="http://schemas.openxmlformats.org/drawingml/2006/main">
              <a:pPr>
                <a:defRPr sz="1500" b="1">
                  <a:solidFill>
                    <a:srgbClr val="000000"/>
                  </a:solidFill>
                </a:defRPr>
              </a:pPr>
            </a:p>
          </c:txPr>
        </c:title>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B5563"/>
                </a:solidFill>
              </a:defRPr>
            </a:pPr>
          </a:p>
        </c:txPr>
        <c:crossAx val="48672768"/>
      </c:catAx>
      <c:valAx>
        <c:axId val="48672768"/>
        <c:scaling>
          <c:orientation val="minMax"/>
          <c:max val="100"/>
          <c:min val="0"/>
        </c:scaling>
        <c:delete val="0"/>
        <c:axPos val="l"/>
        <c:majorGridlines>
          <c:spPr>
            <a:ln xmlns:a="http://schemas.openxmlformats.org/drawingml/2006/main" w="9525">
              <a:solidFill>
                <a:srgbClr val="E5E7EB"/>
              </a:solidFill>
              <a:prstDash val="solid"/>
            </a:ln>
          </c:spPr>
        </c:majorGridlines>
        <c:title>
          <c:tx>
            <c:rich>
              <a:bodyPr xmlns:a="http://schemas.openxmlformats.org/drawingml/2006/main"/>
              <a:lstStyle xmlns:a="http://schemas.openxmlformats.org/drawingml/2006/main"/>
              <a:p xmlns:a="http://schemas.openxmlformats.org/drawingml/2006/main">
                <a:r>
                  <a:rPr sz="1500" b="1">
                    <a:solidFill>
                      <a:srgbClr val="000000"/>
                    </a:solidFill>
                  </a:rPr>
                  <a:t>Power (%)</a:t>
                </a:r>
              </a:p>
            </c:rich>
          </c:tx>
          <c:overlay val="0"/>
          <c:txPr>
            <a:bodyPr xmlns:a="http://schemas.openxmlformats.org/drawingml/2006/main" anchorCtr="1"/>
            <a:lstStyle xmlns:a="http://schemas.openxmlformats.org/drawingml/2006/main"/>
            <a:p xmlns:a="http://schemas.openxmlformats.org/drawingml/2006/main">
              <a:pPr>
                <a:defRPr sz="1500" b="1">
                  <a:solidFill>
                    <a:srgbClr val="000000"/>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B5563"/>
                </a:solidFill>
              </a:defRPr>
            </a:pPr>
          </a:p>
        </c:txPr>
        <c:crossAx val="48650112"/>
        <c:crossBetween val="between"/>
        <c:majorUnit val="20"/>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Planned month</c:v>
          </c:tx>
          <c:spPr>
            <a:solidFill xmlns:a="http://schemas.openxmlformats.org/drawingml/2006/main">
              <a:srgbClr val="B9C0C8"/>
            </a:solidFill>
          </c:spPr>
          <c:cat>
            <c:strLit>
              <c:ptCount val="3"/>
              <c:pt idx="0">
                <c:v>IA1</c:v>
              </c:pt>
              <c:pt idx="1">
                <c:v>IA2</c:v>
              </c:pt>
              <c:pt idx="2">
                <c:v>Final</c:v>
              </c:pt>
            </c:strLit>
          </c:cat>
          <c:val>
            <c:numLit>
              <c:formatCode>General</c:formatCode>
              <c:ptCount val="3"/>
              <c:pt idx="0">
                <c:v>12.4</c:v>
              </c:pt>
              <c:pt idx="1">
                <c:v>18.9</c:v>
              </c:pt>
              <c:pt idx="2">
                <c:v>28</c:v>
              </c:pt>
            </c:numLit>
          </c:val>
        </c:ser>
        <c:ser>
          <c:idx val="1"/>
          <c:order val="1"/>
          <c:tx>
            <c:v>Half-rate enrollment</c:v>
          </c:tx>
          <c:spPr>
            <a:solidFill xmlns:a="http://schemas.openxmlformats.org/drawingml/2006/main">
              <a:srgbClr val="3D8DFF"/>
            </a:solidFill>
          </c:spPr>
          <c:cat>
            <c:strLit>
              <c:ptCount val="3"/>
              <c:pt idx="0">
                <c:v>IA1</c:v>
              </c:pt>
              <c:pt idx="1">
                <c:v>IA2</c:v>
              </c:pt>
              <c:pt idx="2">
                <c:v>Final</c:v>
              </c:pt>
            </c:strLit>
          </c:cat>
          <c:val>
            <c:numLit>
              <c:formatCode>General</c:formatCode>
              <c:ptCount val="3"/>
              <c:pt idx="0">
                <c:v>15.4</c:v>
              </c:pt>
              <c:pt idx="1">
                <c:v>30.9</c:v>
              </c:pt>
              <c:pt idx="2">
                <c:v>48</c:v>
              </c:pt>
            </c:numLit>
          </c:val>
        </c:ser>
        <c:dLbls>
          <c:txPr>
            <a:bodyPr xmlns:a="http://schemas.openxmlformats.org/drawingml/2006/main" anchorCtr="1"/>
            <a:lstStyle xmlns:a="http://schemas.openxmlformats.org/drawingml/2006/main"/>
            <a:p xmlns:a="http://schemas.openxmlformats.org/drawingml/2006/main">
              <a:pPr>
                <a:defRPr sz="1350" b="1">
                  <a:solidFill>
                    <a:srgbClr val="000000"/>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defRPr>
            </a:pPr>
          </a:p>
        </c:txPr>
        <c:crossAx val="48672768"/>
      </c:catAx>
      <c:valAx>
        <c:axId val="48672768"/>
        <c:scaling>
          <c:orientation val="minMax"/>
          <c:max val="55"/>
          <c:min val="0"/>
        </c:scaling>
        <c:delete val="0"/>
        <c:axPos val="l"/>
        <c:majorGridlines>
          <c:spPr>
            <a:ln xmlns:a="http://schemas.openxmlformats.org/drawingml/2006/main" w="9525">
              <a:solidFill>
                <a:srgbClr val="E5E7EB"/>
              </a:solidFill>
              <a:prstDash val="solid"/>
            </a:ln>
          </c:spPr>
        </c:majorGridlines>
        <c:title>
          <c:tx>
            <c:rich>
              <a:bodyPr xmlns:a="http://schemas.openxmlformats.org/drawingml/2006/main"/>
              <a:lstStyle xmlns:a="http://schemas.openxmlformats.org/drawingml/2006/main"/>
              <a:p xmlns:a="http://schemas.openxmlformats.org/drawingml/2006/main">
                <a:r>
                  <a:rPr sz="1500" b="1">
                    <a:solidFill>
                      <a:srgbClr val="000000"/>
                    </a:solidFill>
                  </a:rPr>
                  <a:t>Analysis month</a:t>
                </a:r>
              </a:p>
            </c:rich>
          </c:tx>
          <c:overlay val="0"/>
          <c:txPr>
            <a:bodyPr xmlns:a="http://schemas.openxmlformats.org/drawingml/2006/main" anchorCtr="1"/>
            <a:lstStyle xmlns:a="http://schemas.openxmlformats.org/drawingml/2006/main"/>
            <a:p xmlns:a="http://schemas.openxmlformats.org/drawingml/2006/main">
              <a:pPr>
                <a:defRPr sz="1500" b="1">
                  <a:solidFill>
                    <a:srgbClr val="000000"/>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B5563"/>
                </a:solidFill>
              </a:defRPr>
            </a:pPr>
          </a:p>
        </c:txPr>
        <c:crossAx val="48650112"/>
        <c:crossBetween val="between"/>
        <c:majorUnit val="10"/>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Target events</c:v>
          </c:tx>
          <c:spPr>
            <a:solidFill xmlns:a="http://schemas.openxmlformats.org/drawingml/2006/main">
              <a:srgbClr val="B9C0C8"/>
            </a:solidFill>
          </c:spPr>
          <c:cat>
            <c:strLit>
              <c:ptCount val="3"/>
              <c:pt idx="0">
                <c:v>IA1</c:v>
              </c:pt>
              <c:pt idx="1">
                <c:v>IA2</c:v>
              </c:pt>
              <c:pt idx="2">
                <c:v>Final</c:v>
              </c:pt>
            </c:strLit>
          </c:cat>
          <c:val>
            <c:numLit>
              <c:formatCode>General</c:formatCode>
              <c:ptCount val="3"/>
              <c:pt idx="0">
                <c:v>117.7</c:v>
              </c:pt>
              <c:pt idx="1">
                <c:v>235.5</c:v>
              </c:pt>
              <c:pt idx="2">
                <c:v>353.2</c:v>
              </c:pt>
            </c:numLit>
          </c:val>
        </c:ser>
        <c:ser>
          <c:idx val="1"/>
          <c:order val="1"/>
          <c:tx>
            <c:v>8-month control median</c:v>
          </c:tx>
          <c:spPr>
            <a:solidFill xmlns:a="http://schemas.openxmlformats.org/drawingml/2006/main">
              <a:srgbClr val="6DCBF4"/>
            </a:solidFill>
          </c:spPr>
          <c:cat>
            <c:strLit>
              <c:ptCount val="3"/>
              <c:pt idx="0">
                <c:v>IA1</c:v>
              </c:pt>
              <c:pt idx="1">
                <c:v>IA2</c:v>
              </c:pt>
              <c:pt idx="2">
                <c:v>Final</c:v>
              </c:pt>
            </c:strLit>
          </c:cat>
          <c:val>
            <c:numLit>
              <c:formatCode>General</c:formatCode>
              <c:ptCount val="3"/>
              <c:pt idx="0">
                <c:v>161.5</c:v>
              </c:pt>
              <c:pt idx="1">
                <c:v>310.8</c:v>
              </c:pt>
              <c:pt idx="2">
                <c:v>437.7</c:v>
              </c:pt>
            </c:numLit>
          </c:val>
        </c:ser>
        <c:dLbls>
          <c:txPr>
            <a:bodyPr xmlns:a="http://schemas.openxmlformats.org/drawingml/2006/main" anchorCtr="1"/>
            <a:lstStyle xmlns:a="http://schemas.openxmlformats.org/drawingml/2006/main"/>
            <a:p xmlns:a="http://schemas.openxmlformats.org/drawingml/2006/main">
              <a:pPr>
                <a:defRPr sz="1350" b="1">
                  <a:solidFill>
                    <a:srgbClr val="000000"/>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defRPr>
            </a:pPr>
          </a:p>
        </c:txPr>
        <c:crossAx val="48672768"/>
      </c:catAx>
      <c:valAx>
        <c:axId val="48672768"/>
        <c:scaling>
          <c:orientation val="minMax"/>
          <c:max val="480"/>
          <c:min val="0"/>
        </c:scaling>
        <c:delete val="0"/>
        <c:axPos val="l"/>
        <c:majorGridlines>
          <c:spPr>
            <a:ln xmlns:a="http://schemas.openxmlformats.org/drawingml/2006/main" w="9525">
              <a:solidFill>
                <a:srgbClr val="E5E7EB"/>
              </a:solidFill>
              <a:prstDash val="solid"/>
            </a:ln>
          </c:spPr>
        </c:majorGridlines>
        <c:title>
          <c:tx>
            <c:rich>
              <a:bodyPr xmlns:a="http://schemas.openxmlformats.org/drawingml/2006/main"/>
              <a:lstStyle xmlns:a="http://schemas.openxmlformats.org/drawingml/2006/main"/>
              <a:p xmlns:a="http://schemas.openxmlformats.org/drawingml/2006/main">
                <a:r>
                  <a:rPr sz="1500" b="1">
                    <a:solidFill>
                      <a:srgbClr val="000000"/>
                    </a:solidFill>
                  </a:rPr>
                  <a:t>Expected events</a:t>
                </a:r>
              </a:p>
            </c:rich>
          </c:tx>
          <c:overlay val="0"/>
          <c:txPr>
            <a:bodyPr xmlns:a="http://schemas.openxmlformats.org/drawingml/2006/main" anchorCtr="1"/>
            <a:lstStyle xmlns:a="http://schemas.openxmlformats.org/drawingml/2006/main"/>
            <a:p xmlns:a="http://schemas.openxmlformats.org/drawingml/2006/main">
              <a:pPr>
                <a:defRPr sz="1500" b="1">
                  <a:solidFill>
                    <a:srgbClr val="000000"/>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B5563"/>
                </a:solidFill>
              </a:defRPr>
            </a:pPr>
          </a:p>
        </c:txPr>
        <c:crossAx val="48650112"/>
        <c:crossBetween val="between"/>
        <c:majorUnit val="100"/>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4.xml><?xml version="1.0" encoding="utf-8"?>
<c:chartSpace xmlns:c="http://schemas.openxmlformats.org/drawingml/2006/chart">
  <c:lang val="en-US"/>
  <c:chart>
    <c:plotArea>
      <c:lineChart>
        <c:grouping val="standard"/>
        <c:varyColors val="0"/>
        <c:ser>
          <c:idx val="0"/>
          <c:order val="0"/>
          <c:tx>
            <c:v>Information fraction</c:v>
          </c:tx>
          <c:spPr>
            <a:ln xmlns:a="http://schemas.openxmlformats.org/drawingml/2006/main" w="38100">
              <a:solidFill>
                <a:srgbClr val="3D8DFF"/>
              </a:solidFill>
              <a:prstDash val="solid"/>
            </a:ln>
          </c:spPr>
          <c:marker>
            <c:symbol val="circle"/>
            <c:size val="8"/>
            <c:spPr>
              <a:solidFill xmlns:a="http://schemas.openxmlformats.org/drawingml/2006/main">
                <a:srgbClr val="3D8DFF"/>
              </a:solidFill>
            </c:spPr>
          </c:marker>
          <c:cat>
            <c:strLit>
              <c:ptCount val="3"/>
              <c:pt idx="0">
                <c:v>IA1</c:v>
              </c:pt>
              <c:pt idx="1">
                <c:v>IA2</c:v>
              </c:pt>
              <c:pt idx="2">
                <c:v>Final</c:v>
              </c:pt>
            </c:strLit>
          </c:cat>
          <c:val>
            <c:numLit>
              <c:formatCode>0</c:formatCode>
              <c:ptCount val="3"/>
              <c:pt idx="0">
                <c:v>33.3</c:v>
              </c:pt>
              <c:pt idx="1">
                <c:v>66.7</c:v>
              </c:pt>
              <c:pt idx="2">
                <c:v>100</c:v>
              </c:pt>
            </c:numLit>
          </c:val>
        </c:ser>
        <c:ser>
          <c:idx val="1"/>
          <c:order val="1"/>
          <c:tx>
            <c:v>Calendar fraction</c:v>
          </c:tx>
          <c:spPr>
            <a:ln xmlns:a="http://schemas.openxmlformats.org/drawingml/2006/main" w="38100">
              <a:solidFill>
                <a:srgbClr val="6DCBF4"/>
              </a:solidFill>
              <a:prstDash val="solid"/>
            </a:ln>
          </c:spPr>
          <c:marker>
            <c:symbol val="circle"/>
            <c:size val="8"/>
            <c:spPr>
              <a:solidFill xmlns:a="http://schemas.openxmlformats.org/drawingml/2006/main">
                <a:srgbClr val="6DCBF4"/>
              </a:solidFill>
            </c:spPr>
          </c:marker>
          <c:cat>
            <c:strLit>
              <c:ptCount val="3"/>
              <c:pt idx="0">
                <c:v>IA1</c:v>
              </c:pt>
              <c:pt idx="1">
                <c:v>IA2</c:v>
              </c:pt>
              <c:pt idx="2">
                <c:v>Final</c:v>
              </c:pt>
            </c:strLit>
          </c:cat>
          <c:val>
            <c:numLit>
              <c:formatCode>0</c:formatCode>
              <c:ptCount val="3"/>
              <c:pt idx="0">
                <c:v>44.4</c:v>
              </c:pt>
              <c:pt idx="1">
                <c:v>67.3</c:v>
              </c:pt>
              <c:pt idx="2">
                <c:v>100</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defRPr>
            </a:pPr>
          </a:p>
        </c:txPr>
        <c:crossAx val="48672768"/>
      </c:catAx>
      <c:valAx>
        <c:axId val="48672768"/>
        <c:scaling>
          <c:orientation val="minMax"/>
          <c:max val="100"/>
          <c:min val="0"/>
        </c:scaling>
        <c:delete val="0"/>
        <c:axPos val="l"/>
        <c:majorGridlines>
          <c:spPr>
            <a:ln xmlns:a="http://schemas.openxmlformats.org/drawingml/2006/main" w="9525">
              <a:solidFill>
                <a:srgbClr val="E5E7EB"/>
              </a:solidFill>
              <a:prstDash val="solid"/>
            </a:ln>
          </c:spPr>
        </c:majorGridlines>
        <c:title>
          <c:tx>
            <c:rich>
              <a:bodyPr xmlns:a="http://schemas.openxmlformats.org/drawingml/2006/main"/>
              <a:lstStyle xmlns:a="http://schemas.openxmlformats.org/drawingml/2006/main"/>
              <a:p xmlns:a="http://schemas.openxmlformats.org/drawingml/2006/main">
                <a:r>
                  <a:rPr sz="1500" b="1">
                    <a:solidFill>
                      <a:srgbClr val="000000"/>
                    </a:solidFill>
                  </a:rPr>
                  <a:t>Spending time (%)</a:t>
                </a:r>
              </a:p>
            </c:rich>
          </c:tx>
          <c:overlay val="0"/>
          <c:txPr>
            <a:bodyPr xmlns:a="http://schemas.openxmlformats.org/drawingml/2006/main" anchorCtr="1"/>
            <a:lstStyle xmlns:a="http://schemas.openxmlformats.org/drawingml/2006/main"/>
            <a:p xmlns:a="http://schemas.openxmlformats.org/drawingml/2006/main">
              <a:pPr>
                <a:defRPr sz="1500" b="1">
                  <a:solidFill>
                    <a:srgbClr val="000000"/>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B5563"/>
                </a:solidFill>
              </a:defRPr>
            </a:pPr>
          </a:p>
        </c:txPr>
        <c:crossAx val="48650112"/>
        <c:crossBetween val="between"/>
        <c:majorUnit val="20"/>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5.xml><?xml version="1.0" encoding="utf-8"?>
<c:chartSpace xmlns:c="http://schemas.openxmlformats.org/drawingml/2006/chart">
  <c:lang val="en-US"/>
  <c:chart>
    <c:plotArea>
      <c:barChart>
        <c:barDir val="col"/>
        <c:grouping val="clustered"/>
        <c:varyColors val="0"/>
        <c:ser>
          <c:idx val="0"/>
          <c:order val="0"/>
          <c:tx>
            <c:v>Scenario information fraction</c:v>
          </c:tx>
          <c:spPr>
            <a:solidFill xmlns:a="http://schemas.openxmlformats.org/drawingml/2006/main">
              <a:srgbClr val="B9C0C8"/>
            </a:solidFill>
          </c:spPr>
          <c:cat>
            <c:strLit>
              <c:ptCount val="3"/>
              <c:pt idx="0">
                <c:v>IA1</c:v>
              </c:pt>
              <c:pt idx="1">
                <c:v>IA2</c:v>
              </c:pt>
              <c:pt idx="2">
                <c:v>Final</c:v>
              </c:pt>
            </c:strLit>
          </c:cat>
          <c:val>
            <c:numLit>
              <c:formatCode>0</c:formatCode>
              <c:ptCount val="3"/>
              <c:pt idx="0">
                <c:v>36.9</c:v>
              </c:pt>
              <c:pt idx="1">
                <c:v>81.1</c:v>
              </c:pt>
              <c:pt idx="2">
                <c:v>100</c:v>
              </c:pt>
            </c:numLit>
          </c:val>
        </c:ser>
        <c:ser>
          <c:idx val="1"/>
          <c:order val="1"/>
          <c:tx>
            <c:v>Effective spending time</c:v>
          </c:tx>
          <c:spPr>
            <a:solidFill xmlns:a="http://schemas.openxmlformats.org/drawingml/2006/main">
              <a:srgbClr val="3D8DFF"/>
            </a:solidFill>
          </c:spPr>
          <c:cat>
            <c:strLit>
              <c:ptCount val="3"/>
              <c:pt idx="0">
                <c:v>IA1</c:v>
              </c:pt>
              <c:pt idx="1">
                <c:v>IA2</c:v>
              </c:pt>
              <c:pt idx="2">
                <c:v>Final</c:v>
              </c:pt>
            </c:strLit>
          </c:cat>
          <c:val>
            <c:numLit>
              <c:formatCode>0</c:formatCode>
              <c:ptCount val="3"/>
              <c:pt idx="0">
                <c:v>24.4</c:v>
              </c:pt>
              <c:pt idx="1">
                <c:v>53.6</c:v>
              </c:pt>
              <c:pt idx="2">
                <c:v>66.1</c:v>
              </c:pt>
            </c:numLit>
          </c:val>
        </c:ser>
        <c:dLbls>
          <c:txPr>
            <a:bodyPr xmlns:a="http://schemas.openxmlformats.org/drawingml/2006/main" anchorCtr="1"/>
            <a:lstStyle xmlns:a="http://schemas.openxmlformats.org/drawingml/2006/main"/>
            <a:p xmlns:a="http://schemas.openxmlformats.org/drawingml/2006/main">
              <a:pPr>
                <a:defRPr sz="1350">
                  <a:solidFill>
                    <a:srgbClr val="000000"/>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defRPr>
            </a:pPr>
          </a:p>
        </c:txPr>
        <c:crossAx val="48672768"/>
      </c:catAx>
      <c:valAx>
        <c:axId val="48672768"/>
        <c:scaling>
          <c:orientation val="minMax"/>
          <c:max val="105"/>
          <c:min val="0"/>
        </c:scaling>
        <c:delete val="0"/>
        <c:axPos val="l"/>
        <c:majorGridlines>
          <c:spPr>
            <a:ln xmlns:a="http://schemas.openxmlformats.org/drawingml/2006/main" w="9525">
              <a:solidFill>
                <a:srgbClr val="E5E7EB"/>
              </a:solidFill>
              <a:prstDash val="solid"/>
            </a:ln>
          </c:spPr>
        </c:majorGridlines>
        <c:title>
          <c:tx>
            <c:rich>
              <a:bodyPr xmlns:a="http://schemas.openxmlformats.org/drawingml/2006/main"/>
              <a:lstStyle xmlns:a="http://schemas.openxmlformats.org/drawingml/2006/main"/>
              <a:p xmlns:a="http://schemas.openxmlformats.org/drawingml/2006/main">
                <a:r>
                  <a:rPr sz="1500" b="1">
                    <a:solidFill>
                      <a:srgbClr val="000000"/>
                    </a:solidFill>
                  </a:rPr>
                  <a:t>Fraction of information (%)</a:t>
                </a:r>
              </a:p>
            </c:rich>
          </c:tx>
          <c:overlay val="0"/>
          <c:txPr>
            <a:bodyPr xmlns:a="http://schemas.openxmlformats.org/drawingml/2006/main" anchorCtr="1"/>
            <a:lstStyle xmlns:a="http://schemas.openxmlformats.org/drawingml/2006/main"/>
            <a:p xmlns:a="http://schemas.openxmlformats.org/drawingml/2006/main">
              <a:pPr>
                <a:defRPr sz="1500" b="1">
                  <a:solidFill>
                    <a:srgbClr val="000000"/>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B5563"/>
                </a:solidFill>
              </a:defRPr>
            </a:pPr>
          </a:p>
        </c:txPr>
        <c:crossAx val="48650112"/>
        <c:crossBetween val="between"/>
        <c:majorUnit val="20"/>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000000"/>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18744D-E6C3-4575-B906-8F9E98677007}"/>
              </a:ext>
            </a:extLst>
          </p:cNvPr>
          <p:cNvSpPr>
            <a:spLocks xmlns:a="http://schemas.openxmlformats.org/drawingml/2006/main" noGrp="1"/>
          </p:cNvSpPr>
          <p:nvPr/>
        </p:nvSpPr>
        <p:spPr>
          <a:xfrm xmlns:a="http://schemas.openxmlformats.org/drawingml/2006/main">
            <a:off x="400050" y="36195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gsDesign • survival operating characteristics</a:t>
            </a:r>
          </a:p>
        </p:txBody>
      </p:sp>
      <p:sp>
        <p:nvSpPr>
          <p:cNvPr id="2" name="">
            <a:extLst xmlns:a="http://schemas.openxmlformats.org/drawingml/2006/main">
              <a:ext uri="{FF2B5EF4-FFF2-40B4-BE49-F238E27FC236}">
                <a16:creationId xmlns:a16="http://schemas.microsoft.com/office/drawing/2014/main" id="{0D66E9E2-A1F9-4554-ACA9-09FAD0E1FFE0}"/>
              </a:ext>
            </a:extLst>
          </p:cNvPr>
          <p:cNvSpPr>
            <a:spLocks xmlns:a="http://schemas.openxmlformats.org/drawingml/2006/main" noGrp="1"/>
          </p:cNvSpPr>
          <p:nvPr/>
        </p:nvSpPr>
        <p:spPr>
          <a:xfrm xmlns:a="http://schemas.openxmlformats.org/drawingml/2006/main">
            <a:off x="400050" y="1619250"/>
            <a:ext cx="9810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6000" b="1">
                <a:solidFill>
                  <a:srgbClr val="000000"/>
                </a:solidFill>
                <a:latin typeface="Helvetica Neue"/>
                <a:ea typeface="Helvetica Neue"/>
                <a:cs typeface="Helvetica Neue"/>
              </a:defRPr>
            </a:pPr>
            <a:r>
              <a:rPr sz="6000" b="1">
                <a:solidFill>
                  <a:srgbClr val="000000"/>
                </a:solidFill>
                <a:latin typeface="Helvetica Neue"/>
                <a:ea typeface="Helvetica Neue"/>
                <a:cs typeface="Helvetica Neue"/>
              </a:rPr>
              <a:t>Stress-testing group sequential survival designs</a:t>
            </a:r>
          </a:p>
        </p:txBody>
      </p:sp>
      <p:sp>
        <p:nvSpPr>
          <p:cNvPr id="3" name="">
            <a:extLst xmlns:a="http://schemas.openxmlformats.org/drawingml/2006/main">
              <a:ext uri="{FF2B5EF4-FFF2-40B4-BE49-F238E27FC236}">
                <a16:creationId xmlns:a16="http://schemas.microsoft.com/office/drawing/2014/main" id="{284634DE-084E-4E01-BB97-925C09C5439B}"/>
              </a:ext>
            </a:extLst>
          </p:cNvPr>
          <p:cNvSpPr>
            <a:spLocks xmlns:a="http://schemas.openxmlformats.org/drawingml/2006/main" noGrp="1"/>
          </p:cNvSpPr>
          <p:nvPr/>
        </p:nvSpPr>
        <p:spPr>
          <a:xfrm xmlns:a="http://schemas.openxmlformats.org/drawingml/2006/main">
            <a:off x="400050" y="4457700"/>
            <a:ext cx="7810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75" b="0">
                <a:solidFill>
                  <a:srgbClr val="4B5563"/>
                </a:solidFill>
                <a:latin typeface="Helvetica Neue"/>
                <a:ea typeface="Helvetica Neue"/>
                <a:cs typeface="Helvetica Neue"/>
              </a:defRPr>
            </a:pPr>
            <a:r>
              <a:rPr sz="2175" b="0">
                <a:solidFill>
                  <a:srgbClr val="4B5563"/>
                </a:solidFill>
                <a:latin typeface="Helvetica Neue"/>
                <a:ea typeface="Helvetica Neue"/>
                <a:cs typeface="Helvetica Neue"/>
              </a:rPr>
              <a:t>Power, timing rules, and beta spending with gsSurvPower()</a:t>
            </a:r>
          </a:p>
        </p:txBody>
      </p:sp>
      <p:sp>
        <p:nvSpPr>
          <p:cNvPr id="4" name="">
            <a:extLst xmlns:a="http://schemas.openxmlformats.org/drawingml/2006/main">
              <a:ext uri="{FF2B5EF4-FFF2-40B4-BE49-F238E27FC236}">
                <a16:creationId xmlns:a16="http://schemas.microsoft.com/office/drawing/2014/main" id="{20E48419-D5D9-416B-90B5-0CA96D686A6C}"/>
              </a:ext>
            </a:extLst>
          </p:cNvPr>
          <p:cNvSpPr>
            <a:spLocks xmlns:a="http://schemas.openxmlformats.org/drawingml/2006/main" noGrp="1"/>
          </p:cNvSpPr>
          <p:nvPr/>
        </p:nvSpPr>
        <p:spPr>
          <a:xfrm xmlns:a="http://schemas.openxmlformats.org/drawingml/2006/main">
            <a:off x="9620250" y="4810125"/>
            <a:ext cx="1790700" cy="1066800"/>
          </a:xfrm>
          <a:prstGeom xmlns:a="http://schemas.openxmlformats.org/drawingml/2006/main" prst="roundRect">
            <a:avLst>
              <a:gd name="adj" fmla="val 10714"/>
            </a:avLst>
          </a:prstGeom>
          <a:solidFill xmlns:a="http://schemas.openxmlformats.org/drawingml/2006/main">
            <a:srgbClr val="EAF6FC"/>
          </a:solidFill>
          <a:ln xmlns:a="http://schemas.openxmlformats.org/drawingml/2006/main" w="0">
            <a:solidFill>
              <a:srgbClr val="EAF6FC"/>
            </a:solidFill>
            <a:prstDash val="solid"/>
          </a:ln>
        </p:spPr>
      </p:sp>
      <p:sp>
        <p:nvSpPr>
          <p:cNvPr id="5" name="">
            <a:extLst xmlns:a="http://schemas.openxmlformats.org/drawingml/2006/main">
              <a:ext uri="{FF2B5EF4-FFF2-40B4-BE49-F238E27FC236}">
                <a16:creationId xmlns:a16="http://schemas.microsoft.com/office/drawing/2014/main" id="{0D2DD8EE-A48D-40E9-A395-7D016CBB7639}"/>
              </a:ext>
            </a:extLst>
          </p:cNvPr>
          <p:cNvSpPr>
            <a:spLocks xmlns:a="http://schemas.openxmlformats.org/drawingml/2006/main" noGrp="1"/>
          </p:cNvSpPr>
          <p:nvPr/>
        </p:nvSpPr>
        <p:spPr>
          <a:xfrm xmlns:a="http://schemas.openxmlformats.org/drawingml/2006/main">
            <a:off x="9810750" y="5019675"/>
            <a:ext cx="1409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30–35</a:t>
            </a:r>
          </a:p>
          <a:p xmlns:a="http://schemas.openxmlformats.org/drawingml/2006/main">
            <a:pPr algn="ctr">
              <a:lnSpc>
                <a:spcPct val="105000"/>
              </a:lnSpc>
              <a:buNone/>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minutes</a:t>
            </a:r>
          </a:p>
        </p:txBody>
      </p:sp>
    </p:spTree>
    <p:extLst>
      <p:ext uri="{BB962C8B-B14F-4D97-AF65-F5344CB8AC3E}">
        <p14:creationId xmlns:p14="http://schemas.microsoft.com/office/powerpoint/2010/main" val="7062908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18EE118-23A1-4FF2-862F-6D5BED3D91A7}"/>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PURPOSE</a:t>
            </a:r>
          </a:p>
        </p:txBody>
      </p:sp>
      <p:sp>
        <p:nvSpPr>
          <p:cNvPr id="2" name="">
            <a:extLst xmlns:a="http://schemas.openxmlformats.org/drawingml/2006/main">
              <a:ext uri="{FF2B5EF4-FFF2-40B4-BE49-F238E27FC236}">
                <a16:creationId xmlns:a16="http://schemas.microsoft.com/office/drawing/2014/main" id="{B95FCB31-9C02-4EA5-B72D-7F9A871214CB}"/>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The function has two jobs</a:t>
            </a:r>
          </a:p>
        </p:txBody>
      </p:sp>
      <p:sp>
        <p:nvSpPr>
          <p:cNvPr id="3" name="">
            <a:extLst xmlns:a="http://schemas.openxmlformats.org/drawingml/2006/main">
              <a:ext uri="{FF2B5EF4-FFF2-40B4-BE49-F238E27FC236}">
                <a16:creationId xmlns:a16="http://schemas.microsoft.com/office/drawing/2014/main" id="{C6ACD298-C5BA-409A-87F2-E8226C735EF4}"/>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D6325901-59DE-4E88-853F-66C9E245D31D}"/>
              </a:ext>
            </a:extLst>
          </p:cNvPr>
          <p:cNvSpPr>
            <a:spLocks xmlns:a="http://schemas.openxmlformats.org/drawingml/2006/main" noGrp="1"/>
          </p:cNvSpPr>
          <p:nvPr/>
        </p:nvSpPr>
        <p:spPr>
          <a:xfrm xmlns:a="http://schemas.openxmlformats.org/drawingml/2006/main">
            <a:off x="400050" y="1809750"/>
            <a:ext cx="5381625" cy="3714750"/>
          </a:xfrm>
          <a:prstGeom xmlns:a="http://schemas.openxmlformats.org/drawingml/2006/main" prst="roundRect">
            <a:avLst>
              <a:gd name="adj" fmla="val 3077"/>
            </a:avLst>
          </a:prstGeom>
          <a:solidFill xmlns:a="http://schemas.openxmlformats.org/drawingml/2006/main">
            <a:srgbClr val="EAF6FC"/>
          </a:solidFill>
          <a:ln xmlns:a="http://schemas.openxmlformats.org/drawingml/2006/main" w="0">
            <a:solidFill>
              <a:srgbClr val="EAF6FC"/>
            </a:solidFill>
            <a:prstDash val="solid"/>
          </a:ln>
        </p:spPr>
      </p:sp>
      <p:sp>
        <p:nvSpPr>
          <p:cNvPr id="5" name="">
            <a:extLst xmlns:a="http://schemas.openxmlformats.org/drawingml/2006/main">
              <a:ext uri="{FF2B5EF4-FFF2-40B4-BE49-F238E27FC236}">
                <a16:creationId xmlns:a16="http://schemas.microsoft.com/office/drawing/2014/main" id="{E1B6A672-DAC1-48F6-98F3-6B89AFE47097}"/>
              </a:ext>
            </a:extLst>
          </p:cNvPr>
          <p:cNvSpPr>
            <a:spLocks xmlns:a="http://schemas.openxmlformats.org/drawingml/2006/main" noGrp="1"/>
          </p:cNvSpPr>
          <p:nvPr/>
        </p:nvSpPr>
        <p:spPr>
          <a:xfrm xmlns:a="http://schemas.openxmlformats.org/drawingml/2006/main">
            <a:off x="628650" y="2000250"/>
            <a:ext cx="49244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6C5E0E23-30FB-46E8-9CE1-FA322E6E46AF}"/>
              </a:ext>
            </a:extLst>
          </p:cNvPr>
          <p:cNvSpPr>
            <a:spLocks xmlns:a="http://schemas.openxmlformats.org/drawingml/2006/main" noGrp="1"/>
          </p:cNvSpPr>
          <p:nvPr/>
        </p:nvSpPr>
        <p:spPr>
          <a:xfrm xmlns:a="http://schemas.openxmlformats.org/drawingml/2006/main">
            <a:off x="628650" y="2400300"/>
            <a:ext cx="4924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Compute achieved power</a:t>
            </a:r>
          </a:p>
        </p:txBody>
      </p:sp>
      <p:sp>
        <p:nvSpPr>
          <p:cNvPr id="7" name="">
            <a:extLst xmlns:a="http://schemas.openxmlformats.org/drawingml/2006/main">
              <a:ext uri="{FF2B5EF4-FFF2-40B4-BE49-F238E27FC236}">
                <a16:creationId xmlns:a16="http://schemas.microsoft.com/office/drawing/2014/main" id="{F475802B-0562-4C3D-A8C8-3A98E68806CC}"/>
              </a:ext>
            </a:extLst>
          </p:cNvPr>
          <p:cNvSpPr>
            <a:spLocks xmlns:a="http://schemas.openxmlformats.org/drawingml/2006/main" noGrp="1"/>
          </p:cNvSpPr>
          <p:nvPr/>
        </p:nvSpPr>
        <p:spPr>
          <a:xfrm xmlns:a="http://schemas.openxmlformats.org/drawingml/2006/main">
            <a:off x="628650" y="3162300"/>
            <a:ext cx="4924425"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0">
                <a:solidFill>
                  <a:srgbClr val="4B5563"/>
                </a:solidFill>
                <a:latin typeface="Helvetica Neue"/>
                <a:ea typeface="Helvetica Neue"/>
                <a:cs typeface="Helvetica Neue"/>
              </a:defRPr>
            </a:pPr>
            <a:r>
              <a:rPr sz="1875" b="0">
                <a:solidFill>
                  <a:srgbClr val="4B5563"/>
                </a:solidFill>
                <a:latin typeface="Helvetica Neue"/>
                <a:ea typeface="Helvetica Neue"/>
                <a:cs typeface="Helvetica Neue"/>
              </a:rPr>
              <a:t>Supply enrollment, failure, dropout, treatment-effect, and analysis-timing assumptions—without asking the function to derive sample size.</a:t>
            </a:r>
          </a:p>
        </p:txBody>
      </p:sp>
      <p:sp>
        <p:nvSpPr>
          <p:cNvPr id="8" name="">
            <a:extLst xmlns:a="http://schemas.openxmlformats.org/drawingml/2006/main">
              <a:ext uri="{FF2B5EF4-FFF2-40B4-BE49-F238E27FC236}">
                <a16:creationId xmlns:a16="http://schemas.microsoft.com/office/drawing/2014/main" id="{314CCDB8-E323-4197-89D4-29652041E0D8}"/>
              </a:ext>
            </a:extLst>
          </p:cNvPr>
          <p:cNvSpPr>
            <a:spLocks xmlns:a="http://schemas.openxmlformats.org/drawingml/2006/main" noGrp="1"/>
          </p:cNvSpPr>
          <p:nvPr/>
        </p:nvSpPr>
        <p:spPr>
          <a:xfrm xmlns:a="http://schemas.openxmlformats.org/drawingml/2006/main">
            <a:off x="6076950" y="1809750"/>
            <a:ext cx="5715000" cy="3714750"/>
          </a:xfrm>
          <a:prstGeom xmlns:a="http://schemas.openxmlformats.org/drawingml/2006/main" prst="roundRect">
            <a:avLst>
              <a:gd name="adj" fmla="val 3077"/>
            </a:avLst>
          </a:prstGeom>
          <a:solidFill xmlns:a="http://schemas.openxmlformats.org/drawingml/2006/main">
            <a:srgbClr val="F2F2F2"/>
          </a:solidFill>
          <a:ln xmlns:a="http://schemas.openxmlformats.org/drawingml/2006/main" w="0">
            <a:solidFill>
              <a:srgbClr val="F2F2F2"/>
            </a:solidFill>
            <a:prstDash val="solid"/>
          </a:ln>
        </p:spPr>
      </p:sp>
      <p:sp>
        <p:nvSpPr>
          <p:cNvPr id="9" name="">
            <a:extLst xmlns:a="http://schemas.openxmlformats.org/drawingml/2006/main">
              <a:ext uri="{FF2B5EF4-FFF2-40B4-BE49-F238E27FC236}">
                <a16:creationId xmlns:a16="http://schemas.microsoft.com/office/drawing/2014/main" id="{71253876-ED64-43BF-979E-3AEA86061188}"/>
              </a:ext>
            </a:extLst>
          </p:cNvPr>
          <p:cNvSpPr>
            <a:spLocks xmlns:a="http://schemas.openxmlformats.org/drawingml/2006/main" noGrp="1"/>
          </p:cNvSpPr>
          <p:nvPr/>
        </p:nvSpPr>
        <p:spPr>
          <a:xfrm xmlns:a="http://schemas.openxmlformats.org/drawingml/2006/main">
            <a:off x="6305550" y="2000250"/>
            <a:ext cx="525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FA7B55D7-AC39-4528-8F30-A4B8AF9E9336}"/>
              </a:ext>
            </a:extLst>
          </p:cNvPr>
          <p:cNvSpPr>
            <a:spLocks xmlns:a="http://schemas.openxmlformats.org/drawingml/2006/main" noGrp="1"/>
          </p:cNvSpPr>
          <p:nvPr/>
        </p:nvSpPr>
        <p:spPr>
          <a:xfrm xmlns:a="http://schemas.openxmlformats.org/drawingml/2006/main">
            <a:off x="6305550" y="2400300"/>
            <a:ext cx="5257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Evaluate an existing design</a:t>
            </a:r>
          </a:p>
        </p:txBody>
      </p:sp>
      <p:sp>
        <p:nvSpPr>
          <p:cNvPr id="11" name="">
            <a:extLst xmlns:a="http://schemas.openxmlformats.org/drawingml/2006/main">
              <a:ext uri="{FF2B5EF4-FFF2-40B4-BE49-F238E27FC236}">
                <a16:creationId xmlns:a16="http://schemas.microsoft.com/office/drawing/2014/main" id="{F621B825-B2FB-469B-B052-3BF6FDF61693}"/>
              </a:ext>
            </a:extLst>
          </p:cNvPr>
          <p:cNvSpPr>
            <a:spLocks xmlns:a="http://schemas.openxmlformats.org/drawingml/2006/main" noGrp="1"/>
          </p:cNvSpPr>
          <p:nvPr/>
        </p:nvSpPr>
        <p:spPr>
          <a:xfrm xmlns:a="http://schemas.openxmlformats.org/drawingml/2006/main">
            <a:off x="6305550" y="3162300"/>
            <a:ext cx="5257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0">
                <a:solidFill>
                  <a:srgbClr val="4B5563"/>
                </a:solidFill>
                <a:latin typeface="Helvetica Neue"/>
                <a:ea typeface="Helvetica Neue"/>
                <a:cs typeface="Helvetica Neue"/>
              </a:defRPr>
            </a:pPr>
            <a:r>
              <a:rPr sz="1875" b="0">
                <a:solidFill>
                  <a:srgbClr val="4B5563"/>
                </a:solidFill>
                <a:latin typeface="Helvetica Neue"/>
                <a:ea typeface="Helvetica Neue"/>
                <a:cs typeface="Helvetica Neue"/>
              </a:rPr>
              <a:t>Start from x, inherit its defaults, then override only the assumptions that define a scenario: HR, event rates, enrollment, timing rules, or alpha.</a:t>
            </a:r>
          </a:p>
        </p:txBody>
      </p:sp>
      <p:sp>
        <p:nvSpPr>
          <p:cNvPr id="12" name="">
            <a:extLst xmlns:a="http://schemas.openxmlformats.org/drawingml/2006/main">
              <a:ext uri="{FF2B5EF4-FFF2-40B4-BE49-F238E27FC236}">
                <a16:creationId xmlns:a16="http://schemas.microsoft.com/office/drawing/2014/main" id="{DB685008-2A0F-4753-A1E9-2013670AB17A}"/>
              </a:ext>
            </a:extLst>
          </p:cNvPr>
          <p:cNvSpPr>
            <a:spLocks xmlns:a="http://schemas.openxmlformats.org/drawingml/2006/main" noGrp="1"/>
          </p:cNvSpPr>
          <p:nvPr/>
        </p:nvSpPr>
        <p:spPr>
          <a:xfrm xmlns:a="http://schemas.openxmlformats.org/drawingml/2006/main">
            <a:off x="400050" y="58864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One object answers both: “what power?” and “what if?”</a:t>
            </a:r>
          </a:p>
        </p:txBody>
      </p:sp>
    </p:spTree>
    <p:extLst>
      <p:ext uri="{BB962C8B-B14F-4D97-AF65-F5344CB8AC3E}">
        <p14:creationId xmlns:p14="http://schemas.microsoft.com/office/powerpoint/2010/main" val="15630067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AAEA0A1-5180-4E8D-8184-45BEE8EF9FD8}"/>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PURPOSE</a:t>
            </a:r>
          </a:p>
        </p:txBody>
      </p:sp>
      <p:sp>
        <p:nvSpPr>
          <p:cNvPr id="2" name="">
            <a:extLst xmlns:a="http://schemas.openxmlformats.org/drawingml/2006/main">
              <a:ext uri="{FF2B5EF4-FFF2-40B4-BE49-F238E27FC236}">
                <a16:creationId xmlns:a16="http://schemas.microsoft.com/office/drawing/2014/main" id="{68A861AF-E647-4089-A4C5-B9B0421ECE31}"/>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Route the question before you calculate</a:t>
            </a:r>
          </a:p>
        </p:txBody>
      </p:sp>
      <p:sp>
        <p:nvSpPr>
          <p:cNvPr id="3" name="">
            <a:extLst xmlns:a="http://schemas.openxmlformats.org/drawingml/2006/main">
              <a:ext uri="{FF2B5EF4-FFF2-40B4-BE49-F238E27FC236}">
                <a16:creationId xmlns:a16="http://schemas.microsoft.com/office/drawing/2014/main" id="{32D554F9-41D9-4C35-8937-88A45608BE23}"/>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50D6ECB4-6CCB-4A35-A736-19971504152F}"/>
              </a:ext>
            </a:extLst>
          </p:cNvPr>
          <p:cNvSpPr>
            <a:spLocks xmlns:a="http://schemas.openxmlformats.org/drawingml/2006/main" noGrp="1"/>
          </p:cNvSpPr>
          <p:nvPr/>
        </p:nvSpPr>
        <p:spPr>
          <a:xfrm xmlns:a="http://schemas.openxmlformats.org/drawingml/2006/main">
            <a:off x="400050" y="2000250"/>
            <a:ext cx="3333750" cy="3143250"/>
          </a:xfrm>
          <a:prstGeom xmlns:a="http://schemas.openxmlformats.org/drawingml/2006/main" prst="roundRect">
            <a:avLst>
              <a:gd name="adj" fmla="val 3636"/>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133E582A-7A92-468A-8F0C-0E73E5706450}"/>
              </a:ext>
            </a:extLst>
          </p:cNvPr>
          <p:cNvSpPr>
            <a:spLocks xmlns:a="http://schemas.openxmlformats.org/drawingml/2006/main" noGrp="1"/>
          </p:cNvSpPr>
          <p:nvPr/>
        </p:nvSpPr>
        <p:spPr>
          <a:xfrm xmlns:a="http://schemas.openxmlformats.org/drawingml/2006/main">
            <a:off x="609600" y="2209800"/>
            <a:ext cx="12001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4E64F011-8057-4C03-B95E-79A99037E7F2}"/>
              </a:ext>
            </a:extLst>
          </p:cNvPr>
          <p:cNvSpPr>
            <a:spLocks xmlns:a="http://schemas.openxmlformats.org/drawingml/2006/main" noGrp="1"/>
          </p:cNvSpPr>
          <p:nvPr/>
        </p:nvSpPr>
        <p:spPr>
          <a:xfrm xmlns:a="http://schemas.openxmlformats.org/drawingml/2006/main">
            <a:off x="704850" y="2257425"/>
            <a:ext cx="100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DERIVE</a:t>
            </a:r>
          </a:p>
        </p:txBody>
      </p:sp>
      <p:sp>
        <p:nvSpPr>
          <p:cNvPr id="7" name="">
            <a:extLst xmlns:a="http://schemas.openxmlformats.org/drawingml/2006/main">
              <a:ext uri="{FF2B5EF4-FFF2-40B4-BE49-F238E27FC236}">
                <a16:creationId xmlns:a16="http://schemas.microsoft.com/office/drawing/2014/main" id="{5E0BABD7-C0BC-48A7-9CD0-B344EF665D4C}"/>
              </a:ext>
            </a:extLst>
          </p:cNvPr>
          <p:cNvSpPr>
            <a:spLocks xmlns:a="http://schemas.openxmlformats.org/drawingml/2006/main" noGrp="1"/>
          </p:cNvSpPr>
          <p:nvPr/>
        </p:nvSpPr>
        <p:spPr>
          <a:xfrm xmlns:a="http://schemas.openxmlformats.org/drawingml/2006/main">
            <a:off x="609600" y="2838450"/>
            <a:ext cx="2914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325" b="1">
                <a:solidFill>
                  <a:srgbClr val="000000"/>
                </a:solidFill>
                <a:latin typeface="Helvetica Neue"/>
                <a:ea typeface="Helvetica Neue"/>
                <a:cs typeface="Helvetica Neue"/>
              </a:defRPr>
            </a:pPr>
            <a:r>
              <a:rPr sz="2325" b="1">
                <a:solidFill>
                  <a:srgbClr val="000000"/>
                </a:solidFill>
                <a:latin typeface="Helvetica Neue"/>
                <a:ea typeface="Helvetica Neue"/>
                <a:cs typeface="Helvetica Neue"/>
              </a:rPr>
              <a:t>gsSurv() /</a:t>
            </a:r>
          </a:p>
          <a:p xmlns:a="http://schemas.openxmlformats.org/drawingml/2006/main">
            <a:pPr algn="l">
              <a:lnSpc>
                <a:spcPct val="105000"/>
              </a:lnSpc>
              <a:buNone/>
              <a:defRPr sz="2325" b="1">
                <a:solidFill>
                  <a:srgbClr val="000000"/>
                </a:solidFill>
                <a:latin typeface="Helvetica Neue"/>
                <a:ea typeface="Helvetica Neue"/>
                <a:cs typeface="Helvetica Neue"/>
              </a:defRPr>
            </a:pPr>
            <a:r>
              <a:rPr sz="2325" b="1">
                <a:solidFill>
                  <a:srgbClr val="000000"/>
                </a:solidFill>
                <a:latin typeface="Helvetica Neue"/>
                <a:ea typeface="Helvetica Neue"/>
                <a:cs typeface="Helvetica Neue"/>
              </a:rPr>
              <a:t>gsSurvCalendar()</a:t>
            </a:r>
          </a:p>
        </p:txBody>
      </p:sp>
      <p:sp>
        <p:nvSpPr>
          <p:cNvPr id="8" name="">
            <a:extLst xmlns:a="http://schemas.openxmlformats.org/drawingml/2006/main">
              <a:ext uri="{FF2B5EF4-FFF2-40B4-BE49-F238E27FC236}">
                <a16:creationId xmlns:a16="http://schemas.microsoft.com/office/drawing/2014/main" id="{141301D9-E99B-4C52-9A95-526B89101EC1}"/>
              </a:ext>
            </a:extLst>
          </p:cNvPr>
          <p:cNvSpPr>
            <a:spLocks xmlns:a="http://schemas.openxmlformats.org/drawingml/2006/main" noGrp="1"/>
          </p:cNvSpPr>
          <p:nvPr/>
        </p:nvSpPr>
        <p:spPr>
          <a:xfrm xmlns:a="http://schemas.openxmlformats.org/drawingml/2006/main">
            <a:off x="609600" y="3857625"/>
            <a:ext cx="29146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Solve for sample size or enrollment needed to meet target power.</a:t>
            </a:r>
          </a:p>
        </p:txBody>
      </p:sp>
      <p:sp>
        <p:nvSpPr>
          <p:cNvPr id="9" name="">
            <a:extLst xmlns:a="http://schemas.openxmlformats.org/drawingml/2006/main">
              <a:ext uri="{FF2B5EF4-FFF2-40B4-BE49-F238E27FC236}">
                <a16:creationId xmlns:a16="http://schemas.microsoft.com/office/drawing/2014/main" id="{81F2D5E9-9AB6-418A-9293-30348D7E555C}"/>
              </a:ext>
            </a:extLst>
          </p:cNvPr>
          <p:cNvSpPr>
            <a:spLocks xmlns:a="http://schemas.openxmlformats.org/drawingml/2006/main" noGrp="1"/>
          </p:cNvSpPr>
          <p:nvPr/>
        </p:nvSpPr>
        <p:spPr>
          <a:xfrm xmlns:a="http://schemas.openxmlformats.org/drawingml/2006/main">
            <a:off x="3781425" y="3171825"/>
            <a:ext cx="438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B7C1DDD9-5D57-41A7-83A9-BBC8140565AE}"/>
              </a:ext>
            </a:extLst>
          </p:cNvPr>
          <p:cNvSpPr>
            <a:spLocks xmlns:a="http://schemas.openxmlformats.org/drawingml/2006/main" noGrp="1"/>
          </p:cNvSpPr>
          <p:nvPr/>
        </p:nvSpPr>
        <p:spPr>
          <a:xfrm xmlns:a="http://schemas.openxmlformats.org/drawingml/2006/main">
            <a:off x="4267200" y="2000250"/>
            <a:ext cx="3333750" cy="3143250"/>
          </a:xfrm>
          <a:prstGeom xmlns:a="http://schemas.openxmlformats.org/drawingml/2006/main" prst="roundRect">
            <a:avLst>
              <a:gd name="adj" fmla="val 3636"/>
            </a:avLst>
          </a:prstGeom>
          <a:solidFill xmlns:a="http://schemas.openxmlformats.org/drawingml/2006/main">
            <a:srgbClr val="EAF6FC"/>
          </a:solidFill>
          <a:ln xmlns:a="http://schemas.openxmlformats.org/drawingml/2006/main" w="0">
            <a:solidFill>
              <a:srgbClr val="EAF6FC"/>
            </a:solidFill>
            <a:prstDash val="solid"/>
          </a:ln>
        </p:spPr>
      </p:sp>
      <p:sp>
        <p:nvSpPr>
          <p:cNvPr id="11" name="">
            <a:extLst xmlns:a="http://schemas.openxmlformats.org/drawingml/2006/main">
              <a:ext uri="{FF2B5EF4-FFF2-40B4-BE49-F238E27FC236}">
                <a16:creationId xmlns:a16="http://schemas.microsoft.com/office/drawing/2014/main" id="{58FDFA78-112C-442C-9BE9-28C767C86403}"/>
              </a:ext>
            </a:extLst>
          </p:cNvPr>
          <p:cNvSpPr>
            <a:spLocks xmlns:a="http://schemas.openxmlformats.org/drawingml/2006/main" noGrp="1"/>
          </p:cNvSpPr>
          <p:nvPr/>
        </p:nvSpPr>
        <p:spPr>
          <a:xfrm xmlns:a="http://schemas.openxmlformats.org/drawingml/2006/main">
            <a:off x="4476750" y="2209800"/>
            <a:ext cx="1200150" cy="323850"/>
          </a:xfrm>
          <a:prstGeom xmlns:a="http://schemas.openxmlformats.org/drawingml/2006/main" prst="roundRect">
            <a:avLst>
              <a:gd name="adj" fmla="val 50000"/>
            </a:avLst>
          </a:prstGeom>
          <a:solidFill xmlns:a="http://schemas.openxmlformats.org/drawingml/2006/main">
            <a:srgbClr val="6DCBF4"/>
          </a:solidFill>
          <a:ln xmlns:a="http://schemas.openxmlformats.org/drawingml/2006/main" w="0">
            <a:solidFill>
              <a:srgbClr val="6DCBF4"/>
            </a:solidFill>
            <a:prstDash val="solid"/>
          </a:ln>
        </p:spPr>
      </p:sp>
      <p:sp>
        <p:nvSpPr>
          <p:cNvPr id="12" name="">
            <a:extLst xmlns:a="http://schemas.openxmlformats.org/drawingml/2006/main">
              <a:ext uri="{FF2B5EF4-FFF2-40B4-BE49-F238E27FC236}">
                <a16:creationId xmlns:a16="http://schemas.microsoft.com/office/drawing/2014/main" id="{D6651DA6-5BFF-4573-8E86-0AAAE97F957B}"/>
              </a:ext>
            </a:extLst>
          </p:cNvPr>
          <p:cNvSpPr>
            <a:spLocks xmlns:a="http://schemas.openxmlformats.org/drawingml/2006/main" noGrp="1"/>
          </p:cNvSpPr>
          <p:nvPr/>
        </p:nvSpPr>
        <p:spPr>
          <a:xfrm xmlns:a="http://schemas.openxmlformats.org/drawingml/2006/main">
            <a:off x="4572000" y="2257425"/>
            <a:ext cx="100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EVALUATE</a:t>
            </a:r>
          </a:p>
        </p:txBody>
      </p:sp>
      <p:sp>
        <p:nvSpPr>
          <p:cNvPr id="13" name="">
            <a:extLst xmlns:a="http://schemas.openxmlformats.org/drawingml/2006/main">
              <a:ext uri="{FF2B5EF4-FFF2-40B4-BE49-F238E27FC236}">
                <a16:creationId xmlns:a16="http://schemas.microsoft.com/office/drawing/2014/main" id="{D562AEFD-30B2-4F13-AC53-68672D2E9145}"/>
              </a:ext>
            </a:extLst>
          </p:cNvPr>
          <p:cNvSpPr>
            <a:spLocks xmlns:a="http://schemas.openxmlformats.org/drawingml/2006/main" noGrp="1"/>
          </p:cNvSpPr>
          <p:nvPr/>
        </p:nvSpPr>
        <p:spPr>
          <a:xfrm xmlns:a="http://schemas.openxmlformats.org/drawingml/2006/main">
            <a:off x="4476750" y="2838450"/>
            <a:ext cx="2914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325" b="1">
                <a:solidFill>
                  <a:srgbClr val="000000"/>
                </a:solidFill>
                <a:latin typeface="Helvetica Neue"/>
                <a:ea typeface="Helvetica Neue"/>
                <a:cs typeface="Helvetica Neue"/>
              </a:defRPr>
            </a:pPr>
            <a:r>
              <a:rPr sz="2325" b="1">
                <a:solidFill>
                  <a:srgbClr val="000000"/>
                </a:solidFill>
                <a:latin typeface="Helvetica Neue"/>
                <a:ea typeface="Helvetica Neue"/>
                <a:cs typeface="Helvetica Neue"/>
              </a:rPr>
              <a:t>gsSurvPower()</a:t>
            </a:r>
          </a:p>
        </p:txBody>
      </p:sp>
      <p:sp>
        <p:nvSpPr>
          <p:cNvPr id="14" name="">
            <a:extLst xmlns:a="http://schemas.openxmlformats.org/drawingml/2006/main">
              <a:ext uri="{FF2B5EF4-FFF2-40B4-BE49-F238E27FC236}">
                <a16:creationId xmlns:a16="http://schemas.microsoft.com/office/drawing/2014/main" id="{2940C073-5398-46AF-9B07-AEBF84EE1818}"/>
              </a:ext>
            </a:extLst>
          </p:cNvPr>
          <p:cNvSpPr>
            <a:spLocks xmlns:a="http://schemas.openxmlformats.org/drawingml/2006/main" noGrp="1"/>
          </p:cNvSpPr>
          <p:nvPr/>
        </p:nvSpPr>
        <p:spPr>
          <a:xfrm xmlns:a="http://schemas.openxmlformats.org/drawingml/2006/main">
            <a:off x="4476750" y="3857625"/>
            <a:ext cx="29146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043"/>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Compute expected operating characteristics under an explicit scenario and timing plan.</a:t>
            </a:r>
          </a:p>
        </p:txBody>
      </p:sp>
      <p:sp>
        <p:nvSpPr>
          <p:cNvPr id="15" name="">
            <a:extLst xmlns:a="http://schemas.openxmlformats.org/drawingml/2006/main">
              <a:ext uri="{FF2B5EF4-FFF2-40B4-BE49-F238E27FC236}">
                <a16:creationId xmlns:a16="http://schemas.microsoft.com/office/drawing/2014/main" id="{EEBF2605-E54A-4AEC-8B60-1F74D17B3112}"/>
              </a:ext>
            </a:extLst>
          </p:cNvPr>
          <p:cNvSpPr>
            <a:spLocks xmlns:a="http://schemas.openxmlformats.org/drawingml/2006/main" noGrp="1"/>
          </p:cNvSpPr>
          <p:nvPr/>
        </p:nvSpPr>
        <p:spPr>
          <a:xfrm xmlns:a="http://schemas.openxmlformats.org/drawingml/2006/main">
            <a:off x="7648575" y="3171825"/>
            <a:ext cx="438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60C1B130-9B4E-4EDD-A003-EF7784E50248}"/>
              </a:ext>
            </a:extLst>
          </p:cNvPr>
          <p:cNvSpPr>
            <a:spLocks xmlns:a="http://schemas.openxmlformats.org/drawingml/2006/main" noGrp="1"/>
          </p:cNvSpPr>
          <p:nvPr/>
        </p:nvSpPr>
        <p:spPr>
          <a:xfrm xmlns:a="http://schemas.openxmlformats.org/drawingml/2006/main">
            <a:off x="8134350" y="2000250"/>
            <a:ext cx="3333750" cy="3143250"/>
          </a:xfrm>
          <a:prstGeom xmlns:a="http://schemas.openxmlformats.org/drawingml/2006/main" prst="roundRect">
            <a:avLst>
              <a:gd name="adj" fmla="val 3636"/>
            </a:avLst>
          </a:prstGeom>
          <a:solidFill xmlns:a="http://schemas.openxmlformats.org/drawingml/2006/main">
            <a:srgbClr val="F2F2F2"/>
          </a:solidFill>
          <a:ln xmlns:a="http://schemas.openxmlformats.org/drawingml/2006/main" w="0">
            <a:solidFill>
              <a:srgbClr val="F2F2F2"/>
            </a:solidFill>
            <a:prstDash val="solid"/>
          </a:ln>
        </p:spPr>
      </p:sp>
      <p:sp>
        <p:nvSpPr>
          <p:cNvPr id="17" name="">
            <a:extLst xmlns:a="http://schemas.openxmlformats.org/drawingml/2006/main">
              <a:ext uri="{FF2B5EF4-FFF2-40B4-BE49-F238E27FC236}">
                <a16:creationId xmlns:a16="http://schemas.microsoft.com/office/drawing/2014/main" id="{F754F282-5332-4DA4-8A12-C92053F88CD5}"/>
              </a:ext>
            </a:extLst>
          </p:cNvPr>
          <p:cNvSpPr>
            <a:spLocks xmlns:a="http://schemas.openxmlformats.org/drawingml/2006/main" noGrp="1"/>
          </p:cNvSpPr>
          <p:nvPr/>
        </p:nvSpPr>
        <p:spPr>
          <a:xfrm xmlns:a="http://schemas.openxmlformats.org/drawingml/2006/main">
            <a:off x="8343900" y="2209800"/>
            <a:ext cx="12001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solidFill>
              <a:srgbClr val="FFFFFF"/>
            </a:solidFill>
            <a:prstDash val="solid"/>
          </a:ln>
        </p:spPr>
      </p:sp>
      <p:sp>
        <p:nvSpPr>
          <p:cNvPr id="18" name="">
            <a:extLst xmlns:a="http://schemas.openxmlformats.org/drawingml/2006/main">
              <a:ext uri="{FF2B5EF4-FFF2-40B4-BE49-F238E27FC236}">
                <a16:creationId xmlns:a16="http://schemas.microsoft.com/office/drawing/2014/main" id="{834C161B-FE4F-40C7-970B-64C721F4DB46}"/>
              </a:ext>
            </a:extLst>
          </p:cNvPr>
          <p:cNvSpPr>
            <a:spLocks xmlns:a="http://schemas.openxmlformats.org/drawingml/2006/main" noGrp="1"/>
          </p:cNvSpPr>
          <p:nvPr/>
        </p:nvSpPr>
        <p:spPr>
          <a:xfrm xmlns:a="http://schemas.openxmlformats.org/drawingml/2006/main">
            <a:off x="8439150" y="2257425"/>
            <a:ext cx="100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SIMULATE</a:t>
            </a:r>
          </a:p>
        </p:txBody>
      </p:sp>
      <p:sp>
        <p:nvSpPr>
          <p:cNvPr id="19" name="">
            <a:extLst xmlns:a="http://schemas.openxmlformats.org/drawingml/2006/main">
              <a:ext uri="{FF2B5EF4-FFF2-40B4-BE49-F238E27FC236}">
                <a16:creationId xmlns:a16="http://schemas.microsoft.com/office/drawing/2014/main" id="{D0D62024-C1F3-48C8-B465-40FED910EC4F}"/>
              </a:ext>
            </a:extLst>
          </p:cNvPr>
          <p:cNvSpPr>
            <a:spLocks xmlns:a="http://schemas.openxmlformats.org/drawingml/2006/main" noGrp="1"/>
          </p:cNvSpPr>
          <p:nvPr/>
        </p:nvSpPr>
        <p:spPr>
          <a:xfrm xmlns:a="http://schemas.openxmlformats.org/drawingml/2006/main">
            <a:off x="8343900" y="2838450"/>
            <a:ext cx="2914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325" b="1">
                <a:solidFill>
                  <a:srgbClr val="000000"/>
                </a:solidFill>
                <a:latin typeface="Helvetica Neue"/>
                <a:ea typeface="Helvetica Neue"/>
                <a:cs typeface="Helvetica Neue"/>
              </a:defRPr>
            </a:pPr>
            <a:r>
              <a:rPr sz="2325" b="1">
                <a:solidFill>
                  <a:srgbClr val="000000"/>
                </a:solidFill>
                <a:latin typeface="Helvetica Neue"/>
                <a:ea typeface="Helvetica Neue"/>
                <a:cs typeface="Helvetica Neue"/>
              </a:rPr>
              <a:t>simtrial</a:t>
            </a:r>
          </a:p>
        </p:txBody>
      </p:sp>
      <p:sp>
        <p:nvSpPr>
          <p:cNvPr id="20" name="">
            <a:extLst xmlns:a="http://schemas.openxmlformats.org/drawingml/2006/main">
              <a:ext uri="{FF2B5EF4-FFF2-40B4-BE49-F238E27FC236}">
                <a16:creationId xmlns:a16="http://schemas.microsoft.com/office/drawing/2014/main" id="{ECEDE6D2-515E-4D06-940D-54F20F0C70E5}"/>
              </a:ext>
            </a:extLst>
          </p:cNvPr>
          <p:cNvSpPr>
            <a:spLocks xmlns:a="http://schemas.openxmlformats.org/drawingml/2006/main" noGrp="1"/>
          </p:cNvSpPr>
          <p:nvPr/>
        </p:nvSpPr>
        <p:spPr>
          <a:xfrm xmlns:a="http://schemas.openxmlformats.org/drawingml/2006/main">
            <a:off x="8343900" y="3857625"/>
            <a:ext cx="29146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Quantify trial-to-trial variability in accrual, events, analysis dates, and rule competition.</a:t>
            </a:r>
          </a:p>
        </p:txBody>
      </p:sp>
      <p:sp>
        <p:nvSpPr>
          <p:cNvPr id="21" name="">
            <a:extLst xmlns:a="http://schemas.openxmlformats.org/drawingml/2006/main">
              <a:ext uri="{FF2B5EF4-FFF2-40B4-BE49-F238E27FC236}">
                <a16:creationId xmlns:a16="http://schemas.microsoft.com/office/drawing/2014/main" id="{773D3C5D-54AA-4FEE-838C-0BA8D23EAB6D}"/>
              </a:ext>
            </a:extLst>
          </p:cNvPr>
          <p:cNvSpPr>
            <a:spLocks xmlns:a="http://schemas.openxmlformats.org/drawingml/2006/main" noGrp="1"/>
          </p:cNvSpPr>
          <p:nvPr/>
        </p:nvSpPr>
        <p:spPr>
          <a:xfrm xmlns:a="http://schemas.openxmlformats.org/drawingml/2006/main">
            <a:off x="400050" y="5619750"/>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Design the plan → stress-test the expectation → simulate execution</a:t>
            </a:r>
          </a:p>
        </p:txBody>
      </p:sp>
    </p:spTree>
    <p:extLst>
      <p:ext uri="{BB962C8B-B14F-4D97-AF65-F5344CB8AC3E}">
        <p14:creationId xmlns:p14="http://schemas.microsoft.com/office/powerpoint/2010/main" val="6542729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7D1D07-7A83-4AA6-8A03-DEC267D5DB1F}"/>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WORKFLOW</a:t>
            </a:r>
          </a:p>
        </p:txBody>
      </p:sp>
      <p:sp>
        <p:nvSpPr>
          <p:cNvPr id="2" name="">
            <a:extLst xmlns:a="http://schemas.openxmlformats.org/drawingml/2006/main">
              <a:ext uri="{FF2B5EF4-FFF2-40B4-BE49-F238E27FC236}">
                <a16:creationId xmlns:a16="http://schemas.microsoft.com/office/drawing/2014/main" id="{3259A905-57D2-4A4B-8AF6-9BB05C76D3E4}"/>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Start from the design; override only the scenario</a:t>
            </a:r>
          </a:p>
        </p:txBody>
      </p:sp>
      <p:sp>
        <p:nvSpPr>
          <p:cNvPr id="3" name="">
            <a:extLst xmlns:a="http://schemas.openxmlformats.org/drawingml/2006/main">
              <a:ext uri="{FF2B5EF4-FFF2-40B4-BE49-F238E27FC236}">
                <a16:creationId xmlns:a16="http://schemas.microsoft.com/office/drawing/2014/main" id="{D39DF0AE-3A4A-48F6-B963-3CE00FF8FB7C}"/>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FA0147E1-4A70-40AF-8C3A-0B1757672F98}"/>
              </a:ext>
            </a:extLst>
          </p:cNvPr>
          <p:cNvSpPr>
            <a:spLocks xmlns:a="http://schemas.openxmlformats.org/drawingml/2006/main" noGrp="1"/>
          </p:cNvSpPr>
          <p:nvPr/>
        </p:nvSpPr>
        <p:spPr>
          <a:xfrm xmlns:a="http://schemas.openxmlformats.org/drawingml/2006/main">
            <a:off x="400050" y="1666875"/>
            <a:ext cx="6572250" cy="4048125"/>
          </a:xfrm>
          <a:prstGeom xmlns:a="http://schemas.openxmlformats.org/drawingml/2006/main" prst="roundRect">
            <a:avLst>
              <a:gd name="adj" fmla="val 2824"/>
            </a:avLst>
          </a:prstGeom>
          <a:solidFill xmlns:a="http://schemas.openxmlformats.org/drawingml/2006/main">
            <a:srgbClr val="111827"/>
          </a:solidFill>
          <a:ln xmlns:a="http://schemas.openxmlformats.org/drawingml/2006/main" w="0">
            <a:solidFill>
              <a:srgbClr val="111827"/>
            </a:solidFill>
            <a:prstDash val="solid"/>
          </a:ln>
        </p:spPr>
      </p:sp>
      <p:sp>
        <p:nvSpPr>
          <p:cNvPr id="5" name="">
            <a:extLst xmlns:a="http://schemas.openxmlformats.org/drawingml/2006/main">
              <a:ext uri="{FF2B5EF4-FFF2-40B4-BE49-F238E27FC236}">
                <a16:creationId xmlns:a16="http://schemas.microsoft.com/office/drawing/2014/main" id="{0B64DA91-EAB9-4C76-941E-8C5ED90DE06C}"/>
              </a:ext>
            </a:extLst>
          </p:cNvPr>
          <p:cNvSpPr>
            <a:spLocks xmlns:a="http://schemas.openxmlformats.org/drawingml/2006/main" noGrp="1"/>
          </p:cNvSpPr>
          <p:nvPr/>
        </p:nvSpPr>
        <p:spPr>
          <a:xfrm xmlns:a="http://schemas.openxmlformats.org/drawingml/2006/main">
            <a:off x="666750" y="1952625"/>
            <a:ext cx="6048375"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725" b="0">
                <a:solidFill>
                  <a:srgbClr val="F8FAFC"/>
                </a:solidFill>
                <a:latin typeface="SF Mono"/>
                <a:ea typeface="SF Mono"/>
                <a:cs typeface="SF Mono"/>
              </a:defRPr>
            </a:pPr>
            <a:r>
              <a:rPr sz="1725" b="0">
                <a:solidFill>
                  <a:srgbClr val="F8FAFC"/>
                </a:solidFill>
                <a:latin typeface="SF Mono"/>
                <a:ea typeface="SF Mono"/>
                <a:cs typeface="SF Mono"/>
              </a:rPr>
              <a:t>design &lt;- gsSurv(</a:t>
            </a:r>
          </a:p>
          <a:p xmlns:a="http://schemas.openxmlformats.org/drawingml/2006/main">
            <a:pPr algn="l">
              <a:lnSpc>
                <a:spcPct val="115000"/>
              </a:lnSpc>
              <a:buNone/>
              <a:defRPr sz="1725" b="0">
                <a:solidFill>
                  <a:srgbClr val="F8FAFC"/>
                </a:solidFill>
                <a:latin typeface="SF Mono"/>
                <a:ea typeface="SF Mono"/>
                <a:cs typeface="SF Mono"/>
              </a:defRPr>
            </a:pPr>
            <a:r>
              <a:rPr sz="1725" b="0">
                <a:solidFill>
                  <a:srgbClr val="F8FAFC"/>
                </a:solidFill>
                <a:latin typeface="SF Mono"/>
                <a:ea typeface="SF Mono"/>
                <a:cs typeface="SF Mono"/>
              </a:rPr>
              <a:t>  k = 3, beta = 0.1, hr = 0.7,</a:t>
            </a:r>
          </a:p>
          <a:p xmlns:a="http://schemas.openxmlformats.org/drawingml/2006/main">
            <a:pPr algn="l">
              <a:lnSpc>
                <a:spcPct val="115000"/>
              </a:lnSpc>
              <a:buNone/>
              <a:defRPr sz="1725" b="0">
                <a:solidFill>
                  <a:srgbClr val="F8FAFC"/>
                </a:solidFill>
                <a:latin typeface="SF Mono"/>
                <a:ea typeface="SF Mono"/>
                <a:cs typeface="SF Mono"/>
              </a:defRPr>
            </a:pPr>
            <a:r>
              <a:rPr sz="1725" b="0">
                <a:solidFill>
                  <a:srgbClr val="F8FAFC"/>
                </a:solidFill>
                <a:latin typeface="SF Mono"/>
                <a:ea typeface="SF Mono"/>
                <a:cs typeface="SF Mono"/>
              </a:rPr>
              <a:t>  gamma = 10, R = 16, minfup = 12, T = 28</a:t>
            </a:r>
          </a:p>
          <a:p xmlns:a="http://schemas.openxmlformats.org/drawingml/2006/main">
            <a:pPr algn="l">
              <a:lnSpc>
                <a:spcPct val="115000"/>
              </a:lnSpc>
              <a:buNone/>
              <a:defRPr sz="1725" b="0">
                <a:solidFill>
                  <a:srgbClr val="F8FAFC"/>
                </a:solidFill>
                <a:latin typeface="SF Mono"/>
                <a:ea typeface="SF Mono"/>
                <a:cs typeface="SF Mono"/>
              </a:defRPr>
            </a:pPr>
            <a:r>
              <a:rPr sz="1725" b="0">
                <a:solidFill>
                  <a:srgbClr val="F8FAFC"/>
                </a:solidFill>
                <a:latin typeface="SF Mono"/>
                <a:ea typeface="SF Mono"/>
                <a:cs typeface="SF Mono"/>
              </a:rPr>
              <a:t>)</a:t>
            </a:r>
          </a:p>
          <a:p xmlns:a="http://schemas.openxmlformats.org/drawingml/2006/main">
            <a:r>
              <a:t/>
            </a:r>
          </a:p>
          <a:p xmlns:a="http://schemas.openxmlformats.org/drawingml/2006/main">
            <a:pPr algn="l">
              <a:lnSpc>
                <a:spcPct val="115000"/>
              </a:lnSpc>
              <a:buNone/>
              <a:defRPr sz="1725" b="0">
                <a:solidFill>
                  <a:srgbClr val="F8FAFC"/>
                </a:solidFill>
                <a:latin typeface="SF Mono"/>
                <a:ea typeface="SF Mono"/>
                <a:cs typeface="SF Mono"/>
              </a:defRPr>
            </a:pPr>
            <a:r>
              <a:rPr sz="1725" b="0">
                <a:solidFill>
                  <a:srgbClr val="F8FAFC"/>
                </a:solidFill>
                <a:latin typeface="SF Mono"/>
                <a:ea typeface="SF Mono"/>
                <a:cs typeface="SF Mono"/>
              </a:rPr>
              <a:t>pwr &lt;- gsSurvPower(</a:t>
            </a:r>
          </a:p>
          <a:p xmlns:a="http://schemas.openxmlformats.org/drawingml/2006/main">
            <a:pPr algn="l">
              <a:lnSpc>
                <a:spcPct val="115000"/>
              </a:lnSpc>
              <a:buNone/>
              <a:defRPr sz="1725" b="0">
                <a:solidFill>
                  <a:srgbClr val="F8FAFC"/>
                </a:solidFill>
                <a:latin typeface="SF Mono"/>
                <a:ea typeface="SF Mono"/>
                <a:cs typeface="SF Mono"/>
              </a:defRPr>
            </a:pPr>
            <a:r>
              <a:rPr sz="1725" b="0">
                <a:solidFill>
                  <a:srgbClr val="F8FAFC"/>
                </a:solidFill>
                <a:latin typeface="SF Mono"/>
                <a:ea typeface="SF Mono"/>
                <a:cs typeface="SF Mono"/>
              </a:rPr>
              <a:t>  x = design, plannedCalendarTime = design$T</a:t>
            </a:r>
          </a:p>
          <a:p xmlns:a="http://schemas.openxmlformats.org/drawingml/2006/main">
            <a:pPr algn="l">
              <a:lnSpc>
                <a:spcPct val="115000"/>
              </a:lnSpc>
              <a:buNone/>
              <a:defRPr sz="1725" b="0">
                <a:solidFill>
                  <a:srgbClr val="F8FAFC"/>
                </a:solidFill>
                <a:latin typeface="SF Mono"/>
                <a:ea typeface="SF Mono"/>
                <a:cs typeface="SF Mono"/>
              </a:defRPr>
            </a:pPr>
            <a:r>
              <a:rPr sz="1725" b="0">
                <a:solidFill>
                  <a:srgbClr val="F8FAFC"/>
                </a:solidFill>
                <a:latin typeface="SF Mono"/>
                <a:ea typeface="SF Mono"/>
                <a:cs typeface="SF Mono"/>
              </a:rPr>
              <a:t>)</a:t>
            </a:r>
          </a:p>
        </p:txBody>
      </p:sp>
      <p:sp>
        <p:nvSpPr>
          <p:cNvPr id="6" name="">
            <a:extLst xmlns:a="http://schemas.openxmlformats.org/drawingml/2006/main">
              <a:ext uri="{FF2B5EF4-FFF2-40B4-BE49-F238E27FC236}">
                <a16:creationId xmlns:a16="http://schemas.microsoft.com/office/drawing/2014/main" id="{FF0FD5A0-63D0-48CB-B59E-44ECE27E340B}"/>
              </a:ext>
            </a:extLst>
          </p:cNvPr>
          <p:cNvSpPr>
            <a:spLocks xmlns:a="http://schemas.openxmlformats.org/drawingml/2006/main" noGrp="1"/>
          </p:cNvSpPr>
          <p:nvPr/>
        </p:nvSpPr>
        <p:spPr>
          <a:xfrm xmlns:a="http://schemas.openxmlformats.org/drawingml/2006/main">
            <a:off x="7477125" y="1733550"/>
            <a:ext cx="3905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950" b="1">
                <a:solidFill>
                  <a:srgbClr val="3D8DFF"/>
                </a:solidFill>
                <a:latin typeface="Helvetica Neue"/>
                <a:ea typeface="Helvetica Neue"/>
                <a:cs typeface="Helvetica Neue"/>
              </a:defRPr>
            </a:pPr>
            <a:r>
              <a:rPr sz="4950" b="1">
                <a:solidFill>
                  <a:srgbClr val="3D8DFF"/>
                </a:solidFill>
                <a:latin typeface="Helvetica Neue"/>
                <a:ea typeface="Helvetica Neue"/>
                <a:cs typeface="Helvetica Neue"/>
              </a:rPr>
              <a:t>90.0%</a:t>
            </a:r>
          </a:p>
        </p:txBody>
      </p:sp>
      <p:sp>
        <p:nvSpPr>
          <p:cNvPr id="7" name="">
            <a:extLst xmlns:a="http://schemas.openxmlformats.org/drawingml/2006/main">
              <a:ext uri="{FF2B5EF4-FFF2-40B4-BE49-F238E27FC236}">
                <a16:creationId xmlns:a16="http://schemas.microsoft.com/office/drawing/2014/main" id="{5E1068B1-A504-42CE-909B-AA11EB3BC1C4}"/>
              </a:ext>
            </a:extLst>
          </p:cNvPr>
          <p:cNvSpPr>
            <a:spLocks xmlns:a="http://schemas.openxmlformats.org/drawingml/2006/main" noGrp="1"/>
          </p:cNvSpPr>
          <p:nvPr/>
        </p:nvSpPr>
        <p:spPr>
          <a:xfrm xmlns:a="http://schemas.openxmlformats.org/drawingml/2006/main">
            <a:off x="7477125" y="2543175"/>
            <a:ext cx="3667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a:solidFill>
                  <a:srgbClr val="4B5563"/>
                </a:solidFill>
                <a:latin typeface="Helvetica Neue"/>
                <a:ea typeface="Helvetica Neue"/>
                <a:cs typeface="Helvetica Neue"/>
              </a:defRPr>
            </a:pPr>
            <a:r>
              <a:rPr sz="1725" b="0">
                <a:solidFill>
                  <a:srgbClr val="4B5563"/>
                </a:solidFill>
                <a:latin typeface="Helvetica Neue"/>
                <a:ea typeface="Helvetica Neue"/>
                <a:cs typeface="Helvetica Neue"/>
              </a:rPr>
              <a:t>achieved power under the design assumptions</a:t>
            </a:r>
          </a:p>
        </p:txBody>
      </p:sp>
      <p:sp>
        <p:nvSpPr>
          <p:cNvPr id="8" name="">
            <a:extLst xmlns:a="http://schemas.openxmlformats.org/drawingml/2006/main">
              <a:ext uri="{FF2B5EF4-FFF2-40B4-BE49-F238E27FC236}">
                <a16:creationId xmlns:a16="http://schemas.microsoft.com/office/drawing/2014/main" id="{720369F1-6679-4DAD-B93F-58151173A218}"/>
              </a:ext>
            </a:extLst>
          </p:cNvPr>
          <p:cNvSpPr>
            <a:spLocks xmlns:a="http://schemas.openxmlformats.org/drawingml/2006/main" noGrp="1"/>
          </p:cNvSpPr>
          <p:nvPr/>
        </p:nvSpPr>
        <p:spPr>
          <a:xfrm xmlns:a="http://schemas.openxmlformats.org/drawingml/2006/main">
            <a:off x="7477125" y="34956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Inspect first</a:t>
            </a:r>
          </a:p>
        </p:txBody>
      </p:sp>
      <p:sp>
        <p:nvSpPr>
          <p:cNvPr id="9" name="">
            <a:extLst xmlns:a="http://schemas.openxmlformats.org/drawingml/2006/main">
              <a:ext uri="{FF2B5EF4-FFF2-40B4-BE49-F238E27FC236}">
                <a16:creationId xmlns:a16="http://schemas.microsoft.com/office/drawing/2014/main" id="{A475A07E-96C8-4711-B50C-7AAE811A8341}"/>
              </a:ext>
            </a:extLst>
          </p:cNvPr>
          <p:cNvSpPr>
            <a:spLocks xmlns:a="http://schemas.openxmlformats.org/drawingml/2006/main" noGrp="1"/>
          </p:cNvSpPr>
          <p:nvPr/>
        </p:nvSpPr>
        <p:spPr>
          <a:xfrm xmlns:a="http://schemas.openxmlformats.org/drawingml/2006/main">
            <a:off x="7477125" y="3971925"/>
            <a:ext cx="3905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power  •  n.I  •  T  •  timing</a:t>
            </a:r>
          </a:p>
          <a:p xmlns:a="http://schemas.openxmlformats.org/drawingml/2006/main">
            <a:pPr algn="l">
              <a:lnSpc>
                <a:spcPct val="122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upper$bound  •  lower$bound</a:t>
            </a:r>
          </a:p>
        </p:txBody>
      </p:sp>
      <p:sp>
        <p:nvSpPr>
          <p:cNvPr id="10" name="">
            <a:extLst xmlns:a="http://schemas.openxmlformats.org/drawingml/2006/main">
              <a:ext uri="{FF2B5EF4-FFF2-40B4-BE49-F238E27FC236}">
                <a16:creationId xmlns:a16="http://schemas.microsoft.com/office/drawing/2014/main" id="{543EEDA5-1B02-4CD4-8E4A-F73ACB6F155C}"/>
              </a:ext>
            </a:extLst>
          </p:cNvPr>
          <p:cNvSpPr>
            <a:spLocks xmlns:a="http://schemas.openxmlformats.org/drawingml/2006/main" noGrp="1"/>
          </p:cNvSpPr>
          <p:nvPr/>
        </p:nvSpPr>
        <p:spPr>
          <a:xfrm xmlns:a="http://schemas.openxmlformats.org/drawingml/2006/main">
            <a:off x="7477125" y="5219700"/>
            <a:ext cx="390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The return value keeps a familiar gsDesign-style structure.</a:t>
            </a:r>
          </a:p>
        </p:txBody>
      </p:sp>
    </p:spTree>
    <p:extLst>
      <p:ext uri="{BB962C8B-B14F-4D97-AF65-F5344CB8AC3E}">
        <p14:creationId xmlns:p14="http://schemas.microsoft.com/office/powerpoint/2010/main" val="15885079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0C24C58-88A1-487E-9927-61A7CD8A8712}"/>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SCENARIOS</a:t>
            </a:r>
          </a:p>
        </p:txBody>
      </p:sp>
      <p:sp>
        <p:nvSpPr>
          <p:cNvPr id="2" name="">
            <a:extLst xmlns:a="http://schemas.openxmlformats.org/drawingml/2006/main">
              <a:ext uri="{FF2B5EF4-FFF2-40B4-BE49-F238E27FC236}">
                <a16:creationId xmlns:a16="http://schemas.microsoft.com/office/drawing/2014/main" id="{5EE57359-6BB3-488D-B6B0-2C3C8A8D919C}"/>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276"/>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Scenario analysis changes assumptions—not the design goal</a:t>
            </a:r>
          </a:p>
        </p:txBody>
      </p:sp>
      <p:sp>
        <p:nvSpPr>
          <p:cNvPr id="3" name="">
            <a:extLst xmlns:a="http://schemas.openxmlformats.org/drawingml/2006/main">
              <a:ext uri="{FF2B5EF4-FFF2-40B4-BE49-F238E27FC236}">
                <a16:creationId xmlns:a16="http://schemas.microsoft.com/office/drawing/2014/main" id="{89508C05-4EA9-459D-8CF4-69989E819A24}"/>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D7929031-8553-4163-BBCB-4F0C6B4CEC15}"/>
              </a:ext>
            </a:extLst>
          </p:cNvPr>
          <p:cNvSpPr>
            <a:spLocks xmlns:a="http://schemas.openxmlformats.org/drawingml/2006/main" noGrp="1"/>
          </p:cNvSpPr>
          <p:nvPr/>
        </p:nvSpPr>
        <p:spPr>
          <a:xfrm xmlns:a="http://schemas.openxmlformats.org/drawingml/2006/main">
            <a:off x="400050" y="1476375"/>
            <a:ext cx="1123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Four levers cover most practical sensitivity questions.</a:t>
            </a:r>
          </a:p>
        </p:txBody>
      </p:sp>
      <p:sp>
        <p:nvSpPr>
          <p:cNvPr id="5" name="">
            <a:extLst xmlns:a="http://schemas.openxmlformats.org/drawingml/2006/main">
              <a:ext uri="{FF2B5EF4-FFF2-40B4-BE49-F238E27FC236}">
                <a16:creationId xmlns:a16="http://schemas.microsoft.com/office/drawing/2014/main" id="{491D5A5F-CA29-4493-9F43-73A55A5FC154}"/>
              </a:ext>
            </a:extLst>
          </p:cNvPr>
          <p:cNvSpPr>
            <a:spLocks xmlns:a="http://schemas.openxmlformats.org/drawingml/2006/main" noGrp="1"/>
          </p:cNvSpPr>
          <p:nvPr/>
        </p:nvSpPr>
        <p:spPr>
          <a:xfrm xmlns:a="http://schemas.openxmlformats.org/drawingml/2006/main">
            <a:off x="400050" y="1952625"/>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Treatment effect</a:t>
            </a:r>
          </a:p>
        </p:txBody>
      </p:sp>
      <p:sp>
        <p:nvSpPr>
          <p:cNvPr id="6" name="">
            <a:extLst xmlns:a="http://schemas.openxmlformats.org/drawingml/2006/main">
              <a:ext uri="{FF2B5EF4-FFF2-40B4-BE49-F238E27FC236}">
                <a16:creationId xmlns:a16="http://schemas.microsoft.com/office/drawing/2014/main" id="{228FC8CA-8EFA-4690-8442-96C665BFF07F}"/>
              </a:ext>
            </a:extLst>
          </p:cNvPr>
          <p:cNvSpPr>
            <a:spLocks xmlns:a="http://schemas.openxmlformats.org/drawingml/2006/main" noGrp="1"/>
          </p:cNvSpPr>
          <p:nvPr/>
        </p:nvSpPr>
        <p:spPr>
          <a:xfrm xmlns:a="http://schemas.openxmlformats.org/drawingml/2006/main">
            <a:off x="3000375" y="1971675"/>
            <a:ext cx="2381250" cy="323850"/>
          </a:xfrm>
          <a:prstGeom xmlns:a="http://schemas.openxmlformats.org/drawingml/2006/main" prst="roundRect">
            <a:avLst>
              <a:gd name="adj" fmla="val 50000"/>
            </a:avLst>
          </a:prstGeom>
          <a:solidFill xmlns:a="http://schemas.openxmlformats.org/drawingml/2006/main">
            <a:srgbClr val="EAF6FC"/>
          </a:solidFill>
          <a:ln xmlns:a="http://schemas.openxmlformats.org/drawingml/2006/main" w="0">
            <a:solidFill>
              <a:srgbClr val="EAF6FC"/>
            </a:solidFill>
            <a:prstDash val="solid"/>
          </a:ln>
        </p:spPr>
      </p:sp>
      <p:sp>
        <p:nvSpPr>
          <p:cNvPr id="7" name="">
            <a:extLst xmlns:a="http://schemas.openxmlformats.org/drawingml/2006/main">
              <a:ext uri="{FF2B5EF4-FFF2-40B4-BE49-F238E27FC236}">
                <a16:creationId xmlns:a16="http://schemas.microsoft.com/office/drawing/2014/main" id="{267BFFE6-A7C2-4255-9601-98C8A485C51B}"/>
              </a:ext>
            </a:extLst>
          </p:cNvPr>
          <p:cNvSpPr>
            <a:spLocks xmlns:a="http://schemas.openxmlformats.org/drawingml/2006/main" noGrp="1"/>
          </p:cNvSpPr>
          <p:nvPr/>
        </p:nvSpPr>
        <p:spPr>
          <a:xfrm xmlns:a="http://schemas.openxmlformats.org/drawingml/2006/main">
            <a:off x="3095625" y="20193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hr</a:t>
            </a:r>
          </a:p>
        </p:txBody>
      </p:sp>
      <p:sp>
        <p:nvSpPr>
          <p:cNvPr id="8" name="">
            <a:extLst xmlns:a="http://schemas.openxmlformats.org/drawingml/2006/main">
              <a:ext uri="{FF2B5EF4-FFF2-40B4-BE49-F238E27FC236}">
                <a16:creationId xmlns:a16="http://schemas.microsoft.com/office/drawing/2014/main" id="{871E87F2-EDBD-4649-9AD4-ABB821E231FC}"/>
              </a:ext>
            </a:extLst>
          </p:cNvPr>
          <p:cNvSpPr>
            <a:spLocks xmlns:a="http://schemas.openxmlformats.org/drawingml/2006/main" noGrp="1"/>
          </p:cNvSpPr>
          <p:nvPr/>
        </p:nvSpPr>
        <p:spPr>
          <a:xfrm xmlns:a="http://schemas.openxmlformats.org/drawingml/2006/main">
            <a:off x="5715000" y="1952625"/>
            <a:ext cx="590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a:solidFill>
                  <a:srgbClr val="4B5563"/>
                </a:solidFill>
                <a:latin typeface="Helvetica Neue"/>
                <a:ea typeface="Helvetica Neue"/>
                <a:cs typeface="Helvetica Neue"/>
              </a:defRPr>
            </a:pPr>
            <a:r>
              <a:rPr sz="1725" b="0">
                <a:solidFill>
                  <a:srgbClr val="4B5563"/>
                </a:solidFill>
                <a:latin typeface="Helvetica Neue"/>
                <a:ea typeface="Helvetica Neue"/>
                <a:cs typeface="Helvetica Neue"/>
              </a:rPr>
              <a:t>What if the true hazard ratio is weaker or stronger?</a:t>
            </a:r>
          </a:p>
        </p:txBody>
      </p:sp>
      <p:sp>
        <p:nvSpPr>
          <p:cNvPr id="9" name="">
            <a:extLst xmlns:a="http://schemas.openxmlformats.org/drawingml/2006/main">
              <a:ext uri="{FF2B5EF4-FFF2-40B4-BE49-F238E27FC236}">
                <a16:creationId xmlns:a16="http://schemas.microsoft.com/office/drawing/2014/main" id="{2CE5118E-1005-4E24-B19A-3FA17176DE53}"/>
              </a:ext>
            </a:extLst>
          </p:cNvPr>
          <p:cNvSpPr>
            <a:spLocks xmlns:a="http://schemas.openxmlformats.org/drawingml/2006/main" noGrp="1"/>
          </p:cNvSpPr>
          <p:nvPr/>
        </p:nvSpPr>
        <p:spPr>
          <a:xfrm xmlns:a="http://schemas.openxmlformats.org/drawingml/2006/main">
            <a:off x="400050" y="2676525"/>
            <a:ext cx="11144250" cy="0"/>
          </a:xfrm>
          <a:prstGeom xmlns:a="http://schemas.openxmlformats.org/drawingml/2006/main" prst="line">
            <a:avLst/>
          </a:prstGeom>
          <a:noFill xmlns:a="http://schemas.openxmlformats.org/drawingml/2006/main"/>
          <a:ln xmlns:a="http://schemas.openxmlformats.org/drawingml/2006/main" w="9525">
            <a:solidFill>
              <a:srgbClr val="E2E5E9"/>
            </a:solidFill>
            <a:prstDash val="solid"/>
          </a:ln>
        </p:spPr>
      </p:sp>
      <p:sp>
        <p:nvSpPr>
          <p:cNvPr id="10" name="">
            <a:extLst xmlns:a="http://schemas.openxmlformats.org/drawingml/2006/main">
              <a:ext uri="{FF2B5EF4-FFF2-40B4-BE49-F238E27FC236}">
                <a16:creationId xmlns:a16="http://schemas.microsoft.com/office/drawing/2014/main" id="{2FB9D00D-103B-4CD1-BED7-A2484E42A1C1}"/>
              </a:ext>
            </a:extLst>
          </p:cNvPr>
          <p:cNvSpPr>
            <a:spLocks xmlns:a="http://schemas.openxmlformats.org/drawingml/2006/main" noGrp="1"/>
          </p:cNvSpPr>
          <p:nvPr/>
        </p:nvSpPr>
        <p:spPr>
          <a:xfrm xmlns:a="http://schemas.openxmlformats.org/drawingml/2006/main">
            <a:off x="400050" y="29527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Enrollment</a:t>
            </a:r>
          </a:p>
        </p:txBody>
      </p:sp>
      <p:sp>
        <p:nvSpPr>
          <p:cNvPr id="11" name="">
            <a:extLst xmlns:a="http://schemas.openxmlformats.org/drawingml/2006/main">
              <a:ext uri="{FF2B5EF4-FFF2-40B4-BE49-F238E27FC236}">
                <a16:creationId xmlns:a16="http://schemas.microsoft.com/office/drawing/2014/main" id="{43442B6F-3D04-469C-94AB-8C3E2D3F741D}"/>
              </a:ext>
            </a:extLst>
          </p:cNvPr>
          <p:cNvSpPr>
            <a:spLocks xmlns:a="http://schemas.openxmlformats.org/drawingml/2006/main" noGrp="1"/>
          </p:cNvSpPr>
          <p:nvPr/>
        </p:nvSpPr>
        <p:spPr>
          <a:xfrm xmlns:a="http://schemas.openxmlformats.org/drawingml/2006/main">
            <a:off x="3000375" y="2971800"/>
            <a:ext cx="2381250" cy="323850"/>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solidFill>
              <a:srgbClr val="F2F2F2"/>
            </a:solidFill>
            <a:prstDash val="solid"/>
          </a:ln>
        </p:spPr>
      </p:sp>
      <p:sp>
        <p:nvSpPr>
          <p:cNvPr id="12" name="">
            <a:extLst xmlns:a="http://schemas.openxmlformats.org/drawingml/2006/main">
              <a:ext uri="{FF2B5EF4-FFF2-40B4-BE49-F238E27FC236}">
                <a16:creationId xmlns:a16="http://schemas.microsoft.com/office/drawing/2014/main" id="{5C114468-2676-4711-95F2-B387C3F60169}"/>
              </a:ext>
            </a:extLst>
          </p:cNvPr>
          <p:cNvSpPr>
            <a:spLocks xmlns:a="http://schemas.openxmlformats.org/drawingml/2006/main" noGrp="1"/>
          </p:cNvSpPr>
          <p:nvPr/>
        </p:nvSpPr>
        <p:spPr>
          <a:xfrm xmlns:a="http://schemas.openxmlformats.org/drawingml/2006/main">
            <a:off x="3095625" y="30194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gamma, R, targetN</a:t>
            </a:r>
          </a:p>
        </p:txBody>
      </p:sp>
      <p:sp>
        <p:nvSpPr>
          <p:cNvPr id="13" name="">
            <a:extLst xmlns:a="http://schemas.openxmlformats.org/drawingml/2006/main">
              <a:ext uri="{FF2B5EF4-FFF2-40B4-BE49-F238E27FC236}">
                <a16:creationId xmlns:a16="http://schemas.microsoft.com/office/drawing/2014/main" id="{92A35749-453F-4D7D-AB4D-1F07FE185F58}"/>
              </a:ext>
            </a:extLst>
          </p:cNvPr>
          <p:cNvSpPr>
            <a:spLocks xmlns:a="http://schemas.openxmlformats.org/drawingml/2006/main" noGrp="1"/>
          </p:cNvSpPr>
          <p:nvPr/>
        </p:nvSpPr>
        <p:spPr>
          <a:xfrm xmlns:a="http://schemas.openxmlformats.org/drawingml/2006/main">
            <a:off x="5715000" y="2952750"/>
            <a:ext cx="590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467"/>
          </a:bodyPr>
          <a:lstStyle xmlns:a="http://schemas.openxmlformats.org/drawingml/2006/main"/>
          <a:p xmlns:a="http://schemas.openxmlformats.org/drawingml/2006/main">
            <a:pPr algn="l">
              <a:lnSpc>
                <a:spcPct val="105000"/>
              </a:lnSpc>
              <a:buNone/>
              <a:defRPr sz="1725" b="0">
                <a:solidFill>
                  <a:srgbClr val="4B5563"/>
                </a:solidFill>
                <a:latin typeface="Helvetica Neue"/>
                <a:ea typeface="Helvetica Neue"/>
                <a:cs typeface="Helvetica Neue"/>
              </a:defRPr>
            </a:pPr>
            <a:r>
              <a:rPr sz="1725" b="0">
                <a:solidFill>
                  <a:srgbClr val="4B5563"/>
                </a:solidFill>
                <a:latin typeface="Helvetica Neue"/>
                <a:ea typeface="Helvetica Neue"/>
                <a:cs typeface="Helvetica Neue"/>
              </a:rPr>
              <a:t>What if patients arrive more slowly—or enrollment lasts longer?</a:t>
            </a:r>
          </a:p>
        </p:txBody>
      </p:sp>
      <p:sp>
        <p:nvSpPr>
          <p:cNvPr id="14" name="">
            <a:extLst xmlns:a="http://schemas.openxmlformats.org/drawingml/2006/main">
              <a:ext uri="{FF2B5EF4-FFF2-40B4-BE49-F238E27FC236}">
                <a16:creationId xmlns:a16="http://schemas.microsoft.com/office/drawing/2014/main" id="{DFBA3028-C504-4934-B897-F2E6EA9ADFD4}"/>
              </a:ext>
            </a:extLst>
          </p:cNvPr>
          <p:cNvSpPr>
            <a:spLocks xmlns:a="http://schemas.openxmlformats.org/drawingml/2006/main" noGrp="1"/>
          </p:cNvSpPr>
          <p:nvPr/>
        </p:nvSpPr>
        <p:spPr>
          <a:xfrm xmlns:a="http://schemas.openxmlformats.org/drawingml/2006/main">
            <a:off x="400050" y="3676650"/>
            <a:ext cx="11144250" cy="0"/>
          </a:xfrm>
          <a:prstGeom xmlns:a="http://schemas.openxmlformats.org/drawingml/2006/main" prst="line">
            <a:avLst/>
          </a:prstGeom>
          <a:noFill xmlns:a="http://schemas.openxmlformats.org/drawingml/2006/main"/>
          <a:ln xmlns:a="http://schemas.openxmlformats.org/drawingml/2006/main" w="9525">
            <a:solidFill>
              <a:srgbClr val="E2E5E9"/>
            </a:solidFill>
            <a:prstDash val="solid"/>
          </a:ln>
        </p:spPr>
      </p:sp>
      <p:sp>
        <p:nvSpPr>
          <p:cNvPr id="15" name="">
            <a:extLst xmlns:a="http://schemas.openxmlformats.org/drawingml/2006/main">
              <a:ext uri="{FF2B5EF4-FFF2-40B4-BE49-F238E27FC236}">
                <a16:creationId xmlns:a16="http://schemas.microsoft.com/office/drawing/2014/main" id="{B601E90C-A9F7-4FEA-923C-32894C553741}"/>
              </a:ext>
            </a:extLst>
          </p:cNvPr>
          <p:cNvSpPr>
            <a:spLocks xmlns:a="http://schemas.openxmlformats.org/drawingml/2006/main" noGrp="1"/>
          </p:cNvSpPr>
          <p:nvPr/>
        </p:nvSpPr>
        <p:spPr>
          <a:xfrm xmlns:a="http://schemas.openxmlformats.org/drawingml/2006/main">
            <a:off x="400050" y="3952875"/>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Failure / dropout</a:t>
            </a:r>
          </a:p>
        </p:txBody>
      </p:sp>
      <p:sp>
        <p:nvSpPr>
          <p:cNvPr id="16" name="">
            <a:extLst xmlns:a="http://schemas.openxmlformats.org/drawingml/2006/main">
              <a:ext uri="{FF2B5EF4-FFF2-40B4-BE49-F238E27FC236}">
                <a16:creationId xmlns:a16="http://schemas.microsoft.com/office/drawing/2014/main" id="{179EEDA7-6514-4329-B772-67198F1C34AD}"/>
              </a:ext>
            </a:extLst>
          </p:cNvPr>
          <p:cNvSpPr>
            <a:spLocks xmlns:a="http://schemas.openxmlformats.org/drawingml/2006/main" noGrp="1"/>
          </p:cNvSpPr>
          <p:nvPr/>
        </p:nvSpPr>
        <p:spPr>
          <a:xfrm xmlns:a="http://schemas.openxmlformats.org/drawingml/2006/main">
            <a:off x="3000375" y="3971925"/>
            <a:ext cx="2381250" cy="323850"/>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solidFill>
              <a:srgbClr val="F2F2F2"/>
            </a:solidFill>
            <a:prstDash val="solid"/>
          </a:ln>
        </p:spPr>
      </p:sp>
      <p:sp>
        <p:nvSpPr>
          <p:cNvPr id="17" name="">
            <a:extLst xmlns:a="http://schemas.openxmlformats.org/drawingml/2006/main">
              <a:ext uri="{FF2B5EF4-FFF2-40B4-BE49-F238E27FC236}">
                <a16:creationId xmlns:a16="http://schemas.microsoft.com/office/drawing/2014/main" id="{9DBEFD8A-2C2C-4A06-903D-E2B17BB787F2}"/>
              </a:ext>
            </a:extLst>
          </p:cNvPr>
          <p:cNvSpPr>
            <a:spLocks xmlns:a="http://schemas.openxmlformats.org/drawingml/2006/main" noGrp="1"/>
          </p:cNvSpPr>
          <p:nvPr/>
        </p:nvSpPr>
        <p:spPr>
          <a:xfrm xmlns:a="http://schemas.openxmlformats.org/drawingml/2006/main">
            <a:off x="3095625" y="40195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lambdaC, S, eta, etaE</a:t>
            </a:r>
          </a:p>
        </p:txBody>
      </p:sp>
      <p:sp>
        <p:nvSpPr>
          <p:cNvPr id="18" name="">
            <a:extLst xmlns:a="http://schemas.openxmlformats.org/drawingml/2006/main">
              <a:ext uri="{FF2B5EF4-FFF2-40B4-BE49-F238E27FC236}">
                <a16:creationId xmlns:a16="http://schemas.microsoft.com/office/drawing/2014/main" id="{247062F8-8C6B-4D8D-8255-434D6F088637}"/>
              </a:ext>
            </a:extLst>
          </p:cNvPr>
          <p:cNvSpPr>
            <a:spLocks xmlns:a="http://schemas.openxmlformats.org/drawingml/2006/main" noGrp="1"/>
          </p:cNvSpPr>
          <p:nvPr/>
        </p:nvSpPr>
        <p:spPr>
          <a:xfrm xmlns:a="http://schemas.openxmlformats.org/drawingml/2006/main">
            <a:off x="5715000" y="3952875"/>
            <a:ext cx="590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a:solidFill>
                  <a:srgbClr val="4B5563"/>
                </a:solidFill>
                <a:latin typeface="Helvetica Neue"/>
                <a:ea typeface="Helvetica Neue"/>
                <a:cs typeface="Helvetica Neue"/>
              </a:defRPr>
            </a:pPr>
            <a:r>
              <a:rPr sz="1725" b="0">
                <a:solidFill>
                  <a:srgbClr val="4B5563"/>
                </a:solidFill>
                <a:latin typeface="Helvetica Neue"/>
                <a:ea typeface="Helvetica Neue"/>
                <a:cs typeface="Helvetica Neue"/>
              </a:rPr>
              <a:t>What if events accumulate differently than planned?</a:t>
            </a:r>
          </a:p>
        </p:txBody>
      </p:sp>
      <p:sp>
        <p:nvSpPr>
          <p:cNvPr id="19" name="">
            <a:extLst xmlns:a="http://schemas.openxmlformats.org/drawingml/2006/main">
              <a:ext uri="{FF2B5EF4-FFF2-40B4-BE49-F238E27FC236}">
                <a16:creationId xmlns:a16="http://schemas.microsoft.com/office/drawing/2014/main" id="{B3986423-6EE1-45E2-A285-C943435BACE4}"/>
              </a:ext>
            </a:extLst>
          </p:cNvPr>
          <p:cNvSpPr>
            <a:spLocks xmlns:a="http://schemas.openxmlformats.org/drawingml/2006/main" noGrp="1"/>
          </p:cNvSpPr>
          <p:nvPr/>
        </p:nvSpPr>
        <p:spPr>
          <a:xfrm xmlns:a="http://schemas.openxmlformats.org/drawingml/2006/main">
            <a:off x="400050" y="4676775"/>
            <a:ext cx="11144250" cy="0"/>
          </a:xfrm>
          <a:prstGeom xmlns:a="http://schemas.openxmlformats.org/drawingml/2006/main" prst="line">
            <a:avLst/>
          </a:prstGeom>
          <a:noFill xmlns:a="http://schemas.openxmlformats.org/drawingml/2006/main"/>
          <a:ln xmlns:a="http://schemas.openxmlformats.org/drawingml/2006/main" w="9525">
            <a:solidFill>
              <a:srgbClr val="E2E5E9"/>
            </a:solidFill>
            <a:prstDash val="solid"/>
          </a:ln>
        </p:spPr>
      </p:sp>
      <p:sp>
        <p:nvSpPr>
          <p:cNvPr id="20" name="">
            <a:extLst xmlns:a="http://schemas.openxmlformats.org/drawingml/2006/main">
              <a:ext uri="{FF2B5EF4-FFF2-40B4-BE49-F238E27FC236}">
                <a16:creationId xmlns:a16="http://schemas.microsoft.com/office/drawing/2014/main" id="{C0BB2D92-4C10-4712-93D1-06F022EC8CEC}"/>
              </a:ext>
            </a:extLst>
          </p:cNvPr>
          <p:cNvSpPr>
            <a:spLocks xmlns:a="http://schemas.openxmlformats.org/drawingml/2006/main" noGrp="1"/>
          </p:cNvSpPr>
          <p:nvPr/>
        </p:nvSpPr>
        <p:spPr>
          <a:xfrm xmlns:a="http://schemas.openxmlformats.org/drawingml/2006/main">
            <a:off x="400050" y="49530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Timing / testing</a:t>
            </a:r>
          </a:p>
        </p:txBody>
      </p:sp>
      <p:sp>
        <p:nvSpPr>
          <p:cNvPr id="21" name="">
            <a:extLst xmlns:a="http://schemas.openxmlformats.org/drawingml/2006/main">
              <a:ext uri="{FF2B5EF4-FFF2-40B4-BE49-F238E27FC236}">
                <a16:creationId xmlns:a16="http://schemas.microsoft.com/office/drawing/2014/main" id="{0CC95FF1-6BC2-4B0B-88DC-7586D0D54132}"/>
              </a:ext>
            </a:extLst>
          </p:cNvPr>
          <p:cNvSpPr>
            <a:spLocks xmlns:a="http://schemas.openxmlformats.org/drawingml/2006/main" noGrp="1"/>
          </p:cNvSpPr>
          <p:nvPr/>
        </p:nvSpPr>
        <p:spPr>
          <a:xfrm xmlns:a="http://schemas.openxmlformats.org/drawingml/2006/main">
            <a:off x="3000375" y="4972050"/>
            <a:ext cx="2381250" cy="323850"/>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solidFill>
              <a:srgbClr val="F2F2F2"/>
            </a:solidFill>
            <a:prstDash val="solid"/>
          </a:ln>
        </p:spPr>
      </p:sp>
      <p:sp>
        <p:nvSpPr>
          <p:cNvPr id="22" name="">
            <a:extLst xmlns:a="http://schemas.openxmlformats.org/drawingml/2006/main">
              <a:ext uri="{FF2B5EF4-FFF2-40B4-BE49-F238E27FC236}">
                <a16:creationId xmlns:a16="http://schemas.microsoft.com/office/drawing/2014/main" id="{69B0D579-59DF-470D-A9BD-2DE1B480E813}"/>
              </a:ext>
            </a:extLst>
          </p:cNvPr>
          <p:cNvSpPr>
            <a:spLocks xmlns:a="http://schemas.openxmlformats.org/drawingml/2006/main" noGrp="1"/>
          </p:cNvSpPr>
          <p:nvPr/>
        </p:nvSpPr>
        <p:spPr>
          <a:xfrm xmlns:a="http://schemas.openxmlformats.org/drawingml/2006/main">
            <a:off x="3095625" y="501967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timing rules, alpha</a:t>
            </a:r>
          </a:p>
        </p:txBody>
      </p:sp>
      <p:sp>
        <p:nvSpPr>
          <p:cNvPr id="23" name="">
            <a:extLst xmlns:a="http://schemas.openxmlformats.org/drawingml/2006/main">
              <a:ext uri="{FF2B5EF4-FFF2-40B4-BE49-F238E27FC236}">
                <a16:creationId xmlns:a16="http://schemas.microsoft.com/office/drawing/2014/main" id="{9C8A68B7-9BE6-4265-A764-4219E4E8219A}"/>
              </a:ext>
            </a:extLst>
          </p:cNvPr>
          <p:cNvSpPr>
            <a:spLocks xmlns:a="http://schemas.openxmlformats.org/drawingml/2006/main" noGrp="1"/>
          </p:cNvSpPr>
          <p:nvPr/>
        </p:nvSpPr>
        <p:spPr>
          <a:xfrm xmlns:a="http://schemas.openxmlformats.org/drawingml/2006/main">
            <a:off x="5715000" y="4953000"/>
            <a:ext cx="590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893"/>
          </a:bodyPr>
          <a:lstStyle xmlns:a="http://schemas.openxmlformats.org/drawingml/2006/main"/>
          <a:p xmlns:a="http://schemas.openxmlformats.org/drawingml/2006/main">
            <a:pPr algn="l">
              <a:lnSpc>
                <a:spcPct val="105000"/>
              </a:lnSpc>
              <a:buNone/>
              <a:defRPr sz="1725" b="0">
                <a:solidFill>
                  <a:srgbClr val="4B5563"/>
                </a:solidFill>
                <a:latin typeface="Helvetica Neue"/>
                <a:ea typeface="Helvetica Neue"/>
                <a:cs typeface="Helvetica Neue"/>
              </a:defRPr>
            </a:pPr>
            <a:r>
              <a:rPr sz="1725" b="0">
                <a:solidFill>
                  <a:srgbClr val="4B5563"/>
                </a:solidFill>
                <a:latin typeface="Helvetica Neue"/>
                <a:ea typeface="Helvetica Neue"/>
                <a:cs typeface="Helvetica Neue"/>
              </a:rPr>
              <a:t>What if looks occur under different gates, floors, caps, or alpha?</a:t>
            </a:r>
          </a:p>
        </p:txBody>
      </p:sp>
    </p:spTree>
    <p:extLst>
      <p:ext uri="{BB962C8B-B14F-4D97-AF65-F5344CB8AC3E}">
        <p14:creationId xmlns:p14="http://schemas.microsoft.com/office/powerpoint/2010/main" val="14630063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875824C-E6AC-42D5-B872-FD176728CADA}"/>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SCENARIO MECHANICS</a:t>
            </a:r>
          </a:p>
        </p:txBody>
      </p:sp>
      <p:sp>
        <p:nvSpPr>
          <p:cNvPr id="2" name="">
            <a:extLst xmlns:a="http://schemas.openxmlformats.org/drawingml/2006/main">
              <a:ext uri="{FF2B5EF4-FFF2-40B4-BE49-F238E27FC236}">
                <a16:creationId xmlns:a16="http://schemas.microsoft.com/office/drawing/2014/main" id="{BD967DD6-84BA-4324-B2D4-BE4A9A6BFB26}"/>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hr asks “what if?”; hr1 remembers the design</a:t>
            </a:r>
          </a:p>
        </p:txBody>
      </p:sp>
      <p:sp>
        <p:nvSpPr>
          <p:cNvPr id="3" name="">
            <a:extLst xmlns:a="http://schemas.openxmlformats.org/drawingml/2006/main">
              <a:ext uri="{FF2B5EF4-FFF2-40B4-BE49-F238E27FC236}">
                <a16:creationId xmlns:a16="http://schemas.microsoft.com/office/drawing/2014/main" id="{1991421E-5D8E-40AD-831E-25C6B0F6285E}"/>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522EEA9E-D8CB-4CF2-8F3F-25E4E9FD4337}"/>
              </a:ext>
            </a:extLst>
          </p:cNvPr>
          <p:cNvSpPr>
            <a:spLocks xmlns:a="http://schemas.openxmlformats.org/drawingml/2006/main" noGrp="1"/>
          </p:cNvSpPr>
          <p:nvPr/>
        </p:nvSpPr>
        <p:spPr>
          <a:xfrm xmlns:a="http://schemas.openxmlformats.org/drawingml/2006/main">
            <a:off x="400050" y="1809750"/>
            <a:ext cx="5048250" cy="3190875"/>
          </a:xfrm>
          <a:prstGeom xmlns:a="http://schemas.openxmlformats.org/drawingml/2006/main" prst="roundRect">
            <a:avLst>
              <a:gd name="adj" fmla="val 3582"/>
            </a:avLst>
          </a:prstGeom>
          <a:solidFill xmlns:a="http://schemas.openxmlformats.org/drawingml/2006/main">
            <a:srgbClr val="EAF6FC"/>
          </a:solidFill>
          <a:ln xmlns:a="http://schemas.openxmlformats.org/drawingml/2006/main" w="0">
            <a:solidFill>
              <a:srgbClr val="EAF6FC"/>
            </a:solidFill>
            <a:prstDash val="solid"/>
          </a:ln>
        </p:spPr>
      </p:sp>
      <p:sp>
        <p:nvSpPr>
          <p:cNvPr id="5" name="">
            <a:extLst xmlns:a="http://schemas.openxmlformats.org/drawingml/2006/main">
              <a:ext uri="{FF2B5EF4-FFF2-40B4-BE49-F238E27FC236}">
                <a16:creationId xmlns:a16="http://schemas.microsoft.com/office/drawing/2014/main" id="{614E9491-A9E0-423E-AD09-FAE3AA116F92}"/>
              </a:ext>
            </a:extLst>
          </p:cNvPr>
          <p:cNvSpPr>
            <a:spLocks xmlns:a="http://schemas.openxmlformats.org/drawingml/2006/main" noGrp="1"/>
          </p:cNvSpPr>
          <p:nvPr/>
        </p:nvSpPr>
        <p:spPr>
          <a:xfrm xmlns:a="http://schemas.openxmlformats.org/drawingml/2006/main">
            <a:off x="628650" y="2000250"/>
            <a:ext cx="4591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SCENARIO EFFECT</a:t>
            </a:r>
          </a:p>
        </p:txBody>
      </p:sp>
      <p:sp>
        <p:nvSpPr>
          <p:cNvPr id="6" name="">
            <a:extLst xmlns:a="http://schemas.openxmlformats.org/drawingml/2006/main">
              <a:ext uri="{FF2B5EF4-FFF2-40B4-BE49-F238E27FC236}">
                <a16:creationId xmlns:a16="http://schemas.microsoft.com/office/drawing/2014/main" id="{BD75E82C-1035-454E-B9F1-F95F7386D484}"/>
              </a:ext>
            </a:extLst>
          </p:cNvPr>
          <p:cNvSpPr>
            <a:spLocks xmlns:a="http://schemas.openxmlformats.org/drawingml/2006/main" noGrp="1"/>
          </p:cNvSpPr>
          <p:nvPr/>
        </p:nvSpPr>
        <p:spPr>
          <a:xfrm xmlns:a="http://schemas.openxmlformats.org/drawingml/2006/main">
            <a:off x="628650" y="2400300"/>
            <a:ext cx="4591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166"/>
          </a:bodyPr>
          <a:lstStyle xmlns:a="http://schemas.openxmlformats.org/drawingml/2006/main"/>
          <a:p xmlns:a="http://schemas.openxmlformats.org/drawingml/2006/main">
            <a:pPr algn="l">
              <a:lnSpc>
                <a:spcPct val="105000"/>
              </a:lnSpc>
              <a:buNone/>
              <a:defRPr sz="4650" b="1">
                <a:solidFill>
                  <a:srgbClr val="000000"/>
                </a:solidFill>
                <a:latin typeface="Helvetica Neue"/>
                <a:ea typeface="Helvetica Neue"/>
                <a:cs typeface="Helvetica Neue"/>
              </a:defRPr>
            </a:pPr>
            <a:r>
              <a:rPr sz="4650" b="1">
                <a:solidFill>
                  <a:srgbClr val="000000"/>
                </a:solidFill>
                <a:latin typeface="Helvetica Neue"/>
                <a:ea typeface="Helvetica Neue"/>
                <a:cs typeface="Helvetica Neue"/>
              </a:rPr>
              <a:t>hr</a:t>
            </a:r>
          </a:p>
        </p:txBody>
      </p:sp>
      <p:sp>
        <p:nvSpPr>
          <p:cNvPr id="7" name="">
            <a:extLst xmlns:a="http://schemas.openxmlformats.org/drawingml/2006/main">
              <a:ext uri="{FF2B5EF4-FFF2-40B4-BE49-F238E27FC236}">
                <a16:creationId xmlns:a16="http://schemas.microsoft.com/office/drawing/2014/main" id="{E555D1E6-182A-4DAD-AB13-7D8992866CFA}"/>
              </a:ext>
            </a:extLst>
          </p:cNvPr>
          <p:cNvSpPr>
            <a:spLocks xmlns:a="http://schemas.openxmlformats.org/drawingml/2006/main" noGrp="1"/>
          </p:cNvSpPr>
          <p:nvPr/>
        </p:nvSpPr>
        <p:spPr>
          <a:xfrm xmlns:a="http://schemas.openxmlformats.org/drawingml/2006/main">
            <a:off x="628650" y="3162300"/>
            <a:ext cx="4591050"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0">
                <a:solidFill>
                  <a:srgbClr val="4B5563"/>
                </a:solidFill>
                <a:latin typeface="Helvetica Neue"/>
                <a:ea typeface="Helvetica Neue"/>
                <a:cs typeface="Helvetica Neue"/>
              </a:defRPr>
            </a:pPr>
            <a:r>
              <a:rPr sz="1875" b="0">
                <a:solidFill>
                  <a:srgbClr val="4B5563"/>
                </a:solidFill>
                <a:latin typeface="Helvetica Neue"/>
                <a:ea typeface="Helvetica Neue"/>
                <a:cs typeface="Helvetica Neue"/>
              </a:rPr>
              <a:t>The treatment effect under which power is computed. Change this to evaluate a scenario.</a:t>
            </a:r>
          </a:p>
        </p:txBody>
      </p:sp>
      <p:sp>
        <p:nvSpPr>
          <p:cNvPr id="8" name="">
            <a:extLst xmlns:a="http://schemas.openxmlformats.org/drawingml/2006/main">
              <a:ext uri="{FF2B5EF4-FFF2-40B4-BE49-F238E27FC236}">
                <a16:creationId xmlns:a16="http://schemas.microsoft.com/office/drawing/2014/main" id="{C84F52F7-BFF3-4D62-B728-16439BB89777}"/>
              </a:ext>
            </a:extLst>
          </p:cNvPr>
          <p:cNvSpPr>
            <a:spLocks xmlns:a="http://schemas.openxmlformats.org/drawingml/2006/main" noGrp="1"/>
          </p:cNvSpPr>
          <p:nvPr/>
        </p:nvSpPr>
        <p:spPr>
          <a:xfrm xmlns:a="http://schemas.openxmlformats.org/drawingml/2006/main">
            <a:off x="6715125" y="1809750"/>
            <a:ext cx="5076825" cy="3190875"/>
          </a:xfrm>
          <a:prstGeom xmlns:a="http://schemas.openxmlformats.org/drawingml/2006/main" prst="roundRect">
            <a:avLst>
              <a:gd name="adj" fmla="val 3582"/>
            </a:avLst>
          </a:prstGeom>
          <a:solidFill xmlns:a="http://schemas.openxmlformats.org/drawingml/2006/main">
            <a:srgbClr val="F2F2F2"/>
          </a:solidFill>
          <a:ln xmlns:a="http://schemas.openxmlformats.org/drawingml/2006/main" w="0">
            <a:solidFill>
              <a:srgbClr val="F2F2F2"/>
            </a:solidFill>
            <a:prstDash val="solid"/>
          </a:ln>
        </p:spPr>
      </p:sp>
      <p:sp>
        <p:nvSpPr>
          <p:cNvPr id="9" name="">
            <a:extLst xmlns:a="http://schemas.openxmlformats.org/drawingml/2006/main">
              <a:ext uri="{FF2B5EF4-FFF2-40B4-BE49-F238E27FC236}">
                <a16:creationId xmlns:a16="http://schemas.microsoft.com/office/drawing/2014/main" id="{556897F0-B81C-47E6-8CBF-15F0ECC61BB9}"/>
              </a:ext>
            </a:extLst>
          </p:cNvPr>
          <p:cNvSpPr>
            <a:spLocks xmlns:a="http://schemas.openxmlformats.org/drawingml/2006/main" noGrp="1"/>
          </p:cNvSpPr>
          <p:nvPr/>
        </p:nvSpPr>
        <p:spPr>
          <a:xfrm xmlns:a="http://schemas.openxmlformats.org/drawingml/2006/main">
            <a:off x="6943725" y="2000250"/>
            <a:ext cx="461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DESIGN EFFECT</a:t>
            </a:r>
          </a:p>
        </p:txBody>
      </p:sp>
      <p:sp>
        <p:nvSpPr>
          <p:cNvPr id="10" name="">
            <a:extLst xmlns:a="http://schemas.openxmlformats.org/drawingml/2006/main">
              <a:ext uri="{FF2B5EF4-FFF2-40B4-BE49-F238E27FC236}">
                <a16:creationId xmlns:a16="http://schemas.microsoft.com/office/drawing/2014/main" id="{11DE3067-6350-4A72-994B-EE3BC41B8697}"/>
              </a:ext>
            </a:extLst>
          </p:cNvPr>
          <p:cNvSpPr>
            <a:spLocks xmlns:a="http://schemas.openxmlformats.org/drawingml/2006/main" noGrp="1"/>
          </p:cNvSpPr>
          <p:nvPr/>
        </p:nvSpPr>
        <p:spPr>
          <a:xfrm xmlns:a="http://schemas.openxmlformats.org/drawingml/2006/main">
            <a:off x="6943725" y="2400300"/>
            <a:ext cx="4619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166"/>
          </a:bodyPr>
          <a:lstStyle xmlns:a="http://schemas.openxmlformats.org/drawingml/2006/main"/>
          <a:p xmlns:a="http://schemas.openxmlformats.org/drawingml/2006/main">
            <a:pPr algn="l">
              <a:lnSpc>
                <a:spcPct val="105000"/>
              </a:lnSpc>
              <a:buNone/>
              <a:defRPr sz="4650" b="1">
                <a:solidFill>
                  <a:srgbClr val="000000"/>
                </a:solidFill>
                <a:latin typeface="Helvetica Neue"/>
                <a:ea typeface="Helvetica Neue"/>
                <a:cs typeface="Helvetica Neue"/>
              </a:defRPr>
            </a:pPr>
            <a:r>
              <a:rPr sz="4650" b="1">
                <a:solidFill>
                  <a:srgbClr val="000000"/>
                </a:solidFill>
                <a:latin typeface="Helvetica Neue"/>
                <a:ea typeface="Helvetica Neue"/>
                <a:cs typeface="Helvetica Neue"/>
              </a:rPr>
              <a:t>hr1</a:t>
            </a:r>
          </a:p>
        </p:txBody>
      </p:sp>
      <p:sp>
        <p:nvSpPr>
          <p:cNvPr id="11" name="">
            <a:extLst xmlns:a="http://schemas.openxmlformats.org/drawingml/2006/main">
              <a:ext uri="{FF2B5EF4-FFF2-40B4-BE49-F238E27FC236}">
                <a16:creationId xmlns:a16="http://schemas.microsoft.com/office/drawing/2014/main" id="{AF9A75B0-E1C9-486A-AC18-D10C889CF518}"/>
              </a:ext>
            </a:extLst>
          </p:cNvPr>
          <p:cNvSpPr>
            <a:spLocks xmlns:a="http://schemas.openxmlformats.org/drawingml/2006/main" noGrp="1"/>
          </p:cNvSpPr>
          <p:nvPr/>
        </p:nvSpPr>
        <p:spPr>
          <a:xfrm xmlns:a="http://schemas.openxmlformats.org/drawingml/2006/main">
            <a:off x="6943725" y="3162300"/>
            <a:ext cx="4619625"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0">
                <a:solidFill>
                  <a:srgbClr val="4B5563"/>
                </a:solidFill>
                <a:latin typeface="Helvetica Neue"/>
                <a:ea typeface="Helvetica Neue"/>
                <a:cs typeface="Helvetica Neue"/>
              </a:defRPr>
            </a:pPr>
            <a:r>
              <a:rPr sz="1875" b="0">
                <a:solidFill>
                  <a:srgbClr val="4B5563"/>
                </a:solidFill>
                <a:latin typeface="Helvetica Neue"/>
                <a:ea typeface="Helvetica Neue"/>
                <a:cs typeface="Helvetica Neue"/>
              </a:rPr>
              <a:t>The design alternative used to calibrate beta-spending futility bounds. With x, it defaults to x$hr.</a:t>
            </a:r>
          </a:p>
        </p:txBody>
      </p:sp>
      <p:sp>
        <p:nvSpPr>
          <p:cNvPr id="12" name="">
            <a:extLst xmlns:a="http://schemas.openxmlformats.org/drawingml/2006/main">
              <a:ext uri="{FF2B5EF4-FFF2-40B4-BE49-F238E27FC236}">
                <a16:creationId xmlns:a16="http://schemas.microsoft.com/office/drawing/2014/main" id="{7F374226-5B6C-466F-A736-214AD480EA79}"/>
              </a:ext>
            </a:extLst>
          </p:cNvPr>
          <p:cNvSpPr>
            <a:spLocks xmlns:a="http://schemas.openxmlformats.org/drawingml/2006/main" noGrp="1"/>
          </p:cNvSpPr>
          <p:nvPr/>
        </p:nvSpPr>
        <p:spPr>
          <a:xfrm xmlns:a="http://schemas.openxmlformats.org/drawingml/2006/main">
            <a:off x="1619250" y="53816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hr = 0.80</a:t>
            </a:r>
          </a:p>
        </p:txBody>
      </p:sp>
      <p:sp>
        <p:nvSpPr>
          <p:cNvPr id="13" name="">
            <a:extLst xmlns:a="http://schemas.openxmlformats.org/drawingml/2006/main">
              <a:ext uri="{FF2B5EF4-FFF2-40B4-BE49-F238E27FC236}">
                <a16:creationId xmlns:a16="http://schemas.microsoft.com/office/drawing/2014/main" id="{A9FC95D9-D561-4A57-838C-F0D88C982491}"/>
              </a:ext>
            </a:extLst>
          </p:cNvPr>
          <p:cNvSpPr>
            <a:spLocks xmlns:a="http://schemas.openxmlformats.org/drawingml/2006/main" noGrp="1"/>
          </p:cNvSpPr>
          <p:nvPr/>
        </p:nvSpPr>
        <p:spPr>
          <a:xfrm xmlns:a="http://schemas.openxmlformats.org/drawingml/2006/main">
            <a:off x="4591050" y="5381625"/>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power</a:t>
            </a:r>
          </a:p>
        </p:txBody>
      </p:sp>
      <p:sp>
        <p:nvSpPr>
          <p:cNvPr id="14" name="">
            <a:extLst xmlns:a="http://schemas.openxmlformats.org/drawingml/2006/main">
              <a:ext uri="{FF2B5EF4-FFF2-40B4-BE49-F238E27FC236}">
                <a16:creationId xmlns:a16="http://schemas.microsoft.com/office/drawing/2014/main" id="{A15A11D1-3DA1-4C1B-AFD2-A6FA8A20F3AA}"/>
              </a:ext>
            </a:extLst>
          </p:cNvPr>
          <p:cNvSpPr>
            <a:spLocks xmlns:a="http://schemas.openxmlformats.org/drawingml/2006/main" noGrp="1"/>
          </p:cNvSpPr>
          <p:nvPr/>
        </p:nvSpPr>
        <p:spPr>
          <a:xfrm xmlns:a="http://schemas.openxmlformats.org/drawingml/2006/main">
            <a:off x="7524750" y="5381625"/>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hr1 = 0.70</a:t>
            </a:r>
          </a:p>
        </p:txBody>
      </p:sp>
      <p:sp>
        <p:nvSpPr>
          <p:cNvPr id="15" name="">
            <a:extLst xmlns:a="http://schemas.openxmlformats.org/drawingml/2006/main">
              <a:ext uri="{FF2B5EF4-FFF2-40B4-BE49-F238E27FC236}">
                <a16:creationId xmlns:a16="http://schemas.microsoft.com/office/drawing/2014/main" id="{F931C1A0-B090-4C61-A968-3E85A378B390}"/>
              </a:ext>
            </a:extLst>
          </p:cNvPr>
          <p:cNvSpPr>
            <a:spLocks xmlns:a="http://schemas.openxmlformats.org/drawingml/2006/main" noGrp="1"/>
          </p:cNvSpPr>
          <p:nvPr/>
        </p:nvSpPr>
        <p:spPr>
          <a:xfrm xmlns:a="http://schemas.openxmlformats.org/drawingml/2006/main">
            <a:off x="4019550" y="5572125"/>
            <a:ext cx="66675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16" name="">
            <a:extLst xmlns:a="http://schemas.openxmlformats.org/drawingml/2006/main">
              <a:ext uri="{FF2B5EF4-FFF2-40B4-BE49-F238E27FC236}">
                <a16:creationId xmlns:a16="http://schemas.microsoft.com/office/drawing/2014/main" id="{43301A5E-6F67-4CAE-B6DF-827ED944382D}"/>
              </a:ext>
            </a:extLst>
          </p:cNvPr>
          <p:cNvSpPr>
            <a:spLocks xmlns:a="http://schemas.openxmlformats.org/drawingml/2006/main" noGrp="1"/>
          </p:cNvSpPr>
          <p:nvPr/>
        </p:nvSpPr>
        <p:spPr>
          <a:xfrm xmlns:a="http://schemas.openxmlformats.org/drawingml/2006/main">
            <a:off x="5543550" y="5572125"/>
            <a:ext cx="1666875" cy="0"/>
          </a:xfrm>
          <a:prstGeom xmlns:a="http://schemas.openxmlformats.org/drawingml/2006/main" prst="line">
            <a:avLst/>
          </a:prstGeom>
          <a:noFill xmlns:a="http://schemas.openxmlformats.org/drawingml/2006/main"/>
          <a:ln xmlns:a="http://schemas.openxmlformats.org/drawingml/2006/main" w="28575">
            <a:solidFill>
              <a:srgbClr val="9CA3AF"/>
            </a:solidFill>
            <a:prstDash val="solid"/>
          </a:ln>
        </p:spPr>
      </p:sp>
    </p:spTree>
    <p:extLst>
      <p:ext uri="{BB962C8B-B14F-4D97-AF65-F5344CB8AC3E}">
        <p14:creationId xmlns:p14="http://schemas.microsoft.com/office/powerpoint/2010/main" val="20882564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C6F2D3A-4A37-452F-BB57-9058611DD81C}"/>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BETA SPENDING</a:t>
            </a:r>
          </a:p>
        </p:txBody>
      </p:sp>
      <p:sp>
        <p:nvSpPr>
          <p:cNvPr id="2" name="">
            <a:extLst xmlns:a="http://schemas.openxmlformats.org/drawingml/2006/main">
              <a:ext uri="{FF2B5EF4-FFF2-40B4-BE49-F238E27FC236}">
                <a16:creationId xmlns:a16="http://schemas.microsoft.com/office/drawing/2014/main" id="{4CA5647F-9E43-4FD5-8972-CC008E3721C3}"/>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999"/>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Beta is both a design budget and a scenario outcome</a:t>
            </a:r>
          </a:p>
        </p:txBody>
      </p:sp>
      <p:sp>
        <p:nvSpPr>
          <p:cNvPr id="3" name="">
            <a:extLst xmlns:a="http://schemas.openxmlformats.org/drawingml/2006/main">
              <a:ext uri="{FF2B5EF4-FFF2-40B4-BE49-F238E27FC236}">
                <a16:creationId xmlns:a16="http://schemas.microsoft.com/office/drawing/2014/main" id="{CFE15D13-F185-41D0-A853-80E002C42FF0}"/>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E30AD1B6-033B-400F-A9F4-177D1D04BABE}"/>
              </a:ext>
            </a:extLst>
          </p:cNvPr>
          <p:cNvSpPr>
            <a:spLocks xmlns:a="http://schemas.openxmlformats.org/drawingml/2006/main" noGrp="1"/>
          </p:cNvSpPr>
          <p:nvPr/>
        </p:nvSpPr>
        <p:spPr>
          <a:xfrm xmlns:a="http://schemas.openxmlformats.org/drawingml/2006/main">
            <a:off x="400050" y="1762125"/>
            <a:ext cx="4572000" cy="3143250"/>
          </a:xfrm>
          <a:prstGeom xmlns:a="http://schemas.openxmlformats.org/drawingml/2006/main" prst="roundRect">
            <a:avLst>
              <a:gd name="adj" fmla="val 3636"/>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2E04BE6F-7EC6-4D90-BD06-FAAFB197FB47}"/>
              </a:ext>
            </a:extLst>
          </p:cNvPr>
          <p:cNvSpPr>
            <a:spLocks xmlns:a="http://schemas.openxmlformats.org/drawingml/2006/main" noGrp="1"/>
          </p:cNvSpPr>
          <p:nvPr/>
        </p:nvSpPr>
        <p:spPr>
          <a:xfrm xmlns:a="http://schemas.openxmlformats.org/drawingml/2006/main">
            <a:off x="628650" y="1952625"/>
            <a:ext cx="411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BOUND CONSTRUCTION</a:t>
            </a:r>
          </a:p>
        </p:txBody>
      </p:sp>
      <p:sp>
        <p:nvSpPr>
          <p:cNvPr id="6" name="">
            <a:extLst xmlns:a="http://schemas.openxmlformats.org/drawingml/2006/main">
              <a:ext uri="{FF2B5EF4-FFF2-40B4-BE49-F238E27FC236}">
                <a16:creationId xmlns:a16="http://schemas.microsoft.com/office/drawing/2014/main" id="{C2B0F986-4314-4DF5-8B75-0C46074C203C}"/>
              </a:ext>
            </a:extLst>
          </p:cNvPr>
          <p:cNvSpPr>
            <a:spLocks xmlns:a="http://schemas.openxmlformats.org/drawingml/2006/main" noGrp="1"/>
          </p:cNvSpPr>
          <p:nvPr/>
        </p:nvSpPr>
        <p:spPr>
          <a:xfrm xmlns:a="http://schemas.openxmlformats.org/drawingml/2006/main">
            <a:off x="628650" y="2352675"/>
            <a:ext cx="411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Design beta = 0.10</a:t>
            </a:r>
          </a:p>
        </p:txBody>
      </p:sp>
      <p:sp>
        <p:nvSpPr>
          <p:cNvPr id="7" name="">
            <a:extLst xmlns:a="http://schemas.openxmlformats.org/drawingml/2006/main">
              <a:ext uri="{FF2B5EF4-FFF2-40B4-BE49-F238E27FC236}">
                <a16:creationId xmlns:a16="http://schemas.microsoft.com/office/drawing/2014/main" id="{871550C9-0BBE-4D74-A9F5-DF64356612BC}"/>
              </a:ext>
            </a:extLst>
          </p:cNvPr>
          <p:cNvSpPr>
            <a:spLocks xmlns:a="http://schemas.openxmlformats.org/drawingml/2006/main" noGrp="1"/>
          </p:cNvSpPr>
          <p:nvPr/>
        </p:nvSpPr>
        <p:spPr>
          <a:xfrm xmlns:a="http://schemas.openxmlformats.org/drawingml/2006/main">
            <a:off x="628650" y="3114675"/>
            <a:ext cx="41148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0">
                <a:solidFill>
                  <a:srgbClr val="4B5563"/>
                </a:solidFill>
                <a:latin typeface="Helvetica Neue"/>
                <a:ea typeface="Helvetica Neue"/>
                <a:cs typeface="Helvetica Neue"/>
              </a:defRPr>
            </a:pPr>
            <a:r>
              <a:rPr sz="1875" b="0">
                <a:solidFill>
                  <a:srgbClr val="4B5563"/>
                </a:solidFill>
                <a:latin typeface="Helvetica Neue"/>
                <a:ea typeface="Helvetica Neue"/>
                <a:cs typeface="Helvetica Neue"/>
              </a:rPr>
              <a:t>Allocated across analyses by the lower spending function and calibrated under hr1.</a:t>
            </a:r>
          </a:p>
        </p:txBody>
      </p:sp>
      <p:sp>
        <p:nvSpPr>
          <p:cNvPr id="8" name="">
            <a:extLst xmlns:a="http://schemas.openxmlformats.org/drawingml/2006/main">
              <a:ext uri="{FF2B5EF4-FFF2-40B4-BE49-F238E27FC236}">
                <a16:creationId xmlns:a16="http://schemas.microsoft.com/office/drawing/2014/main" id="{970357B9-A197-4CED-8DDA-A7DA5DAC0510}"/>
              </a:ext>
            </a:extLst>
          </p:cNvPr>
          <p:cNvSpPr>
            <a:spLocks xmlns:a="http://schemas.openxmlformats.org/drawingml/2006/main" noGrp="1"/>
          </p:cNvSpPr>
          <p:nvPr/>
        </p:nvSpPr>
        <p:spPr>
          <a:xfrm xmlns:a="http://schemas.openxmlformats.org/drawingml/2006/main">
            <a:off x="5305425" y="2857500"/>
            <a:ext cx="1047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5250" b="1">
                <a:solidFill>
                  <a:srgbClr val="3D8DFF"/>
                </a:solidFill>
                <a:latin typeface="Helvetica Neue"/>
                <a:ea typeface="Helvetica Neue"/>
                <a:cs typeface="Helvetica Neue"/>
              </a:defRPr>
            </a:pPr>
            <a:r>
              <a:rPr sz="5250" b="1">
                <a:solidFill>
                  <a:srgbClr val="3D8DFF"/>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912E4989-1473-4C1E-9E22-2A32810744A6}"/>
              </a:ext>
            </a:extLst>
          </p:cNvPr>
          <p:cNvSpPr>
            <a:spLocks xmlns:a="http://schemas.openxmlformats.org/drawingml/2006/main" noGrp="1"/>
          </p:cNvSpPr>
          <p:nvPr/>
        </p:nvSpPr>
        <p:spPr>
          <a:xfrm xmlns:a="http://schemas.openxmlformats.org/drawingml/2006/main">
            <a:off x="6667500" y="1762125"/>
            <a:ext cx="5124450" cy="3143250"/>
          </a:xfrm>
          <a:prstGeom xmlns:a="http://schemas.openxmlformats.org/drawingml/2006/main" prst="roundRect">
            <a:avLst>
              <a:gd name="adj" fmla="val 3636"/>
            </a:avLst>
          </a:prstGeom>
          <a:solidFill xmlns:a="http://schemas.openxmlformats.org/drawingml/2006/main">
            <a:srgbClr val="EAF6FC"/>
          </a:solidFill>
          <a:ln xmlns:a="http://schemas.openxmlformats.org/drawingml/2006/main" w="0">
            <a:solidFill>
              <a:srgbClr val="EAF6FC"/>
            </a:solidFill>
            <a:prstDash val="solid"/>
          </a:ln>
        </p:spPr>
      </p:sp>
      <p:sp>
        <p:nvSpPr>
          <p:cNvPr id="10" name="">
            <a:extLst xmlns:a="http://schemas.openxmlformats.org/drawingml/2006/main">
              <a:ext uri="{FF2B5EF4-FFF2-40B4-BE49-F238E27FC236}">
                <a16:creationId xmlns:a16="http://schemas.microsoft.com/office/drawing/2014/main" id="{434DC498-4800-46DF-8A2A-60B9EE6DE48E}"/>
              </a:ext>
            </a:extLst>
          </p:cNvPr>
          <p:cNvSpPr>
            <a:spLocks xmlns:a="http://schemas.openxmlformats.org/drawingml/2006/main" noGrp="1"/>
          </p:cNvSpPr>
          <p:nvPr/>
        </p:nvSpPr>
        <p:spPr>
          <a:xfrm xmlns:a="http://schemas.openxmlformats.org/drawingml/2006/main">
            <a:off x="6896100" y="1952625"/>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OPERATING CHARACTERISTIC</a:t>
            </a:r>
          </a:p>
        </p:txBody>
      </p:sp>
      <p:sp>
        <p:nvSpPr>
          <p:cNvPr id="11" name="">
            <a:extLst xmlns:a="http://schemas.openxmlformats.org/drawingml/2006/main">
              <a:ext uri="{FF2B5EF4-FFF2-40B4-BE49-F238E27FC236}">
                <a16:creationId xmlns:a16="http://schemas.microsoft.com/office/drawing/2014/main" id="{2BBD04A3-118B-4F98-B2F6-D7B0F6D97E2F}"/>
              </a:ext>
            </a:extLst>
          </p:cNvPr>
          <p:cNvSpPr>
            <a:spLocks xmlns:a="http://schemas.openxmlformats.org/drawingml/2006/main" noGrp="1"/>
          </p:cNvSpPr>
          <p:nvPr/>
        </p:nvSpPr>
        <p:spPr>
          <a:xfrm xmlns:a="http://schemas.openxmlformats.org/drawingml/2006/main">
            <a:off x="6896100" y="2352675"/>
            <a:ext cx="466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700" b="1">
                <a:solidFill>
                  <a:srgbClr val="000000"/>
                </a:solidFill>
                <a:latin typeface="Helvetica Neue"/>
                <a:ea typeface="Helvetica Neue"/>
                <a:cs typeface="Helvetica Neue"/>
              </a:defRPr>
            </a:pPr>
            <a:r>
              <a:rPr sz="2700" b="1">
                <a:solidFill>
                  <a:srgbClr val="000000"/>
                </a:solidFill>
                <a:latin typeface="Helvetica Neue"/>
                <a:ea typeface="Helvetica Neue"/>
                <a:cs typeface="Helvetica Neue"/>
              </a:rPr>
              <a:t>Achieved beta = 1 − power</a:t>
            </a:r>
          </a:p>
        </p:txBody>
      </p:sp>
      <p:sp>
        <p:nvSpPr>
          <p:cNvPr id="12" name="">
            <a:extLst xmlns:a="http://schemas.openxmlformats.org/drawingml/2006/main">
              <a:ext uri="{FF2B5EF4-FFF2-40B4-BE49-F238E27FC236}">
                <a16:creationId xmlns:a16="http://schemas.microsoft.com/office/drawing/2014/main" id="{7861DF1E-AD85-4426-97CD-E18F0D20360E}"/>
              </a:ext>
            </a:extLst>
          </p:cNvPr>
          <p:cNvSpPr>
            <a:spLocks xmlns:a="http://schemas.openxmlformats.org/drawingml/2006/main" noGrp="1"/>
          </p:cNvSpPr>
          <p:nvPr/>
        </p:nvSpPr>
        <p:spPr>
          <a:xfrm xmlns:a="http://schemas.openxmlformats.org/drawingml/2006/main">
            <a:off x="6896100" y="3114675"/>
            <a:ext cx="46672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The scenario's probability of not rejecting, after its HR, event accrual, timing, and operational futility are applied.</a:t>
            </a:r>
          </a:p>
        </p:txBody>
      </p:sp>
      <p:sp>
        <p:nvSpPr>
          <p:cNvPr id="13" name="">
            <a:extLst xmlns:a="http://schemas.openxmlformats.org/drawingml/2006/main">
              <a:ext uri="{FF2B5EF4-FFF2-40B4-BE49-F238E27FC236}">
                <a16:creationId xmlns:a16="http://schemas.microsoft.com/office/drawing/2014/main" id="{63C959C0-074A-4D9F-B58C-E045F6E89724}"/>
              </a:ext>
            </a:extLst>
          </p:cNvPr>
          <p:cNvSpPr>
            <a:spLocks xmlns:a="http://schemas.openxmlformats.org/drawingml/2006/main" noGrp="1"/>
          </p:cNvSpPr>
          <p:nvPr/>
        </p:nvSpPr>
        <p:spPr>
          <a:xfrm xmlns:a="http://schemas.openxmlformats.org/drawingml/2006/main">
            <a:off x="400050" y="5334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At HR 0.80</a:t>
            </a:r>
          </a:p>
        </p:txBody>
      </p:sp>
      <p:sp>
        <p:nvSpPr>
          <p:cNvPr id="14" name="">
            <a:extLst xmlns:a="http://schemas.openxmlformats.org/drawingml/2006/main">
              <a:ext uri="{FF2B5EF4-FFF2-40B4-BE49-F238E27FC236}">
                <a16:creationId xmlns:a16="http://schemas.microsoft.com/office/drawing/2014/main" id="{A47718DC-14F3-412F-9FBA-6DDCB4B079CB}"/>
              </a:ext>
            </a:extLst>
          </p:cNvPr>
          <p:cNvSpPr>
            <a:spLocks xmlns:a="http://schemas.openxmlformats.org/drawingml/2006/main" noGrp="1"/>
          </p:cNvSpPr>
          <p:nvPr/>
        </p:nvSpPr>
        <p:spPr>
          <a:xfrm xmlns:a="http://schemas.openxmlformats.org/drawingml/2006/main">
            <a:off x="2857500" y="52959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C94B4B"/>
                </a:solidFill>
                <a:latin typeface="Helvetica Neue"/>
                <a:ea typeface="Helvetica Neue"/>
                <a:cs typeface="Helvetica Neue"/>
              </a:defRPr>
            </a:pPr>
            <a:r>
              <a:rPr sz="2100" b="1">
                <a:solidFill>
                  <a:srgbClr val="C94B4B"/>
                </a:solidFill>
                <a:latin typeface="Helvetica Neue"/>
                <a:ea typeface="Helvetica Neue"/>
                <a:cs typeface="Helvetica Neue"/>
              </a:rPr>
              <a:t>fixed events: 47.5%</a:t>
            </a:r>
          </a:p>
        </p:txBody>
      </p:sp>
      <p:sp>
        <p:nvSpPr>
          <p:cNvPr id="15" name="">
            <a:extLst xmlns:a="http://schemas.openxmlformats.org/drawingml/2006/main">
              <a:ext uri="{FF2B5EF4-FFF2-40B4-BE49-F238E27FC236}">
                <a16:creationId xmlns:a16="http://schemas.microsoft.com/office/drawing/2014/main" id="{EF23F1F9-1F08-4E78-8CB3-F3F1B82D9EBB}"/>
              </a:ext>
            </a:extLst>
          </p:cNvPr>
          <p:cNvSpPr>
            <a:spLocks xmlns:a="http://schemas.openxmlformats.org/drawingml/2006/main" noGrp="1"/>
          </p:cNvSpPr>
          <p:nvPr/>
        </p:nvSpPr>
        <p:spPr>
          <a:xfrm xmlns:a="http://schemas.openxmlformats.org/drawingml/2006/main">
            <a:off x="6429375" y="52959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E07A3F"/>
                </a:solidFill>
                <a:latin typeface="Helvetica Neue"/>
                <a:ea typeface="Helvetica Neue"/>
                <a:cs typeface="Helvetica Neue"/>
              </a:defRPr>
            </a:pPr>
            <a:r>
              <a:rPr sz="2100" b="1">
                <a:solidFill>
                  <a:srgbClr val="E07A3F"/>
                </a:solidFill>
                <a:latin typeface="Helvetica Neue"/>
                <a:ea typeface="Helvetica Neue"/>
                <a:cs typeface="Helvetica Neue"/>
              </a:rPr>
              <a:t>fixed calendar: 45.9%</a:t>
            </a:r>
          </a:p>
        </p:txBody>
      </p:sp>
    </p:spTree>
    <p:extLst>
      <p:ext uri="{BB962C8B-B14F-4D97-AF65-F5344CB8AC3E}">
        <p14:creationId xmlns:p14="http://schemas.microsoft.com/office/powerpoint/2010/main" val="9396457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8D9C1A1-6CB8-4EE2-872A-8D53DAD36042}"/>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BETA SPENDING</a:t>
            </a:r>
          </a:p>
        </p:txBody>
      </p:sp>
      <p:sp>
        <p:nvSpPr>
          <p:cNvPr id="2" name="">
            <a:extLst xmlns:a="http://schemas.openxmlformats.org/drawingml/2006/main">
              <a:ext uri="{FF2B5EF4-FFF2-40B4-BE49-F238E27FC236}">
                <a16:creationId xmlns:a16="http://schemas.microsoft.com/office/drawing/2014/main" id="{3F5D9524-16E7-49F9-A87A-527F1CA62E71}"/>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When are futility bounds reused?</a:t>
            </a:r>
          </a:p>
        </p:txBody>
      </p:sp>
      <p:sp>
        <p:nvSpPr>
          <p:cNvPr id="3" name="">
            <a:extLst xmlns:a="http://schemas.openxmlformats.org/drawingml/2006/main">
              <a:ext uri="{FF2B5EF4-FFF2-40B4-BE49-F238E27FC236}">
                <a16:creationId xmlns:a16="http://schemas.microsoft.com/office/drawing/2014/main" id="{39D6A88E-EC72-4C3C-9112-F77DFF6C5AE9}"/>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CBF10761-4A4D-4452-B2F5-3DD3EF8AAC50}"/>
              </a:ext>
            </a:extLst>
          </p:cNvPr>
          <p:cNvSpPr>
            <a:spLocks xmlns:a="http://schemas.openxmlformats.org/drawingml/2006/main" noGrp="1"/>
          </p:cNvSpPr>
          <p:nvPr/>
        </p:nvSpPr>
        <p:spPr>
          <a:xfrm xmlns:a="http://schemas.openxmlformats.org/drawingml/2006/main">
            <a:off x="400050" y="1476375"/>
            <a:ext cx="1123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The answer depends on whether the effective spending schedule changed.</a:t>
            </a:r>
          </a:p>
        </p:txBody>
      </p:sp>
      <p:sp>
        <p:nvSpPr>
          <p:cNvPr id="5" name="">
            <a:extLst xmlns:a="http://schemas.openxmlformats.org/drawingml/2006/main">
              <a:ext uri="{FF2B5EF4-FFF2-40B4-BE49-F238E27FC236}">
                <a16:creationId xmlns:a16="http://schemas.microsoft.com/office/drawing/2014/main" id="{C408F333-A4BC-4F77-8C7D-C3B6F867505B}"/>
              </a:ext>
            </a:extLst>
          </p:cNvPr>
          <p:cNvSpPr>
            <a:spLocks xmlns:a="http://schemas.openxmlformats.org/drawingml/2006/main" noGrp="1"/>
          </p:cNvSpPr>
          <p:nvPr/>
        </p:nvSpPr>
        <p:spPr>
          <a:xfrm xmlns:a="http://schemas.openxmlformats.org/drawingml/2006/main">
            <a:off x="400050" y="1952625"/>
            <a:ext cx="4953000" cy="733425"/>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6" name="">
            <a:extLst xmlns:a="http://schemas.openxmlformats.org/drawingml/2006/main">
              <a:ext uri="{FF2B5EF4-FFF2-40B4-BE49-F238E27FC236}">
                <a16:creationId xmlns:a16="http://schemas.microsoft.com/office/drawing/2014/main" id="{4EEA813B-FBFE-42FA-BAA8-AD7CCFB3AB9B}"/>
              </a:ext>
            </a:extLst>
          </p:cNvPr>
          <p:cNvSpPr>
            <a:spLocks xmlns:a="http://schemas.openxmlformats.org/drawingml/2006/main" noGrp="1"/>
          </p:cNvSpPr>
          <p:nvPr/>
        </p:nvSpPr>
        <p:spPr>
          <a:xfrm xmlns:a="http://schemas.openxmlformats.org/drawingml/2006/main">
            <a:off x="495300" y="2019300"/>
            <a:ext cx="4762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Scenario change</a:t>
            </a:r>
          </a:p>
        </p:txBody>
      </p:sp>
      <p:sp>
        <p:nvSpPr>
          <p:cNvPr id="7" name="">
            <a:extLst xmlns:a="http://schemas.openxmlformats.org/drawingml/2006/main">
              <a:ext uri="{FF2B5EF4-FFF2-40B4-BE49-F238E27FC236}">
                <a16:creationId xmlns:a16="http://schemas.microsoft.com/office/drawing/2014/main" id="{4213F37F-B810-4B9B-ADE6-14F4CA3A24CE}"/>
              </a:ext>
            </a:extLst>
          </p:cNvPr>
          <p:cNvSpPr>
            <a:spLocks xmlns:a="http://schemas.openxmlformats.org/drawingml/2006/main" noGrp="1"/>
          </p:cNvSpPr>
          <p:nvPr/>
        </p:nvSpPr>
        <p:spPr>
          <a:xfrm xmlns:a="http://schemas.openxmlformats.org/drawingml/2006/main">
            <a:off x="5353050" y="1952625"/>
            <a:ext cx="6191250" cy="733425"/>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2FD0D805-9094-4B3A-937E-D6392C83D813}"/>
              </a:ext>
            </a:extLst>
          </p:cNvPr>
          <p:cNvSpPr>
            <a:spLocks xmlns:a="http://schemas.openxmlformats.org/drawingml/2006/main" noGrp="1"/>
          </p:cNvSpPr>
          <p:nvPr/>
        </p:nvSpPr>
        <p:spPr>
          <a:xfrm xmlns:a="http://schemas.openxmlformats.org/drawingml/2006/main">
            <a:off x="5448300" y="2019300"/>
            <a:ext cx="6000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Futility-bound handling</a:t>
            </a:r>
          </a:p>
        </p:txBody>
      </p:sp>
      <p:sp>
        <p:nvSpPr>
          <p:cNvPr id="9" name="">
            <a:extLst xmlns:a="http://schemas.openxmlformats.org/drawingml/2006/main">
              <a:ext uri="{FF2B5EF4-FFF2-40B4-BE49-F238E27FC236}">
                <a16:creationId xmlns:a16="http://schemas.microsoft.com/office/drawing/2014/main" id="{984B51F2-2213-484C-9F4C-350ECC858E6D}"/>
              </a:ext>
            </a:extLst>
          </p:cNvPr>
          <p:cNvSpPr>
            <a:spLocks xmlns:a="http://schemas.openxmlformats.org/drawingml/2006/main" noGrp="1"/>
          </p:cNvSpPr>
          <p:nvPr/>
        </p:nvSpPr>
        <p:spPr>
          <a:xfrm xmlns:a="http://schemas.openxmlformats.org/drawingml/2006/main">
            <a:off x="400050" y="2686050"/>
            <a:ext cx="4953000" cy="7334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0" name="">
            <a:extLst xmlns:a="http://schemas.openxmlformats.org/drawingml/2006/main">
              <a:ext uri="{FF2B5EF4-FFF2-40B4-BE49-F238E27FC236}">
                <a16:creationId xmlns:a16="http://schemas.microsoft.com/office/drawing/2014/main" id="{1AAF6D41-8CA3-44CE-91E9-9A1B89B8F850}"/>
              </a:ext>
            </a:extLst>
          </p:cNvPr>
          <p:cNvSpPr>
            <a:spLocks xmlns:a="http://schemas.openxmlformats.org/drawingml/2006/main" noGrp="1"/>
          </p:cNvSpPr>
          <p:nvPr/>
        </p:nvSpPr>
        <p:spPr>
          <a:xfrm xmlns:a="http://schemas.openxmlformats.org/drawingml/2006/main">
            <a:off x="495300" y="2752725"/>
            <a:ext cx="4762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Timing + spending unchanged</a:t>
            </a:r>
          </a:p>
        </p:txBody>
      </p:sp>
      <p:sp>
        <p:nvSpPr>
          <p:cNvPr id="11" name="">
            <a:extLst xmlns:a="http://schemas.openxmlformats.org/drawingml/2006/main">
              <a:ext uri="{FF2B5EF4-FFF2-40B4-BE49-F238E27FC236}">
                <a16:creationId xmlns:a16="http://schemas.microsoft.com/office/drawing/2014/main" id="{F64B7363-D247-48B4-B910-B1EED791E57F}"/>
              </a:ext>
            </a:extLst>
          </p:cNvPr>
          <p:cNvSpPr>
            <a:spLocks xmlns:a="http://schemas.openxmlformats.org/drawingml/2006/main" noGrp="1"/>
          </p:cNvSpPr>
          <p:nvPr/>
        </p:nvSpPr>
        <p:spPr>
          <a:xfrm xmlns:a="http://schemas.openxmlformats.org/drawingml/2006/main">
            <a:off x="5353050" y="2686050"/>
            <a:ext cx="6191250" cy="7334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2" name="">
            <a:extLst xmlns:a="http://schemas.openxmlformats.org/drawingml/2006/main">
              <a:ext uri="{FF2B5EF4-FFF2-40B4-BE49-F238E27FC236}">
                <a16:creationId xmlns:a16="http://schemas.microsoft.com/office/drawing/2014/main" id="{673BA7E7-1566-4B60-A5DB-176429FD0D33}"/>
              </a:ext>
            </a:extLst>
          </p:cNvPr>
          <p:cNvSpPr>
            <a:spLocks xmlns:a="http://schemas.openxmlformats.org/drawingml/2006/main" noGrp="1"/>
          </p:cNvSpPr>
          <p:nvPr/>
        </p:nvSpPr>
        <p:spPr>
          <a:xfrm xmlns:a="http://schemas.openxmlformats.org/drawingml/2006/main">
            <a:off x="5448300" y="2752725"/>
            <a:ext cx="6000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Reuse bounds from x</a:t>
            </a:r>
          </a:p>
        </p:txBody>
      </p:sp>
      <p:sp>
        <p:nvSpPr>
          <p:cNvPr id="13" name="">
            <a:extLst xmlns:a="http://schemas.openxmlformats.org/drawingml/2006/main">
              <a:ext uri="{FF2B5EF4-FFF2-40B4-BE49-F238E27FC236}">
                <a16:creationId xmlns:a16="http://schemas.microsoft.com/office/drawing/2014/main" id="{8EA2DCA1-5FD2-4E06-B793-3452E152F335}"/>
              </a:ext>
            </a:extLst>
          </p:cNvPr>
          <p:cNvSpPr>
            <a:spLocks xmlns:a="http://schemas.openxmlformats.org/drawingml/2006/main" noGrp="1"/>
          </p:cNvSpPr>
          <p:nvPr/>
        </p:nvSpPr>
        <p:spPr>
          <a:xfrm xmlns:a="http://schemas.openxmlformats.org/drawingml/2006/main">
            <a:off x="400050" y="3419475"/>
            <a:ext cx="4953000" cy="733425"/>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14" name="">
            <a:extLst xmlns:a="http://schemas.openxmlformats.org/drawingml/2006/main">
              <a:ext uri="{FF2B5EF4-FFF2-40B4-BE49-F238E27FC236}">
                <a16:creationId xmlns:a16="http://schemas.microsoft.com/office/drawing/2014/main" id="{F794736F-2E73-491D-A563-8475DAECC8A5}"/>
              </a:ext>
            </a:extLst>
          </p:cNvPr>
          <p:cNvSpPr>
            <a:spLocks xmlns:a="http://schemas.openxmlformats.org/drawingml/2006/main" noGrp="1"/>
          </p:cNvSpPr>
          <p:nvPr/>
        </p:nvSpPr>
        <p:spPr>
          <a:xfrm xmlns:a="http://schemas.openxmlformats.org/drawingml/2006/main">
            <a:off x="495300" y="3486150"/>
            <a:ext cx="4762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Only alpha / upper spending changes</a:t>
            </a:r>
          </a:p>
        </p:txBody>
      </p:sp>
      <p:sp>
        <p:nvSpPr>
          <p:cNvPr id="15" name="">
            <a:extLst xmlns:a="http://schemas.openxmlformats.org/drawingml/2006/main">
              <a:ext uri="{FF2B5EF4-FFF2-40B4-BE49-F238E27FC236}">
                <a16:creationId xmlns:a16="http://schemas.microsoft.com/office/drawing/2014/main" id="{33C7D8C4-181B-4631-A70B-3808E2F6890B}"/>
              </a:ext>
            </a:extLst>
          </p:cNvPr>
          <p:cNvSpPr>
            <a:spLocks xmlns:a="http://schemas.openxmlformats.org/drawingml/2006/main" noGrp="1"/>
          </p:cNvSpPr>
          <p:nvPr/>
        </p:nvSpPr>
        <p:spPr>
          <a:xfrm xmlns:a="http://schemas.openxmlformats.org/drawingml/2006/main">
            <a:off x="5353050" y="3419475"/>
            <a:ext cx="6191250" cy="733425"/>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16" name="">
            <a:extLst xmlns:a="http://schemas.openxmlformats.org/drawingml/2006/main">
              <a:ext uri="{FF2B5EF4-FFF2-40B4-BE49-F238E27FC236}">
                <a16:creationId xmlns:a16="http://schemas.microsoft.com/office/drawing/2014/main" id="{3C6AA356-728F-438B-88AD-052A05013ED4}"/>
              </a:ext>
            </a:extLst>
          </p:cNvPr>
          <p:cNvSpPr>
            <a:spLocks xmlns:a="http://schemas.openxmlformats.org/drawingml/2006/main" noGrp="1"/>
          </p:cNvSpPr>
          <p:nvPr/>
        </p:nvSpPr>
        <p:spPr>
          <a:xfrm xmlns:a="http://schemas.openxmlformats.org/drawingml/2006/main">
            <a:off x="5448300" y="3486150"/>
            <a:ext cx="6000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Preserve lower bounds; clip if they exceed efficacy</a:t>
            </a:r>
          </a:p>
        </p:txBody>
      </p:sp>
      <p:sp>
        <p:nvSpPr>
          <p:cNvPr id="17" name="">
            <a:extLst xmlns:a="http://schemas.openxmlformats.org/drawingml/2006/main">
              <a:ext uri="{FF2B5EF4-FFF2-40B4-BE49-F238E27FC236}">
                <a16:creationId xmlns:a16="http://schemas.microsoft.com/office/drawing/2014/main" id="{22D79DF6-9E18-4C25-B615-9A3FDF730BCE}"/>
              </a:ext>
            </a:extLst>
          </p:cNvPr>
          <p:cNvSpPr>
            <a:spLocks xmlns:a="http://schemas.openxmlformats.org/drawingml/2006/main" noGrp="1"/>
          </p:cNvSpPr>
          <p:nvPr/>
        </p:nvSpPr>
        <p:spPr>
          <a:xfrm xmlns:a="http://schemas.openxmlformats.org/drawingml/2006/main">
            <a:off x="400050" y="4152900"/>
            <a:ext cx="4953000" cy="7334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8" name="">
            <a:extLst xmlns:a="http://schemas.openxmlformats.org/drawingml/2006/main">
              <a:ext uri="{FF2B5EF4-FFF2-40B4-BE49-F238E27FC236}">
                <a16:creationId xmlns:a16="http://schemas.microsoft.com/office/drawing/2014/main" id="{21254EF9-851D-424E-AF15-6B7D12C79E06}"/>
              </a:ext>
            </a:extLst>
          </p:cNvPr>
          <p:cNvSpPr>
            <a:spLocks xmlns:a="http://schemas.openxmlformats.org/drawingml/2006/main" noGrp="1"/>
          </p:cNvSpPr>
          <p:nvPr/>
        </p:nvSpPr>
        <p:spPr>
          <a:xfrm xmlns:a="http://schemas.openxmlformats.org/drawingml/2006/main">
            <a:off x="495300" y="4219575"/>
            <a:ext cx="4762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Information fractions or spending times change</a:t>
            </a:r>
          </a:p>
        </p:txBody>
      </p:sp>
      <p:sp>
        <p:nvSpPr>
          <p:cNvPr id="19" name="">
            <a:extLst xmlns:a="http://schemas.openxmlformats.org/drawingml/2006/main">
              <a:ext uri="{FF2B5EF4-FFF2-40B4-BE49-F238E27FC236}">
                <a16:creationId xmlns:a16="http://schemas.microsoft.com/office/drawing/2014/main" id="{9836AC0A-8E87-4E72-BF4B-39C4F84DA888}"/>
              </a:ext>
            </a:extLst>
          </p:cNvPr>
          <p:cNvSpPr>
            <a:spLocks xmlns:a="http://schemas.openxmlformats.org/drawingml/2006/main" noGrp="1"/>
          </p:cNvSpPr>
          <p:nvPr/>
        </p:nvSpPr>
        <p:spPr>
          <a:xfrm xmlns:a="http://schemas.openxmlformats.org/drawingml/2006/main">
            <a:off x="5353050" y="4152900"/>
            <a:ext cx="6191250" cy="7334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20" name="">
            <a:extLst xmlns:a="http://schemas.openxmlformats.org/drawingml/2006/main">
              <a:ext uri="{FF2B5EF4-FFF2-40B4-BE49-F238E27FC236}">
                <a16:creationId xmlns:a16="http://schemas.microsoft.com/office/drawing/2014/main" id="{24C1CDFF-A4AF-4159-A869-D30132A8B88F}"/>
              </a:ext>
            </a:extLst>
          </p:cNvPr>
          <p:cNvSpPr>
            <a:spLocks xmlns:a="http://schemas.openxmlformats.org/drawingml/2006/main" noGrp="1"/>
          </p:cNvSpPr>
          <p:nvPr/>
        </p:nvSpPr>
        <p:spPr>
          <a:xfrm xmlns:a="http://schemas.openxmlformats.org/drawingml/2006/main">
            <a:off x="5448300" y="4219575"/>
            <a:ext cx="6000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Recompute on the new schedule using design beta + hr1</a:t>
            </a:r>
          </a:p>
        </p:txBody>
      </p:sp>
      <p:sp>
        <p:nvSpPr>
          <p:cNvPr id="21" name="">
            <a:extLst xmlns:a="http://schemas.openxmlformats.org/drawingml/2006/main">
              <a:ext uri="{FF2B5EF4-FFF2-40B4-BE49-F238E27FC236}">
                <a16:creationId xmlns:a16="http://schemas.microsoft.com/office/drawing/2014/main" id="{11AE293F-3A4B-4730-98FC-77E290E42539}"/>
              </a:ext>
            </a:extLst>
          </p:cNvPr>
          <p:cNvSpPr>
            <a:spLocks xmlns:a="http://schemas.openxmlformats.org/drawingml/2006/main" noGrp="1"/>
          </p:cNvSpPr>
          <p:nvPr/>
        </p:nvSpPr>
        <p:spPr>
          <a:xfrm xmlns:a="http://schemas.openxmlformats.org/drawingml/2006/main">
            <a:off x="400050" y="4886325"/>
            <a:ext cx="4953000" cy="733425"/>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2" name="">
            <a:extLst xmlns:a="http://schemas.openxmlformats.org/drawingml/2006/main">
              <a:ext uri="{FF2B5EF4-FFF2-40B4-BE49-F238E27FC236}">
                <a16:creationId xmlns:a16="http://schemas.microsoft.com/office/drawing/2014/main" id="{351348C0-DACA-43B9-8C9C-F003A53B1330}"/>
              </a:ext>
            </a:extLst>
          </p:cNvPr>
          <p:cNvSpPr>
            <a:spLocks xmlns:a="http://schemas.openxmlformats.org/drawingml/2006/main" noGrp="1"/>
          </p:cNvSpPr>
          <p:nvPr/>
        </p:nvSpPr>
        <p:spPr>
          <a:xfrm xmlns:a="http://schemas.openxmlformats.org/drawingml/2006/main">
            <a:off x="495300" y="4953000"/>
            <a:ext cx="4762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informationRates / calendar / min planned–actual / lsTime</a:t>
            </a:r>
          </a:p>
        </p:txBody>
      </p:sp>
      <p:sp>
        <p:nvSpPr>
          <p:cNvPr id="23" name="">
            <a:extLst xmlns:a="http://schemas.openxmlformats.org/drawingml/2006/main">
              <a:ext uri="{FF2B5EF4-FFF2-40B4-BE49-F238E27FC236}">
                <a16:creationId xmlns:a16="http://schemas.microsoft.com/office/drawing/2014/main" id="{1509CA7A-A913-4538-A0D8-7A78C89DC67F}"/>
              </a:ext>
            </a:extLst>
          </p:cNvPr>
          <p:cNvSpPr>
            <a:spLocks xmlns:a="http://schemas.openxmlformats.org/drawingml/2006/main" noGrp="1"/>
          </p:cNvSpPr>
          <p:nvPr/>
        </p:nvSpPr>
        <p:spPr>
          <a:xfrm xmlns:a="http://schemas.openxmlformats.org/drawingml/2006/main">
            <a:off x="5353050" y="4886325"/>
            <a:ext cx="6191250" cy="733425"/>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4" name="">
            <a:extLst xmlns:a="http://schemas.openxmlformats.org/drawingml/2006/main">
              <a:ext uri="{FF2B5EF4-FFF2-40B4-BE49-F238E27FC236}">
                <a16:creationId xmlns:a16="http://schemas.microsoft.com/office/drawing/2014/main" id="{473CC204-3222-48E9-94BA-831DB80CE19C}"/>
              </a:ext>
            </a:extLst>
          </p:cNvPr>
          <p:cNvSpPr>
            <a:spLocks xmlns:a="http://schemas.openxmlformats.org/drawingml/2006/main" noGrp="1"/>
          </p:cNvSpPr>
          <p:nvPr/>
        </p:nvSpPr>
        <p:spPr>
          <a:xfrm xmlns:a="http://schemas.openxmlformats.org/drawingml/2006/main">
            <a:off x="5448300" y="4953000"/>
            <a:ext cx="6000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Derive effective lower spending time; recompute</a:t>
            </a:r>
          </a:p>
        </p:txBody>
      </p:sp>
      <p:sp>
        <p:nvSpPr>
          <p:cNvPr id="25" name="">
            <a:extLst xmlns:a="http://schemas.openxmlformats.org/drawingml/2006/main">
              <a:ext uri="{FF2B5EF4-FFF2-40B4-BE49-F238E27FC236}">
                <a16:creationId xmlns:a16="http://schemas.microsoft.com/office/drawing/2014/main" id="{7E95634A-9CF0-4D0E-AA2C-5E84AC0932B3}"/>
              </a:ext>
            </a:extLst>
          </p:cNvPr>
          <p:cNvSpPr>
            <a:spLocks xmlns:a="http://schemas.openxmlformats.org/drawingml/2006/main" noGrp="1"/>
          </p:cNvSpPr>
          <p:nvPr/>
        </p:nvSpPr>
        <p:spPr>
          <a:xfrm xmlns:a="http://schemas.openxmlformats.org/drawingml/2006/main">
            <a:off x="400050" y="5876925"/>
            <a:ext cx="166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Rule of thumb</a:t>
            </a:r>
          </a:p>
        </p:txBody>
      </p:sp>
      <p:sp>
        <p:nvSpPr>
          <p:cNvPr id="26" name="">
            <a:extLst xmlns:a="http://schemas.openxmlformats.org/drawingml/2006/main">
              <a:ext uri="{FF2B5EF4-FFF2-40B4-BE49-F238E27FC236}">
                <a16:creationId xmlns:a16="http://schemas.microsoft.com/office/drawing/2014/main" id="{853BE4C3-FFCF-4772-8A7B-77011C7561BA}"/>
              </a:ext>
            </a:extLst>
          </p:cNvPr>
          <p:cNvSpPr>
            <a:spLocks xmlns:a="http://schemas.openxmlformats.org/drawingml/2006/main" noGrp="1"/>
          </p:cNvSpPr>
          <p:nvPr/>
        </p:nvSpPr>
        <p:spPr>
          <a:xfrm xmlns:a="http://schemas.openxmlformats.org/drawingml/2006/main">
            <a:off x="2238375" y="5819775"/>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If the spending clock moves, the bounds move.</a:t>
            </a:r>
          </a:p>
        </p:txBody>
      </p:sp>
    </p:spTree>
    <p:extLst>
      <p:ext uri="{BB962C8B-B14F-4D97-AF65-F5344CB8AC3E}">
        <p14:creationId xmlns:p14="http://schemas.microsoft.com/office/powerpoint/2010/main" val="21357612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959E2CD-433D-4F3C-8355-5507DF4499F0}"/>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ANALYSIS TIMING</a:t>
            </a:r>
          </a:p>
        </p:txBody>
      </p:sp>
      <p:sp>
        <p:nvSpPr>
          <p:cNvPr id="2" name="">
            <a:extLst xmlns:a="http://schemas.openxmlformats.org/drawingml/2006/main">
              <a:ext uri="{FF2B5EF4-FFF2-40B4-BE49-F238E27FC236}">
                <a16:creationId xmlns:a16="http://schemas.microsoft.com/office/drawing/2014/main" id="{8988FB51-E48F-4406-855D-168AA1BFBC71}"/>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895"/>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Fixed events and fixed calendar answer different questions</a:t>
            </a:r>
          </a:p>
        </p:txBody>
      </p:sp>
      <p:sp>
        <p:nvSpPr>
          <p:cNvPr id="3" name="">
            <a:extLst xmlns:a="http://schemas.openxmlformats.org/drawingml/2006/main">
              <a:ext uri="{FF2B5EF4-FFF2-40B4-BE49-F238E27FC236}">
                <a16:creationId xmlns:a16="http://schemas.microsoft.com/office/drawing/2014/main" id="{08106661-6A4A-4A36-85C7-88CC71325702}"/>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4E32B061-F1F1-4C57-BF12-538D5545E94B}"/>
              </a:ext>
            </a:extLst>
          </p:cNvPr>
          <p:cNvSpPr>
            <a:spLocks xmlns:a="http://schemas.openxmlformats.org/drawingml/2006/main" noGrp="1"/>
          </p:cNvSpPr>
          <p:nvPr/>
        </p:nvSpPr>
        <p:spPr>
          <a:xfrm xmlns:a="http://schemas.openxmlformats.org/drawingml/2006/main">
            <a:off x="400050" y="1714500"/>
            <a:ext cx="5286375" cy="3714750"/>
          </a:xfrm>
          <a:prstGeom xmlns:a="http://schemas.openxmlformats.org/drawingml/2006/main" prst="roundRect">
            <a:avLst>
              <a:gd name="adj" fmla="val 3077"/>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1C08174B-25FC-4A9D-A26C-8DF14117994B}"/>
              </a:ext>
            </a:extLst>
          </p:cNvPr>
          <p:cNvSpPr>
            <a:spLocks xmlns:a="http://schemas.openxmlformats.org/drawingml/2006/main" noGrp="1"/>
          </p:cNvSpPr>
          <p:nvPr/>
        </p:nvSpPr>
        <p:spPr>
          <a:xfrm xmlns:a="http://schemas.openxmlformats.org/drawingml/2006/main">
            <a:off x="628650" y="1905000"/>
            <a:ext cx="48291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CONDITIONAL ON EVENTS</a:t>
            </a:r>
          </a:p>
        </p:txBody>
      </p:sp>
      <p:sp>
        <p:nvSpPr>
          <p:cNvPr id="6" name="">
            <a:extLst xmlns:a="http://schemas.openxmlformats.org/drawingml/2006/main">
              <a:ext uri="{FF2B5EF4-FFF2-40B4-BE49-F238E27FC236}">
                <a16:creationId xmlns:a16="http://schemas.microsoft.com/office/drawing/2014/main" id="{6AE423C7-A1D4-48A8-AED3-EB6D8F6E1862}"/>
              </a:ext>
            </a:extLst>
          </p:cNvPr>
          <p:cNvSpPr>
            <a:spLocks xmlns:a="http://schemas.openxmlformats.org/drawingml/2006/main" noGrp="1"/>
          </p:cNvSpPr>
          <p:nvPr/>
        </p:nvSpPr>
        <p:spPr>
          <a:xfrm xmlns:a="http://schemas.openxmlformats.org/drawingml/2006/main">
            <a:off x="628650" y="2305050"/>
            <a:ext cx="48291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targetEvents</a:t>
            </a:r>
          </a:p>
        </p:txBody>
      </p:sp>
      <p:sp>
        <p:nvSpPr>
          <p:cNvPr id="7" name="">
            <a:extLst xmlns:a="http://schemas.openxmlformats.org/drawingml/2006/main">
              <a:ext uri="{FF2B5EF4-FFF2-40B4-BE49-F238E27FC236}">
                <a16:creationId xmlns:a16="http://schemas.microsoft.com/office/drawing/2014/main" id="{EE71BF11-9F7E-46E0-8A7F-8901CE0B4AB1}"/>
              </a:ext>
            </a:extLst>
          </p:cNvPr>
          <p:cNvSpPr>
            <a:spLocks xmlns:a="http://schemas.openxmlformats.org/drawingml/2006/main" noGrp="1"/>
          </p:cNvSpPr>
          <p:nvPr/>
        </p:nvSpPr>
        <p:spPr>
          <a:xfrm xmlns:a="http://schemas.openxmlformats.org/drawingml/2006/main">
            <a:off x="628650" y="3067050"/>
            <a:ext cx="4829175"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Hold expected event counts fixed.</a:t>
            </a:r>
          </a:p>
          <a:p xmlns:a="http://schemas.openxmlformats.org/drawingml/2006/main">
            <a:r>
              <a:t/>
            </a:r>
          </a:p>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Calendar times move with the scenario.</a:t>
            </a:r>
          </a:p>
          <a:p xmlns:a="http://schemas.openxmlformats.org/drawingml/2006/main">
            <a:r>
              <a:t/>
            </a:r>
          </a:p>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Power matches the gsDesign power plot when the event schedule is the design schedule.</a:t>
            </a:r>
          </a:p>
        </p:txBody>
      </p:sp>
      <p:sp>
        <p:nvSpPr>
          <p:cNvPr id="8" name="">
            <a:extLst xmlns:a="http://schemas.openxmlformats.org/drawingml/2006/main">
              <a:ext uri="{FF2B5EF4-FFF2-40B4-BE49-F238E27FC236}">
                <a16:creationId xmlns:a16="http://schemas.microsoft.com/office/drawing/2014/main" id="{4EA2219A-E006-4CE9-95F2-9BE9B88167B9}"/>
              </a:ext>
            </a:extLst>
          </p:cNvPr>
          <p:cNvSpPr>
            <a:spLocks xmlns:a="http://schemas.openxmlformats.org/drawingml/2006/main" noGrp="1"/>
          </p:cNvSpPr>
          <p:nvPr/>
        </p:nvSpPr>
        <p:spPr>
          <a:xfrm xmlns:a="http://schemas.openxmlformats.org/drawingml/2006/main">
            <a:off x="6000750" y="1714500"/>
            <a:ext cx="5791200" cy="3714750"/>
          </a:xfrm>
          <a:prstGeom xmlns:a="http://schemas.openxmlformats.org/drawingml/2006/main" prst="roundRect">
            <a:avLst>
              <a:gd name="adj" fmla="val 3077"/>
            </a:avLst>
          </a:prstGeom>
          <a:solidFill xmlns:a="http://schemas.openxmlformats.org/drawingml/2006/main">
            <a:srgbClr val="EAF6FC"/>
          </a:solidFill>
          <a:ln xmlns:a="http://schemas.openxmlformats.org/drawingml/2006/main" w="0">
            <a:solidFill>
              <a:srgbClr val="EAF6FC"/>
            </a:solidFill>
            <a:prstDash val="solid"/>
          </a:ln>
        </p:spPr>
      </p:sp>
      <p:sp>
        <p:nvSpPr>
          <p:cNvPr id="9" name="">
            <a:extLst xmlns:a="http://schemas.openxmlformats.org/drawingml/2006/main">
              <a:ext uri="{FF2B5EF4-FFF2-40B4-BE49-F238E27FC236}">
                <a16:creationId xmlns:a16="http://schemas.microsoft.com/office/drawing/2014/main" id="{27EAC057-9B2E-4E16-950C-7BBE7024F230}"/>
              </a:ext>
            </a:extLst>
          </p:cNvPr>
          <p:cNvSpPr>
            <a:spLocks xmlns:a="http://schemas.openxmlformats.org/drawingml/2006/main" noGrp="1"/>
          </p:cNvSpPr>
          <p:nvPr/>
        </p:nvSpPr>
        <p:spPr>
          <a:xfrm xmlns:a="http://schemas.openxmlformats.org/drawingml/2006/main">
            <a:off x="6229350" y="19050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CALENDAR-ANCHORED</a:t>
            </a:r>
          </a:p>
        </p:txBody>
      </p:sp>
      <p:sp>
        <p:nvSpPr>
          <p:cNvPr id="10" name="">
            <a:extLst xmlns:a="http://schemas.openxmlformats.org/drawingml/2006/main">
              <a:ext uri="{FF2B5EF4-FFF2-40B4-BE49-F238E27FC236}">
                <a16:creationId xmlns:a16="http://schemas.microsoft.com/office/drawing/2014/main" id="{E845D9B9-E88B-466C-9E1B-C66EF668068F}"/>
              </a:ext>
            </a:extLst>
          </p:cNvPr>
          <p:cNvSpPr>
            <a:spLocks xmlns:a="http://schemas.openxmlformats.org/drawingml/2006/main" noGrp="1"/>
          </p:cNvSpPr>
          <p:nvPr/>
        </p:nvSpPr>
        <p:spPr>
          <a:xfrm xmlns:a="http://schemas.openxmlformats.org/drawingml/2006/main">
            <a:off x="6229350" y="2305050"/>
            <a:ext cx="533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plannedCalendarTime</a:t>
            </a:r>
          </a:p>
        </p:txBody>
      </p:sp>
      <p:sp>
        <p:nvSpPr>
          <p:cNvPr id="11" name="">
            <a:extLst xmlns:a="http://schemas.openxmlformats.org/drawingml/2006/main">
              <a:ext uri="{FF2B5EF4-FFF2-40B4-BE49-F238E27FC236}">
                <a16:creationId xmlns:a16="http://schemas.microsoft.com/office/drawing/2014/main" id="{226B6356-104E-4A7B-99D9-48C775F338E6}"/>
              </a:ext>
            </a:extLst>
          </p:cNvPr>
          <p:cNvSpPr>
            <a:spLocks xmlns:a="http://schemas.openxmlformats.org/drawingml/2006/main" noGrp="1"/>
          </p:cNvSpPr>
          <p:nvPr/>
        </p:nvSpPr>
        <p:spPr>
          <a:xfrm xmlns:a="http://schemas.openxmlformats.org/drawingml/2006/main">
            <a:off x="6229350" y="3067050"/>
            <a:ext cx="53340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Hold analysis dates fixed when used alone.</a:t>
            </a:r>
          </a:p>
          <a:p xmlns:a="http://schemas.openxmlformats.org/drawingml/2006/main">
            <a:r>
              <a:t/>
            </a:r>
          </a:p>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Expected event counts move with the scenario.</a:t>
            </a:r>
          </a:p>
          <a:p xmlns:a="http://schemas.openxmlformats.org/drawingml/2006/main">
            <a:r>
              <a:t/>
            </a:r>
          </a:p>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Power reflects the interaction between treatment effect and event accrual.</a:t>
            </a:r>
          </a:p>
        </p:txBody>
      </p:sp>
      <p:sp>
        <p:nvSpPr>
          <p:cNvPr id="12" name="">
            <a:extLst xmlns:a="http://schemas.openxmlformats.org/drawingml/2006/main">
              <a:ext uri="{FF2B5EF4-FFF2-40B4-BE49-F238E27FC236}">
                <a16:creationId xmlns:a16="http://schemas.microsoft.com/office/drawing/2014/main" id="{6C86047B-E42E-4633-A6A4-21D95E0C4718}"/>
              </a:ext>
            </a:extLst>
          </p:cNvPr>
          <p:cNvSpPr>
            <a:spLocks xmlns:a="http://schemas.openxmlformats.org/drawingml/2006/main" noGrp="1"/>
          </p:cNvSpPr>
          <p:nvPr/>
        </p:nvSpPr>
        <p:spPr>
          <a:xfrm xmlns:a="http://schemas.openxmlformats.org/drawingml/2006/main">
            <a:off x="400050" y="58102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Protocol says events? Use event targets. Protocol says dates? Use calendar time.</a:t>
            </a:r>
          </a:p>
        </p:txBody>
      </p:sp>
    </p:spTree>
    <p:extLst>
      <p:ext uri="{BB962C8B-B14F-4D97-AF65-F5344CB8AC3E}">
        <p14:creationId xmlns:p14="http://schemas.microsoft.com/office/powerpoint/2010/main" val="155371243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82A140B-7202-41CA-8F66-0F62612F2450}"/>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ANALYSIS TIMING</a:t>
            </a:r>
          </a:p>
        </p:txBody>
      </p:sp>
      <p:sp>
        <p:nvSpPr>
          <p:cNvPr id="2" name="">
            <a:extLst xmlns:a="http://schemas.openxmlformats.org/drawingml/2006/main">
              <a:ext uri="{FF2B5EF4-FFF2-40B4-BE49-F238E27FC236}">
                <a16:creationId xmlns:a16="http://schemas.microsoft.com/office/drawing/2014/main" id="{5023423E-ABB1-4302-9A38-76A7935CAFB0}"/>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The timing choice changes the sensitivity curve</a:t>
            </a:r>
          </a:p>
        </p:txBody>
      </p:sp>
      <p:sp>
        <p:nvSpPr>
          <p:cNvPr id="3" name="">
            <a:extLst xmlns:a="http://schemas.openxmlformats.org/drawingml/2006/main">
              <a:ext uri="{FF2B5EF4-FFF2-40B4-BE49-F238E27FC236}">
                <a16:creationId xmlns:a16="http://schemas.microsoft.com/office/drawing/2014/main" id="{135FBD86-83C8-42F5-B99E-06D47C235C98}"/>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10</a:t>
            </a:r>
          </a:p>
        </p:txBody>
      </p:sp>
      <p:graphicFrame>
        <p:nvGraphicFramePr>
          <p:cNvPr id="17" name="Chart"/>
          <p:cNvGraphicFramePr/>
          <p:nvPr/>
        </p:nvGraphicFramePr>
        <p:xfrm>
          <a:off xmlns:a="http://schemas.openxmlformats.org/drawingml/2006/main" x="400050" y="1476375"/>
          <a:ext xmlns:a="http://schemas.openxmlformats.org/drawingml/2006/main" cx="7620000" cy="4572000"/>
        </p:xfrm>
        <a:graphic xmlns:a="http://schemas.openxmlformats.org/drawingml/2006/main">
          <a:graphicData uri="http://schemas.openxmlformats.org/drawingml/2006/chart">
            <c:chart xmlns:r="http://schemas.openxmlformats.org/officeDocument/2006/relationships" xmlns:c="http://schemas.openxmlformats.org/drawingml/2006/chart" r:id="Rc5bc0fa46397471d"/>
          </a:graphicData>
        </a:graphic>
      </p:graphicFrame>
      <p:sp>
        <p:nvSpPr>
          <p:cNvPr id="5" name="">
            <a:extLst xmlns:a="http://schemas.openxmlformats.org/drawingml/2006/main">
              <a:ext uri="{FF2B5EF4-FFF2-40B4-BE49-F238E27FC236}">
                <a16:creationId xmlns:a16="http://schemas.microsoft.com/office/drawing/2014/main" id="{075BE71D-6B45-43E1-AFD4-3EB595363DAC}"/>
              </a:ext>
            </a:extLst>
          </p:cNvPr>
          <p:cNvSpPr>
            <a:spLocks xmlns:a="http://schemas.openxmlformats.org/drawingml/2006/main" noGrp="1"/>
          </p:cNvSpPr>
          <p:nvPr/>
        </p:nvSpPr>
        <p:spPr>
          <a:xfrm xmlns:a="http://schemas.openxmlformats.org/drawingml/2006/main">
            <a:off x="8429625" y="2000250"/>
            <a:ext cx="3095625" cy="2286000"/>
          </a:xfrm>
          <a:prstGeom xmlns:a="http://schemas.openxmlformats.org/drawingml/2006/main" prst="roundRect">
            <a:avLst>
              <a:gd name="adj" fmla="val 5000"/>
            </a:avLst>
          </a:prstGeom>
          <a:solidFill xmlns:a="http://schemas.openxmlformats.org/drawingml/2006/main">
            <a:srgbClr val="EAF6FC"/>
          </a:solidFill>
          <a:ln xmlns:a="http://schemas.openxmlformats.org/drawingml/2006/main" w="0">
            <a:solidFill>
              <a:srgbClr val="EAF6FC"/>
            </a:solidFill>
            <a:prstDash val="solid"/>
          </a:ln>
        </p:spPr>
      </p:sp>
      <p:sp>
        <p:nvSpPr>
          <p:cNvPr id="6" name="">
            <a:extLst xmlns:a="http://schemas.openxmlformats.org/drawingml/2006/main">
              <a:ext uri="{FF2B5EF4-FFF2-40B4-BE49-F238E27FC236}">
                <a16:creationId xmlns:a16="http://schemas.microsoft.com/office/drawing/2014/main" id="{6EAAD659-0766-4176-9082-E93733D0EDA2}"/>
              </a:ext>
            </a:extLst>
          </p:cNvPr>
          <p:cNvSpPr>
            <a:spLocks xmlns:a="http://schemas.openxmlformats.org/drawingml/2006/main" noGrp="1"/>
          </p:cNvSpPr>
          <p:nvPr/>
        </p:nvSpPr>
        <p:spPr>
          <a:xfrm xmlns:a="http://schemas.openxmlformats.org/drawingml/2006/main">
            <a:off x="8686800" y="228600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a:solidFill>
                  <a:srgbClr val="3D8DFF"/>
                </a:solidFill>
                <a:latin typeface="Helvetica Neue"/>
                <a:ea typeface="Helvetica Neue"/>
                <a:cs typeface="Helvetica Neue"/>
              </a:defRPr>
            </a:pPr>
            <a:r>
              <a:rPr sz="1950" b="1">
                <a:solidFill>
                  <a:srgbClr val="3D8DFF"/>
                </a:solidFill>
                <a:latin typeface="Helvetica Neue"/>
                <a:ea typeface="Helvetica Neue"/>
                <a:cs typeface="Helvetica Neue"/>
              </a:rPr>
              <a:t>HR 0.80</a:t>
            </a:r>
          </a:p>
        </p:txBody>
      </p:sp>
      <p:sp>
        <p:nvSpPr>
          <p:cNvPr id="7" name="">
            <a:extLst xmlns:a="http://schemas.openxmlformats.org/drawingml/2006/main">
              <a:ext uri="{FF2B5EF4-FFF2-40B4-BE49-F238E27FC236}">
                <a16:creationId xmlns:a16="http://schemas.microsoft.com/office/drawing/2014/main" id="{8CA353E3-E7C4-4F36-8FC1-D2B59E92A95A}"/>
              </a:ext>
            </a:extLst>
          </p:cNvPr>
          <p:cNvSpPr>
            <a:spLocks xmlns:a="http://schemas.openxmlformats.org/drawingml/2006/main" noGrp="1"/>
          </p:cNvSpPr>
          <p:nvPr/>
        </p:nvSpPr>
        <p:spPr>
          <a:xfrm xmlns:a="http://schemas.openxmlformats.org/drawingml/2006/main">
            <a:off x="8686800" y="285750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52.5%</a:t>
            </a:r>
          </a:p>
        </p:txBody>
      </p:sp>
      <p:sp>
        <p:nvSpPr>
          <p:cNvPr id="8" name="">
            <a:extLst xmlns:a="http://schemas.openxmlformats.org/drawingml/2006/main">
              <a:ext uri="{FF2B5EF4-FFF2-40B4-BE49-F238E27FC236}">
                <a16:creationId xmlns:a16="http://schemas.microsoft.com/office/drawing/2014/main" id="{7E1F902C-7F23-4406-8C79-7C0A9F752FD7}"/>
              </a:ext>
            </a:extLst>
          </p:cNvPr>
          <p:cNvSpPr>
            <a:spLocks xmlns:a="http://schemas.openxmlformats.org/drawingml/2006/main" noGrp="1"/>
          </p:cNvSpPr>
          <p:nvPr/>
        </p:nvSpPr>
        <p:spPr>
          <a:xfrm xmlns:a="http://schemas.openxmlformats.org/drawingml/2006/main">
            <a:off x="9953625" y="30480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fixed events</a:t>
            </a:r>
          </a:p>
        </p:txBody>
      </p:sp>
      <p:sp>
        <p:nvSpPr>
          <p:cNvPr id="9" name="">
            <a:extLst xmlns:a="http://schemas.openxmlformats.org/drawingml/2006/main">
              <a:ext uri="{FF2B5EF4-FFF2-40B4-BE49-F238E27FC236}">
                <a16:creationId xmlns:a16="http://schemas.microsoft.com/office/drawing/2014/main" id="{39125DA4-8B1A-4BF8-B642-D8BB7030AB67}"/>
              </a:ext>
            </a:extLst>
          </p:cNvPr>
          <p:cNvSpPr>
            <a:spLocks xmlns:a="http://schemas.openxmlformats.org/drawingml/2006/main" noGrp="1"/>
          </p:cNvSpPr>
          <p:nvPr/>
        </p:nvSpPr>
        <p:spPr>
          <a:xfrm xmlns:a="http://schemas.openxmlformats.org/drawingml/2006/main">
            <a:off x="8686800" y="3590925"/>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925" b="1">
                <a:solidFill>
                  <a:srgbClr val="000000"/>
                </a:solidFill>
                <a:latin typeface="Helvetica Neue"/>
                <a:ea typeface="Helvetica Neue"/>
                <a:cs typeface="Helvetica Neue"/>
              </a:defRPr>
            </a:pPr>
            <a:r>
              <a:rPr sz="2925" b="1">
                <a:solidFill>
                  <a:srgbClr val="000000"/>
                </a:solidFill>
                <a:latin typeface="Helvetica Neue"/>
                <a:ea typeface="Helvetica Neue"/>
                <a:cs typeface="Helvetica Neue"/>
              </a:rPr>
              <a:t>54.1%</a:t>
            </a:r>
          </a:p>
        </p:txBody>
      </p:sp>
      <p:sp>
        <p:nvSpPr>
          <p:cNvPr id="10" name="">
            <a:extLst xmlns:a="http://schemas.openxmlformats.org/drawingml/2006/main">
              <a:ext uri="{FF2B5EF4-FFF2-40B4-BE49-F238E27FC236}">
                <a16:creationId xmlns:a16="http://schemas.microsoft.com/office/drawing/2014/main" id="{E3C9FDCC-8A4E-4266-83E3-B78A51498B19}"/>
              </a:ext>
            </a:extLst>
          </p:cNvPr>
          <p:cNvSpPr>
            <a:spLocks xmlns:a="http://schemas.openxmlformats.org/drawingml/2006/main" noGrp="1"/>
          </p:cNvSpPr>
          <p:nvPr/>
        </p:nvSpPr>
        <p:spPr>
          <a:xfrm xmlns:a="http://schemas.openxmlformats.org/drawingml/2006/main">
            <a:off x="9953625" y="3781425"/>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fixed calendar</a:t>
            </a:r>
          </a:p>
        </p:txBody>
      </p:sp>
      <p:sp>
        <p:nvSpPr>
          <p:cNvPr id="11" name="">
            <a:extLst xmlns:a="http://schemas.openxmlformats.org/drawingml/2006/main">
              <a:ext uri="{FF2B5EF4-FFF2-40B4-BE49-F238E27FC236}">
                <a16:creationId xmlns:a16="http://schemas.microsoft.com/office/drawing/2014/main" id="{CD000060-E457-43AF-8CBF-EE4EA25E6CC7}"/>
              </a:ext>
            </a:extLst>
          </p:cNvPr>
          <p:cNvSpPr>
            <a:spLocks xmlns:a="http://schemas.openxmlformats.org/drawingml/2006/main" noGrp="1"/>
          </p:cNvSpPr>
          <p:nvPr/>
        </p:nvSpPr>
        <p:spPr>
          <a:xfrm xmlns:a="http://schemas.openxmlformats.org/drawingml/2006/main">
            <a:off x="8429625" y="4667250"/>
            <a:ext cx="3095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Same design. Different operational question.</a:t>
            </a:r>
          </a:p>
        </p:txBody>
      </p:sp>
    </p:spTree>
    <p:extLst>
      <p:ext uri="{BB962C8B-B14F-4D97-AF65-F5344CB8AC3E}">
        <p14:creationId xmlns:p14="http://schemas.microsoft.com/office/powerpoint/2010/main" val="9147937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CECA81F-C49C-4B2E-B387-C639B260D16A}"/>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TIMING GRAMMAR</a:t>
            </a:r>
          </a:p>
        </p:txBody>
      </p:sp>
      <p:sp>
        <p:nvSpPr>
          <p:cNvPr id="2" name="">
            <a:extLst xmlns:a="http://schemas.openxmlformats.org/drawingml/2006/main">
              <a:ext uri="{FF2B5EF4-FFF2-40B4-BE49-F238E27FC236}">
                <a16:creationId xmlns:a16="http://schemas.microsoft.com/office/drawing/2014/main" id="{73213DC4-8DBA-4695-AA45-19399D0E883C}"/>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Timing is a grammar: floors, event gates, caps</a:t>
            </a:r>
          </a:p>
        </p:txBody>
      </p:sp>
      <p:sp>
        <p:nvSpPr>
          <p:cNvPr id="3" name="">
            <a:extLst xmlns:a="http://schemas.openxmlformats.org/drawingml/2006/main">
              <a:ext uri="{FF2B5EF4-FFF2-40B4-BE49-F238E27FC236}">
                <a16:creationId xmlns:a16="http://schemas.microsoft.com/office/drawing/2014/main" id="{8744642E-6D4F-41B9-A70D-82E13A0869A5}"/>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A17A4C73-C492-4C4B-8062-8CFE0B7F2A54}"/>
              </a:ext>
            </a:extLst>
          </p:cNvPr>
          <p:cNvSpPr>
            <a:spLocks xmlns:a="http://schemas.openxmlformats.org/drawingml/2006/main" noGrp="1"/>
          </p:cNvSpPr>
          <p:nvPr/>
        </p:nvSpPr>
        <p:spPr>
          <a:xfrm xmlns:a="http://schemas.openxmlformats.org/drawingml/2006/main">
            <a:off x="400050" y="1762125"/>
            <a:ext cx="11391900" cy="1047750"/>
          </a:xfrm>
          <a:prstGeom xmlns:a="http://schemas.openxmlformats.org/drawingml/2006/main" prst="roundRect">
            <a:avLst>
              <a:gd name="adj" fmla="val 10909"/>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1E1DC355-B521-4628-8B35-4303087015A1}"/>
              </a:ext>
            </a:extLst>
          </p:cNvPr>
          <p:cNvSpPr>
            <a:spLocks xmlns:a="http://schemas.openxmlformats.org/drawingml/2006/main" noGrp="1"/>
          </p:cNvSpPr>
          <p:nvPr/>
        </p:nvSpPr>
        <p:spPr>
          <a:xfrm xmlns:a="http://schemas.openxmlformats.org/drawingml/2006/main">
            <a:off x="666750" y="20002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1  FLOORS</a:t>
            </a:r>
          </a:p>
        </p:txBody>
      </p:sp>
      <p:sp>
        <p:nvSpPr>
          <p:cNvPr id="6" name="">
            <a:extLst xmlns:a="http://schemas.openxmlformats.org/drawingml/2006/main">
              <a:ext uri="{FF2B5EF4-FFF2-40B4-BE49-F238E27FC236}">
                <a16:creationId xmlns:a16="http://schemas.microsoft.com/office/drawing/2014/main" id="{C6CC891C-C81C-405C-99F4-24807C3A693A}"/>
              </a:ext>
            </a:extLst>
          </p:cNvPr>
          <p:cNvSpPr>
            <a:spLocks xmlns:a="http://schemas.openxmlformats.org/drawingml/2006/main" noGrp="1"/>
          </p:cNvSpPr>
          <p:nvPr/>
        </p:nvSpPr>
        <p:spPr>
          <a:xfrm xmlns:a="http://schemas.openxmlformats.org/drawingml/2006/main">
            <a:off x="3028950" y="1981200"/>
            <a:ext cx="833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Earliest eligible time: planned calendar, previous-look spacing, enrollment + follow-up, final minfup.</a:t>
            </a:r>
          </a:p>
        </p:txBody>
      </p:sp>
      <p:sp>
        <p:nvSpPr>
          <p:cNvPr id="7" name="">
            <a:extLst xmlns:a="http://schemas.openxmlformats.org/drawingml/2006/main">
              <a:ext uri="{FF2B5EF4-FFF2-40B4-BE49-F238E27FC236}">
                <a16:creationId xmlns:a16="http://schemas.microsoft.com/office/drawing/2014/main" id="{DC3B0F47-FAE6-4A10-8A75-D22725CDB745}"/>
              </a:ext>
            </a:extLst>
          </p:cNvPr>
          <p:cNvSpPr>
            <a:spLocks xmlns:a="http://schemas.openxmlformats.org/drawingml/2006/main" noGrp="1"/>
          </p:cNvSpPr>
          <p:nvPr/>
        </p:nvSpPr>
        <p:spPr>
          <a:xfrm xmlns:a="http://schemas.openxmlformats.org/drawingml/2006/main">
            <a:off x="5695950" y="2762250"/>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ctr">
              <a:lnSpc>
                <a:spcPct val="105000"/>
              </a:lnSpc>
              <a:buNone/>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F2E3E5A5-730A-4BF6-93EA-F4ED0E161CC8}"/>
              </a:ext>
            </a:extLst>
          </p:cNvPr>
          <p:cNvSpPr>
            <a:spLocks xmlns:a="http://schemas.openxmlformats.org/drawingml/2006/main" noGrp="1"/>
          </p:cNvSpPr>
          <p:nvPr/>
        </p:nvSpPr>
        <p:spPr>
          <a:xfrm xmlns:a="http://schemas.openxmlformats.org/drawingml/2006/main">
            <a:off x="400050" y="3143250"/>
            <a:ext cx="11391900" cy="1047750"/>
          </a:xfrm>
          <a:prstGeom xmlns:a="http://schemas.openxmlformats.org/drawingml/2006/main" prst="roundRect">
            <a:avLst>
              <a:gd name="adj" fmla="val 10909"/>
            </a:avLst>
          </a:prstGeom>
          <a:solidFill xmlns:a="http://schemas.openxmlformats.org/drawingml/2006/main">
            <a:srgbClr val="EAF6FC"/>
          </a:solidFill>
          <a:ln xmlns:a="http://schemas.openxmlformats.org/drawingml/2006/main" w="0">
            <a:solidFill>
              <a:srgbClr val="EAF6FC"/>
            </a:solidFill>
            <a:prstDash val="solid"/>
          </a:ln>
        </p:spPr>
      </p:sp>
      <p:sp>
        <p:nvSpPr>
          <p:cNvPr id="9" name="">
            <a:extLst xmlns:a="http://schemas.openxmlformats.org/drawingml/2006/main">
              <a:ext uri="{FF2B5EF4-FFF2-40B4-BE49-F238E27FC236}">
                <a16:creationId xmlns:a16="http://schemas.microsoft.com/office/drawing/2014/main" id="{2DA77FA1-ED94-470A-9268-A3F8234AD730}"/>
              </a:ext>
            </a:extLst>
          </p:cNvPr>
          <p:cNvSpPr>
            <a:spLocks xmlns:a="http://schemas.openxmlformats.org/drawingml/2006/main" noGrp="1"/>
          </p:cNvSpPr>
          <p:nvPr/>
        </p:nvSpPr>
        <p:spPr>
          <a:xfrm xmlns:a="http://schemas.openxmlformats.org/drawingml/2006/main">
            <a:off x="666750" y="33813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2  EVENT GATES</a:t>
            </a:r>
          </a:p>
        </p:txBody>
      </p:sp>
      <p:sp>
        <p:nvSpPr>
          <p:cNvPr id="10" name="">
            <a:extLst xmlns:a="http://schemas.openxmlformats.org/drawingml/2006/main">
              <a:ext uri="{FF2B5EF4-FFF2-40B4-BE49-F238E27FC236}">
                <a16:creationId xmlns:a16="http://schemas.microsoft.com/office/drawing/2014/main" id="{7FD017B3-6AFF-41D8-9FDD-DDCFDC6ACF3F}"/>
              </a:ext>
            </a:extLst>
          </p:cNvPr>
          <p:cNvSpPr>
            <a:spLocks xmlns:a="http://schemas.openxmlformats.org/drawingml/2006/main" noGrp="1"/>
          </p:cNvSpPr>
          <p:nvPr/>
        </p:nvSpPr>
        <p:spPr>
          <a:xfrm xmlns:a="http://schemas.openxmlformats.org/drawingml/2006/main">
            <a:off x="3028950" y="3362325"/>
            <a:ext cx="833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Wait until overall and every active per-stratum event target is reached.</a:t>
            </a:r>
          </a:p>
        </p:txBody>
      </p:sp>
      <p:sp>
        <p:nvSpPr>
          <p:cNvPr id="11" name="">
            <a:extLst xmlns:a="http://schemas.openxmlformats.org/drawingml/2006/main">
              <a:ext uri="{FF2B5EF4-FFF2-40B4-BE49-F238E27FC236}">
                <a16:creationId xmlns:a16="http://schemas.microsoft.com/office/drawing/2014/main" id="{97708B1B-3107-4B42-9962-9DE68B183C18}"/>
              </a:ext>
            </a:extLst>
          </p:cNvPr>
          <p:cNvSpPr>
            <a:spLocks xmlns:a="http://schemas.openxmlformats.org/drawingml/2006/main" noGrp="1"/>
          </p:cNvSpPr>
          <p:nvPr/>
        </p:nvSpPr>
        <p:spPr>
          <a:xfrm xmlns:a="http://schemas.openxmlformats.org/drawingml/2006/main">
            <a:off x="5695950" y="4143375"/>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ctr">
              <a:lnSpc>
                <a:spcPct val="105000"/>
              </a:lnSpc>
              <a:buNone/>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1C7022C0-0F63-49CA-A7DE-7685E3F4D2D2}"/>
              </a:ext>
            </a:extLst>
          </p:cNvPr>
          <p:cNvSpPr>
            <a:spLocks xmlns:a="http://schemas.openxmlformats.org/drawingml/2006/main" noGrp="1"/>
          </p:cNvSpPr>
          <p:nvPr/>
        </p:nvSpPr>
        <p:spPr>
          <a:xfrm xmlns:a="http://schemas.openxmlformats.org/drawingml/2006/main">
            <a:off x="400050" y="4524375"/>
            <a:ext cx="11391900" cy="1047750"/>
          </a:xfrm>
          <a:prstGeom xmlns:a="http://schemas.openxmlformats.org/drawingml/2006/main" prst="roundRect">
            <a:avLst>
              <a:gd name="adj" fmla="val 10909"/>
            </a:avLst>
          </a:prstGeom>
          <a:solidFill xmlns:a="http://schemas.openxmlformats.org/drawingml/2006/main">
            <a:srgbClr val="F2F2F2"/>
          </a:solidFill>
          <a:ln xmlns:a="http://schemas.openxmlformats.org/drawingml/2006/main" w="0">
            <a:solidFill>
              <a:srgbClr val="F2F2F2"/>
            </a:solidFill>
            <a:prstDash val="solid"/>
          </a:ln>
        </p:spPr>
      </p:sp>
      <p:sp>
        <p:nvSpPr>
          <p:cNvPr id="13" name="">
            <a:extLst xmlns:a="http://schemas.openxmlformats.org/drawingml/2006/main">
              <a:ext uri="{FF2B5EF4-FFF2-40B4-BE49-F238E27FC236}">
                <a16:creationId xmlns:a16="http://schemas.microsoft.com/office/drawing/2014/main" id="{33092EB0-60E7-4F66-A9BC-5272F46AFD38}"/>
              </a:ext>
            </a:extLst>
          </p:cNvPr>
          <p:cNvSpPr>
            <a:spLocks xmlns:a="http://schemas.openxmlformats.org/drawingml/2006/main" noGrp="1"/>
          </p:cNvSpPr>
          <p:nvPr/>
        </p:nvSpPr>
        <p:spPr>
          <a:xfrm xmlns:a="http://schemas.openxmlformats.org/drawingml/2006/main">
            <a:off x="666750" y="476250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3  CAPS</a:t>
            </a:r>
          </a:p>
        </p:txBody>
      </p:sp>
      <p:sp>
        <p:nvSpPr>
          <p:cNvPr id="14" name="">
            <a:extLst xmlns:a="http://schemas.openxmlformats.org/drawingml/2006/main">
              <a:ext uri="{FF2B5EF4-FFF2-40B4-BE49-F238E27FC236}">
                <a16:creationId xmlns:a16="http://schemas.microsoft.com/office/drawing/2014/main" id="{C8A97124-9472-4D72-9E6F-F9F9C89FF90F}"/>
              </a:ext>
            </a:extLst>
          </p:cNvPr>
          <p:cNvSpPr>
            <a:spLocks xmlns:a="http://schemas.openxmlformats.org/drawingml/2006/main" noGrp="1"/>
          </p:cNvSpPr>
          <p:nvPr/>
        </p:nvSpPr>
        <p:spPr>
          <a:xfrm xmlns:a="http://schemas.openxmlformats.org/drawingml/2006/main">
            <a:off x="3028950" y="4743450"/>
            <a:ext cx="833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Stop waiting at the relative extension cap or the absolute calendar deadline—whichever is earlier.</a:t>
            </a:r>
          </a:p>
        </p:txBody>
      </p:sp>
    </p:spTree>
    <p:extLst>
      <p:ext uri="{BB962C8B-B14F-4D97-AF65-F5344CB8AC3E}">
        <p14:creationId xmlns:p14="http://schemas.microsoft.com/office/powerpoint/2010/main" val="140783883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B4EBB0D-7F29-4147-8C64-7A38478F4727}"/>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TIMING GRAMMAR</a:t>
            </a:r>
          </a:p>
        </p:txBody>
      </p:sp>
      <p:sp>
        <p:nvSpPr>
          <p:cNvPr id="2" name="">
            <a:extLst xmlns:a="http://schemas.openxmlformats.org/drawingml/2006/main">
              <a:ext uri="{FF2B5EF4-FFF2-40B4-BE49-F238E27FC236}">
                <a16:creationId xmlns:a16="http://schemas.microsoft.com/office/drawing/2014/main" id="{728BCE57-E7CC-46EB-BFB2-5B1C2E6E376A}"/>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182"/>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Calendar + event target means wait for both—unless capped</a:t>
            </a:r>
          </a:p>
        </p:txBody>
      </p:sp>
      <p:sp>
        <p:nvSpPr>
          <p:cNvPr id="3" name="">
            <a:extLst xmlns:a="http://schemas.openxmlformats.org/drawingml/2006/main">
              <a:ext uri="{FF2B5EF4-FFF2-40B4-BE49-F238E27FC236}">
                <a16:creationId xmlns:a16="http://schemas.microsoft.com/office/drawing/2014/main" id="{0760A05C-4019-429A-84CD-97B3538F26DA}"/>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7CD1246A-301C-44E0-9C49-2AD2263EF3C3}"/>
              </a:ext>
            </a:extLst>
          </p:cNvPr>
          <p:cNvSpPr>
            <a:spLocks xmlns:a="http://schemas.openxmlformats.org/drawingml/2006/main" noGrp="1"/>
          </p:cNvSpPr>
          <p:nvPr/>
        </p:nvSpPr>
        <p:spPr>
          <a:xfrm xmlns:a="http://schemas.openxmlformats.org/drawingml/2006/main">
            <a:off x="904875" y="3181350"/>
            <a:ext cx="10001250" cy="0"/>
          </a:xfrm>
          <a:prstGeom xmlns:a="http://schemas.openxmlformats.org/drawingml/2006/main" prst="line">
            <a:avLst/>
          </a:prstGeom>
          <a:noFill xmlns:a="http://schemas.openxmlformats.org/drawingml/2006/main"/>
          <a:ln xmlns:a="http://schemas.openxmlformats.org/drawingml/2006/main" w="28575">
            <a:solidFill>
              <a:srgbClr val="9CA3AF"/>
            </a:solidFill>
            <a:prstDash val="solid"/>
          </a:ln>
        </p:spPr>
      </p:sp>
      <p:sp>
        <p:nvSpPr>
          <p:cNvPr id="5" name="">
            <a:extLst xmlns:a="http://schemas.openxmlformats.org/drawingml/2006/main">
              <a:ext uri="{FF2B5EF4-FFF2-40B4-BE49-F238E27FC236}">
                <a16:creationId xmlns:a16="http://schemas.microsoft.com/office/drawing/2014/main" id="{CBF88671-DEAE-48D9-8F66-548E0DE914D5}"/>
              </a:ext>
            </a:extLst>
          </p:cNvPr>
          <p:cNvSpPr>
            <a:spLocks xmlns:a="http://schemas.openxmlformats.org/drawingml/2006/main" noGrp="1"/>
          </p:cNvSpPr>
          <p:nvPr/>
        </p:nvSpPr>
        <p:spPr>
          <a:xfrm xmlns:a="http://schemas.openxmlformats.org/drawingml/2006/main">
            <a:off x="1628775" y="3095625"/>
            <a:ext cx="171450" cy="1714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4317F4E2-6B1D-476D-9EA5-25D6D61F8C12}"/>
              </a:ext>
            </a:extLst>
          </p:cNvPr>
          <p:cNvSpPr>
            <a:spLocks xmlns:a="http://schemas.openxmlformats.org/drawingml/2006/main" noGrp="1"/>
          </p:cNvSpPr>
          <p:nvPr/>
        </p:nvSpPr>
        <p:spPr>
          <a:xfrm xmlns:a="http://schemas.openxmlformats.org/drawingml/2006/main">
            <a:off x="4343400" y="3095625"/>
            <a:ext cx="171450" cy="1714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7A969719-A4D9-4AAB-AF4F-29B982099743}"/>
              </a:ext>
            </a:extLst>
          </p:cNvPr>
          <p:cNvSpPr>
            <a:spLocks xmlns:a="http://schemas.openxmlformats.org/drawingml/2006/main" noGrp="1"/>
          </p:cNvSpPr>
          <p:nvPr/>
        </p:nvSpPr>
        <p:spPr>
          <a:xfrm xmlns:a="http://schemas.openxmlformats.org/drawingml/2006/main">
            <a:off x="7439025" y="3095625"/>
            <a:ext cx="171450" cy="1714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8" name="">
            <a:extLst xmlns:a="http://schemas.openxmlformats.org/drawingml/2006/main">
              <a:ext uri="{FF2B5EF4-FFF2-40B4-BE49-F238E27FC236}">
                <a16:creationId xmlns:a16="http://schemas.microsoft.com/office/drawing/2014/main" id="{0CFE3CB3-10CA-4344-8404-FAE96C5DD72F}"/>
              </a:ext>
            </a:extLst>
          </p:cNvPr>
          <p:cNvSpPr>
            <a:spLocks xmlns:a="http://schemas.openxmlformats.org/drawingml/2006/main" noGrp="1"/>
          </p:cNvSpPr>
          <p:nvPr/>
        </p:nvSpPr>
        <p:spPr>
          <a:xfrm xmlns:a="http://schemas.openxmlformats.org/drawingml/2006/main">
            <a:off x="10201275" y="3095625"/>
            <a:ext cx="171450" cy="171450"/>
          </a:xfrm>
          <a:prstGeom xmlns:a="http://schemas.openxmlformats.org/drawingml/2006/main" prst="ellipse">
            <a:avLst/>
          </a:prstGeom>
          <a:solidFill xmlns:a="http://schemas.openxmlformats.org/drawingml/2006/main">
            <a:srgbClr val="C94B4B"/>
          </a:solidFill>
          <a:ln xmlns:a="http://schemas.openxmlformats.org/drawingml/2006/main" w="0">
            <a:solidFill>
              <a:srgbClr val="C94B4B"/>
            </a:solidFill>
            <a:prstDash val="solid"/>
          </a:ln>
        </p:spPr>
      </p:sp>
      <p:sp>
        <p:nvSpPr>
          <p:cNvPr id="9" name="">
            <a:extLst xmlns:a="http://schemas.openxmlformats.org/drawingml/2006/main">
              <a:ext uri="{FF2B5EF4-FFF2-40B4-BE49-F238E27FC236}">
                <a16:creationId xmlns:a16="http://schemas.microsoft.com/office/drawing/2014/main" id="{31546DE4-AF95-4209-8148-ABA630324E37}"/>
              </a:ext>
            </a:extLst>
          </p:cNvPr>
          <p:cNvSpPr>
            <a:spLocks xmlns:a="http://schemas.openxmlformats.org/drawingml/2006/main" noGrp="1"/>
          </p:cNvSpPr>
          <p:nvPr/>
        </p:nvSpPr>
        <p:spPr>
          <a:xfrm xmlns:a="http://schemas.openxmlformats.org/drawingml/2006/main">
            <a:off x="1095375" y="2190750"/>
            <a:ext cx="133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event target</a:t>
            </a:r>
          </a:p>
          <a:p xmlns:a="http://schemas.openxmlformats.org/drawingml/2006/main">
            <a:pPr algn="ctr">
              <a:lnSpc>
                <a:spcPct val="105000"/>
              </a:lnSpc>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reached</a:t>
            </a:r>
          </a:p>
        </p:txBody>
      </p:sp>
      <p:sp>
        <p:nvSpPr>
          <p:cNvPr id="10" name="">
            <a:extLst xmlns:a="http://schemas.openxmlformats.org/drawingml/2006/main">
              <a:ext uri="{FF2B5EF4-FFF2-40B4-BE49-F238E27FC236}">
                <a16:creationId xmlns:a16="http://schemas.microsoft.com/office/drawing/2014/main" id="{B7B911B7-BDCE-454F-A62D-D6E5C0101E82}"/>
              </a:ext>
            </a:extLst>
          </p:cNvPr>
          <p:cNvSpPr>
            <a:spLocks xmlns:a="http://schemas.openxmlformats.org/drawingml/2006/main" noGrp="1"/>
          </p:cNvSpPr>
          <p:nvPr/>
        </p:nvSpPr>
        <p:spPr>
          <a:xfrm xmlns:a="http://schemas.openxmlformats.org/drawingml/2006/main">
            <a:off x="3762375" y="3581400"/>
            <a:ext cx="133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planned</a:t>
            </a:r>
          </a:p>
          <a:p xmlns:a="http://schemas.openxmlformats.org/drawingml/2006/main">
            <a:pPr algn="ctr">
              <a:lnSpc>
                <a:spcPct val="105000"/>
              </a:lnSpc>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calendar time</a:t>
            </a:r>
          </a:p>
        </p:txBody>
      </p:sp>
      <p:sp>
        <p:nvSpPr>
          <p:cNvPr id="11" name="">
            <a:extLst xmlns:a="http://schemas.openxmlformats.org/drawingml/2006/main">
              <a:ext uri="{FF2B5EF4-FFF2-40B4-BE49-F238E27FC236}">
                <a16:creationId xmlns:a16="http://schemas.microsoft.com/office/drawing/2014/main" id="{9518A105-5FC0-4E32-876F-CE36E8AA97E6}"/>
              </a:ext>
            </a:extLst>
          </p:cNvPr>
          <p:cNvSpPr>
            <a:spLocks xmlns:a="http://schemas.openxmlformats.org/drawingml/2006/main" noGrp="1"/>
          </p:cNvSpPr>
          <p:nvPr/>
        </p:nvSpPr>
        <p:spPr>
          <a:xfrm xmlns:a="http://schemas.openxmlformats.org/drawingml/2006/main">
            <a:off x="6781800" y="2190750"/>
            <a:ext cx="152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analysis when</a:t>
            </a:r>
          </a:p>
          <a:p xmlns:a="http://schemas.openxmlformats.org/drawingml/2006/main">
            <a:pPr algn="ctr">
              <a:lnSpc>
                <a:spcPct val="105000"/>
              </a:lnSpc>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both are met</a:t>
            </a:r>
          </a:p>
        </p:txBody>
      </p:sp>
      <p:sp>
        <p:nvSpPr>
          <p:cNvPr id="12" name="">
            <a:extLst xmlns:a="http://schemas.openxmlformats.org/drawingml/2006/main">
              <a:ext uri="{FF2B5EF4-FFF2-40B4-BE49-F238E27FC236}">
                <a16:creationId xmlns:a16="http://schemas.microsoft.com/office/drawing/2014/main" id="{8131685A-619A-4226-83CF-5D262618B4EF}"/>
              </a:ext>
            </a:extLst>
          </p:cNvPr>
          <p:cNvSpPr>
            <a:spLocks xmlns:a="http://schemas.openxmlformats.org/drawingml/2006/main" noGrp="1"/>
          </p:cNvSpPr>
          <p:nvPr/>
        </p:nvSpPr>
        <p:spPr>
          <a:xfrm xmlns:a="http://schemas.openxmlformats.org/drawingml/2006/main">
            <a:off x="9715500" y="358140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a:solidFill>
                  <a:srgbClr val="C94B4B"/>
                </a:solidFill>
                <a:latin typeface="Helvetica Neue"/>
                <a:ea typeface="Helvetica Neue"/>
                <a:cs typeface="Helvetica Neue"/>
              </a:defRPr>
            </a:pPr>
            <a:r>
              <a:rPr sz="1500" b="1">
                <a:solidFill>
                  <a:srgbClr val="C94B4B"/>
                </a:solidFill>
                <a:latin typeface="Helvetica Neue"/>
                <a:ea typeface="Helvetica Neue"/>
                <a:cs typeface="Helvetica Neue"/>
              </a:rPr>
              <a:t>hard cap</a:t>
            </a:r>
          </a:p>
        </p:txBody>
      </p:sp>
      <p:sp>
        <p:nvSpPr>
          <p:cNvPr id="13" name="">
            <a:extLst xmlns:a="http://schemas.openxmlformats.org/drawingml/2006/main">
              <a:ext uri="{FF2B5EF4-FFF2-40B4-BE49-F238E27FC236}">
                <a16:creationId xmlns:a16="http://schemas.microsoft.com/office/drawing/2014/main" id="{EEBDB6C1-14AC-41A1-A609-C57B7C4FFE28}"/>
              </a:ext>
            </a:extLst>
          </p:cNvPr>
          <p:cNvSpPr>
            <a:spLocks xmlns:a="http://schemas.openxmlformats.org/drawingml/2006/main" noGrp="1"/>
          </p:cNvSpPr>
          <p:nvPr/>
        </p:nvSpPr>
        <p:spPr>
          <a:xfrm xmlns:a="http://schemas.openxmlformats.org/drawingml/2006/main">
            <a:off x="400050" y="4667250"/>
            <a:ext cx="3476625" cy="1143000"/>
          </a:xfrm>
          <a:prstGeom xmlns:a="http://schemas.openxmlformats.org/drawingml/2006/main" prst="roundRect">
            <a:avLst>
              <a:gd name="adj" fmla="val 10000"/>
            </a:avLst>
          </a:prstGeom>
          <a:solidFill xmlns:a="http://schemas.openxmlformats.org/drawingml/2006/main">
            <a:srgbClr val="F2F2F2"/>
          </a:solidFill>
          <a:ln xmlns:a="http://schemas.openxmlformats.org/drawingml/2006/main" w="0">
            <a:solidFill>
              <a:srgbClr val="F2F2F2"/>
            </a:solidFill>
            <a:prstDash val="solid"/>
          </a:ln>
        </p:spPr>
      </p:sp>
      <p:sp>
        <p:nvSpPr>
          <p:cNvPr id="14" name="">
            <a:extLst xmlns:a="http://schemas.openxmlformats.org/drawingml/2006/main">
              <a:ext uri="{FF2B5EF4-FFF2-40B4-BE49-F238E27FC236}">
                <a16:creationId xmlns:a16="http://schemas.microsoft.com/office/drawing/2014/main" id="{6D1B747D-F23C-4D91-BBC6-B2B39C1568D3}"/>
              </a:ext>
            </a:extLst>
          </p:cNvPr>
          <p:cNvSpPr>
            <a:spLocks xmlns:a="http://schemas.openxmlformats.org/drawingml/2006/main" noGrp="1"/>
          </p:cNvSpPr>
          <p:nvPr/>
        </p:nvSpPr>
        <p:spPr>
          <a:xfrm xmlns:a="http://schemas.openxmlformats.org/drawingml/2006/main">
            <a:off x="609600" y="48768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Target early</a:t>
            </a:r>
          </a:p>
        </p:txBody>
      </p:sp>
      <p:sp>
        <p:nvSpPr>
          <p:cNvPr id="15" name="">
            <a:extLst xmlns:a="http://schemas.openxmlformats.org/drawingml/2006/main">
              <a:ext uri="{FF2B5EF4-FFF2-40B4-BE49-F238E27FC236}">
                <a16:creationId xmlns:a16="http://schemas.microsoft.com/office/drawing/2014/main" id="{D99490BA-1892-4344-8C2D-DEED7882E6D6}"/>
              </a:ext>
            </a:extLst>
          </p:cNvPr>
          <p:cNvSpPr>
            <a:spLocks xmlns:a="http://schemas.openxmlformats.org/drawingml/2006/main" noGrp="1"/>
          </p:cNvSpPr>
          <p:nvPr/>
        </p:nvSpPr>
        <p:spPr>
          <a:xfrm xmlns:a="http://schemas.openxmlformats.org/drawingml/2006/main">
            <a:off x="609600" y="5238750"/>
            <a:ext cx="3000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Stay at the calendar floor; events may exceed target.</a:t>
            </a:r>
          </a:p>
        </p:txBody>
      </p:sp>
      <p:sp>
        <p:nvSpPr>
          <p:cNvPr id="16" name="">
            <a:extLst xmlns:a="http://schemas.openxmlformats.org/drawingml/2006/main">
              <a:ext uri="{FF2B5EF4-FFF2-40B4-BE49-F238E27FC236}">
                <a16:creationId xmlns:a16="http://schemas.microsoft.com/office/drawing/2014/main" id="{3780D5A9-153E-4970-B795-A904853FD9C0}"/>
              </a:ext>
            </a:extLst>
          </p:cNvPr>
          <p:cNvSpPr>
            <a:spLocks xmlns:a="http://schemas.openxmlformats.org/drawingml/2006/main" noGrp="1"/>
          </p:cNvSpPr>
          <p:nvPr/>
        </p:nvSpPr>
        <p:spPr>
          <a:xfrm xmlns:a="http://schemas.openxmlformats.org/drawingml/2006/main">
            <a:off x="4362450" y="4667250"/>
            <a:ext cx="3476625" cy="1143000"/>
          </a:xfrm>
          <a:prstGeom xmlns:a="http://schemas.openxmlformats.org/drawingml/2006/main" prst="roundRect">
            <a:avLst>
              <a:gd name="adj" fmla="val 10000"/>
            </a:avLst>
          </a:prstGeom>
          <a:solidFill xmlns:a="http://schemas.openxmlformats.org/drawingml/2006/main">
            <a:srgbClr val="EAF6FC"/>
          </a:solidFill>
          <a:ln xmlns:a="http://schemas.openxmlformats.org/drawingml/2006/main" w="0">
            <a:solidFill>
              <a:srgbClr val="EAF6FC"/>
            </a:solidFill>
            <a:prstDash val="solid"/>
          </a:ln>
        </p:spPr>
      </p:sp>
      <p:sp>
        <p:nvSpPr>
          <p:cNvPr id="17" name="">
            <a:extLst xmlns:a="http://schemas.openxmlformats.org/drawingml/2006/main">
              <a:ext uri="{FF2B5EF4-FFF2-40B4-BE49-F238E27FC236}">
                <a16:creationId xmlns:a16="http://schemas.microsoft.com/office/drawing/2014/main" id="{5F50B5DC-A9C3-4FCA-9710-BED5D3E2B70C}"/>
              </a:ext>
            </a:extLst>
          </p:cNvPr>
          <p:cNvSpPr>
            <a:spLocks xmlns:a="http://schemas.openxmlformats.org/drawingml/2006/main" noGrp="1"/>
          </p:cNvSpPr>
          <p:nvPr/>
        </p:nvSpPr>
        <p:spPr>
          <a:xfrm xmlns:a="http://schemas.openxmlformats.org/drawingml/2006/main">
            <a:off x="4572000" y="48768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Target late</a:t>
            </a:r>
          </a:p>
        </p:txBody>
      </p:sp>
      <p:sp>
        <p:nvSpPr>
          <p:cNvPr id="18" name="">
            <a:extLst xmlns:a="http://schemas.openxmlformats.org/drawingml/2006/main">
              <a:ext uri="{FF2B5EF4-FFF2-40B4-BE49-F238E27FC236}">
                <a16:creationId xmlns:a16="http://schemas.microsoft.com/office/drawing/2014/main" id="{C4481320-834D-4C4D-90FC-A0F4D641E543}"/>
              </a:ext>
            </a:extLst>
          </p:cNvPr>
          <p:cNvSpPr>
            <a:spLocks xmlns:a="http://schemas.openxmlformats.org/drawingml/2006/main" noGrp="1"/>
          </p:cNvSpPr>
          <p:nvPr/>
        </p:nvSpPr>
        <p:spPr>
          <a:xfrm xmlns:a="http://schemas.openxmlformats.org/drawingml/2006/main">
            <a:off x="4572000" y="5238750"/>
            <a:ext cx="3000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Delay until the expected target is reached.</a:t>
            </a:r>
          </a:p>
        </p:txBody>
      </p:sp>
      <p:sp>
        <p:nvSpPr>
          <p:cNvPr id="19" name="">
            <a:extLst xmlns:a="http://schemas.openxmlformats.org/drawingml/2006/main">
              <a:ext uri="{FF2B5EF4-FFF2-40B4-BE49-F238E27FC236}">
                <a16:creationId xmlns:a16="http://schemas.microsoft.com/office/drawing/2014/main" id="{F071FBBD-141C-48C2-92DE-2098FADA4587}"/>
              </a:ext>
            </a:extLst>
          </p:cNvPr>
          <p:cNvSpPr>
            <a:spLocks xmlns:a="http://schemas.openxmlformats.org/drawingml/2006/main" noGrp="1"/>
          </p:cNvSpPr>
          <p:nvPr/>
        </p:nvSpPr>
        <p:spPr>
          <a:xfrm xmlns:a="http://schemas.openxmlformats.org/drawingml/2006/main">
            <a:off x="8324850" y="4667250"/>
            <a:ext cx="3467100" cy="1143000"/>
          </a:xfrm>
          <a:prstGeom xmlns:a="http://schemas.openxmlformats.org/drawingml/2006/main" prst="roundRect">
            <a:avLst>
              <a:gd name="adj" fmla="val 10000"/>
            </a:avLst>
          </a:prstGeom>
          <a:solidFill xmlns:a="http://schemas.openxmlformats.org/drawingml/2006/main">
            <a:srgbClr val="F2F2F2"/>
          </a:solidFill>
          <a:ln xmlns:a="http://schemas.openxmlformats.org/drawingml/2006/main" w="0">
            <a:solidFill>
              <a:srgbClr val="F2F2F2"/>
            </a:solidFill>
            <a:prstDash val="solid"/>
          </a:ln>
        </p:spPr>
      </p:sp>
      <p:sp>
        <p:nvSpPr>
          <p:cNvPr id="20" name="">
            <a:extLst xmlns:a="http://schemas.openxmlformats.org/drawingml/2006/main">
              <a:ext uri="{FF2B5EF4-FFF2-40B4-BE49-F238E27FC236}">
                <a16:creationId xmlns:a16="http://schemas.microsoft.com/office/drawing/2014/main" id="{3EAF2AF1-615C-4675-B6C3-2572F7CA27AC}"/>
              </a:ext>
            </a:extLst>
          </p:cNvPr>
          <p:cNvSpPr>
            <a:spLocks xmlns:a="http://schemas.openxmlformats.org/drawingml/2006/main" noGrp="1"/>
          </p:cNvSpPr>
          <p:nvPr/>
        </p:nvSpPr>
        <p:spPr>
          <a:xfrm xmlns:a="http://schemas.openxmlformats.org/drawingml/2006/main">
            <a:off x="8534400" y="48768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C94B4B"/>
                </a:solidFill>
                <a:latin typeface="Helvetica Neue"/>
                <a:ea typeface="Helvetica Neue"/>
                <a:cs typeface="Helvetica Neue"/>
              </a:defRPr>
            </a:pPr>
            <a:r>
              <a:rPr sz="1650" b="1">
                <a:solidFill>
                  <a:srgbClr val="C94B4B"/>
                </a:solidFill>
                <a:latin typeface="Helvetica Neue"/>
                <a:ea typeface="Helvetica Neue"/>
                <a:cs typeface="Helvetica Neue"/>
              </a:rPr>
              <a:t>Cap first</a:t>
            </a:r>
          </a:p>
        </p:txBody>
      </p:sp>
      <p:sp>
        <p:nvSpPr>
          <p:cNvPr id="21" name="">
            <a:extLst xmlns:a="http://schemas.openxmlformats.org/drawingml/2006/main">
              <a:ext uri="{FF2B5EF4-FFF2-40B4-BE49-F238E27FC236}">
                <a16:creationId xmlns:a16="http://schemas.microsoft.com/office/drawing/2014/main" id="{F53FE50A-F53D-423B-A7FF-D4F7D3CA5AB6}"/>
              </a:ext>
            </a:extLst>
          </p:cNvPr>
          <p:cNvSpPr>
            <a:spLocks xmlns:a="http://schemas.openxmlformats.org/drawingml/2006/main" noGrp="1"/>
          </p:cNvSpPr>
          <p:nvPr/>
        </p:nvSpPr>
        <p:spPr>
          <a:xfrm xmlns:a="http://schemas.openxmlformats.org/drawingml/2006/main">
            <a:off x="8534400" y="5238750"/>
            <a:ext cx="3000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Analyze at the cap with fewer expected events.</a:t>
            </a:r>
          </a:p>
        </p:txBody>
      </p:sp>
    </p:spTree>
    <p:extLst>
      <p:ext uri="{BB962C8B-B14F-4D97-AF65-F5344CB8AC3E}">
        <p14:creationId xmlns:p14="http://schemas.microsoft.com/office/powerpoint/2010/main" val="602894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645FF26-B8D2-4949-AE2C-6C7A9EBBFD23}"/>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TIMING GRAMMAR</a:t>
            </a:r>
          </a:p>
        </p:txBody>
      </p:sp>
      <p:sp>
        <p:nvSpPr>
          <p:cNvPr id="2" name="">
            <a:extLst xmlns:a="http://schemas.openxmlformats.org/drawingml/2006/main">
              <a:ext uri="{FF2B5EF4-FFF2-40B4-BE49-F238E27FC236}">
                <a16:creationId xmlns:a16="http://schemas.microsoft.com/office/drawing/2014/main" id="{EC7B290C-0D34-4D51-8C3F-F0127EFD111D}"/>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195"/>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Translate protocol language into four argument families</a:t>
            </a:r>
          </a:p>
        </p:txBody>
      </p:sp>
      <p:sp>
        <p:nvSpPr>
          <p:cNvPr id="3" name="">
            <a:extLst xmlns:a="http://schemas.openxmlformats.org/drawingml/2006/main">
              <a:ext uri="{FF2B5EF4-FFF2-40B4-BE49-F238E27FC236}">
                <a16:creationId xmlns:a16="http://schemas.microsoft.com/office/drawing/2014/main" id="{0B161DF8-F791-4D74-B90D-6359CEC44076}"/>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F024DF4D-6956-4397-883B-985B4D3114BB}"/>
              </a:ext>
            </a:extLst>
          </p:cNvPr>
          <p:cNvSpPr>
            <a:spLocks xmlns:a="http://schemas.openxmlformats.org/drawingml/2006/main" noGrp="1"/>
          </p:cNvSpPr>
          <p:nvPr/>
        </p:nvSpPr>
        <p:spPr>
          <a:xfrm xmlns:a="http://schemas.openxmlformats.org/drawingml/2006/main">
            <a:off x="400050" y="1676400"/>
            <a:ext cx="2000250" cy="323850"/>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1E5025E4-CC71-4A14-95E8-7D5C5AEE5382}"/>
              </a:ext>
            </a:extLst>
          </p:cNvPr>
          <p:cNvSpPr>
            <a:spLocks xmlns:a="http://schemas.openxmlformats.org/drawingml/2006/main" noGrp="1"/>
          </p:cNvSpPr>
          <p:nvPr/>
        </p:nvSpPr>
        <p:spPr>
          <a:xfrm xmlns:a="http://schemas.openxmlformats.org/drawingml/2006/main">
            <a:off x="495300" y="17240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FLOOR</a:t>
            </a:r>
          </a:p>
        </p:txBody>
      </p:sp>
      <p:sp>
        <p:nvSpPr>
          <p:cNvPr id="6" name="">
            <a:extLst xmlns:a="http://schemas.openxmlformats.org/drawingml/2006/main">
              <a:ext uri="{FF2B5EF4-FFF2-40B4-BE49-F238E27FC236}">
                <a16:creationId xmlns:a16="http://schemas.microsoft.com/office/drawing/2014/main" id="{E3D43948-240A-4287-BD0A-2488B042339E}"/>
              </a:ext>
            </a:extLst>
          </p:cNvPr>
          <p:cNvSpPr>
            <a:spLocks xmlns:a="http://schemas.openxmlformats.org/drawingml/2006/main" noGrp="1"/>
          </p:cNvSpPr>
          <p:nvPr/>
        </p:nvSpPr>
        <p:spPr>
          <a:xfrm xmlns:a="http://schemas.openxmlformats.org/drawingml/2006/main">
            <a:off x="2714625" y="1638300"/>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000000"/>
                </a:solidFill>
                <a:latin typeface="SF Mono"/>
                <a:ea typeface="SF Mono"/>
                <a:cs typeface="SF Mono"/>
              </a:defRPr>
            </a:pPr>
            <a:r>
              <a:rPr sz="1725" b="1">
                <a:solidFill>
                  <a:srgbClr val="000000"/>
                </a:solidFill>
                <a:latin typeface="SF Mono"/>
                <a:ea typeface="SF Mono"/>
                <a:cs typeface="SF Mono"/>
              </a:rPr>
              <a:t>plannedCalendarTime; minTimeFromPreviousAnalysis</a:t>
            </a:r>
          </a:p>
        </p:txBody>
      </p:sp>
      <p:sp>
        <p:nvSpPr>
          <p:cNvPr id="7" name="">
            <a:extLst xmlns:a="http://schemas.openxmlformats.org/drawingml/2006/main">
              <a:ext uri="{FF2B5EF4-FFF2-40B4-BE49-F238E27FC236}">
                <a16:creationId xmlns:a16="http://schemas.microsoft.com/office/drawing/2014/main" id="{C768DE07-B049-45F2-9B85-6902F2567389}"/>
              </a:ext>
            </a:extLst>
          </p:cNvPr>
          <p:cNvSpPr>
            <a:spLocks xmlns:a="http://schemas.openxmlformats.org/drawingml/2006/main" noGrp="1"/>
          </p:cNvSpPr>
          <p:nvPr/>
        </p:nvSpPr>
        <p:spPr>
          <a:xfrm xmlns:a="http://schemas.openxmlformats.org/drawingml/2006/main">
            <a:off x="8048625" y="1638300"/>
            <a:ext cx="347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“Not before…”</a:t>
            </a:r>
          </a:p>
        </p:txBody>
      </p:sp>
      <p:sp>
        <p:nvSpPr>
          <p:cNvPr id="8" name="">
            <a:extLst xmlns:a="http://schemas.openxmlformats.org/drawingml/2006/main">
              <a:ext uri="{FF2B5EF4-FFF2-40B4-BE49-F238E27FC236}">
                <a16:creationId xmlns:a16="http://schemas.microsoft.com/office/drawing/2014/main" id="{ED6A0BEB-D618-4D31-A0E1-EFD88CDA1B1B}"/>
              </a:ext>
            </a:extLst>
          </p:cNvPr>
          <p:cNvSpPr>
            <a:spLocks xmlns:a="http://schemas.openxmlformats.org/drawingml/2006/main" noGrp="1"/>
          </p:cNvSpPr>
          <p:nvPr/>
        </p:nvSpPr>
        <p:spPr>
          <a:xfrm xmlns:a="http://schemas.openxmlformats.org/drawingml/2006/main">
            <a:off x="400050" y="2476500"/>
            <a:ext cx="11144250" cy="0"/>
          </a:xfrm>
          <a:prstGeom xmlns:a="http://schemas.openxmlformats.org/drawingml/2006/main" prst="line">
            <a:avLst/>
          </a:prstGeom>
          <a:noFill xmlns:a="http://schemas.openxmlformats.org/drawingml/2006/main"/>
          <a:ln xmlns:a="http://schemas.openxmlformats.org/drawingml/2006/main" w="9525">
            <a:solidFill>
              <a:srgbClr val="E2E5E9"/>
            </a:solidFill>
            <a:prstDash val="solid"/>
          </a:ln>
        </p:spPr>
      </p:sp>
      <p:sp>
        <p:nvSpPr>
          <p:cNvPr id="9" name="">
            <a:extLst xmlns:a="http://schemas.openxmlformats.org/drawingml/2006/main">
              <a:ext uri="{FF2B5EF4-FFF2-40B4-BE49-F238E27FC236}">
                <a16:creationId xmlns:a16="http://schemas.microsoft.com/office/drawing/2014/main" id="{3B9C8E22-B7A2-487A-ADE3-1067407E19FB}"/>
              </a:ext>
            </a:extLst>
          </p:cNvPr>
          <p:cNvSpPr>
            <a:spLocks xmlns:a="http://schemas.openxmlformats.org/drawingml/2006/main" noGrp="1"/>
          </p:cNvSpPr>
          <p:nvPr/>
        </p:nvSpPr>
        <p:spPr>
          <a:xfrm xmlns:a="http://schemas.openxmlformats.org/drawingml/2006/main">
            <a:off x="400050" y="2781300"/>
            <a:ext cx="2000250" cy="323850"/>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solidFill>
              <a:srgbClr val="F2F2F2"/>
            </a:solidFill>
            <a:prstDash val="solid"/>
          </a:ln>
        </p:spPr>
      </p:sp>
      <p:sp>
        <p:nvSpPr>
          <p:cNvPr id="10" name="">
            <a:extLst xmlns:a="http://schemas.openxmlformats.org/drawingml/2006/main">
              <a:ext uri="{FF2B5EF4-FFF2-40B4-BE49-F238E27FC236}">
                <a16:creationId xmlns:a16="http://schemas.microsoft.com/office/drawing/2014/main" id="{6A8C71AE-DF6C-4996-B57B-50DB2FFF772D}"/>
              </a:ext>
            </a:extLst>
          </p:cNvPr>
          <p:cNvSpPr>
            <a:spLocks xmlns:a="http://schemas.openxmlformats.org/drawingml/2006/main" noGrp="1"/>
          </p:cNvSpPr>
          <p:nvPr/>
        </p:nvSpPr>
        <p:spPr>
          <a:xfrm xmlns:a="http://schemas.openxmlformats.org/drawingml/2006/main">
            <a:off x="495300" y="28289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ctr">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ENROLLMENT + FOLLOW-UP</a:t>
            </a:r>
          </a:p>
        </p:txBody>
      </p:sp>
      <p:sp>
        <p:nvSpPr>
          <p:cNvPr id="11" name="">
            <a:extLst xmlns:a="http://schemas.openxmlformats.org/drawingml/2006/main">
              <a:ext uri="{FF2B5EF4-FFF2-40B4-BE49-F238E27FC236}">
                <a16:creationId xmlns:a16="http://schemas.microsoft.com/office/drawing/2014/main" id="{8D6BFD1F-5879-4E1B-928B-911BF47E14EF}"/>
              </a:ext>
            </a:extLst>
          </p:cNvPr>
          <p:cNvSpPr>
            <a:spLocks xmlns:a="http://schemas.openxmlformats.org/drawingml/2006/main" noGrp="1"/>
          </p:cNvSpPr>
          <p:nvPr/>
        </p:nvSpPr>
        <p:spPr>
          <a:xfrm xmlns:a="http://schemas.openxmlformats.org/drawingml/2006/main">
            <a:off x="2714625" y="2743200"/>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000000"/>
                </a:solidFill>
                <a:latin typeface="SF Mono"/>
                <a:ea typeface="SF Mono"/>
                <a:cs typeface="SF Mono"/>
              </a:defRPr>
            </a:pPr>
            <a:r>
              <a:rPr sz="1725" b="1">
                <a:solidFill>
                  <a:srgbClr val="000000"/>
                </a:solidFill>
                <a:latin typeface="SF Mono"/>
                <a:ea typeface="SF Mono"/>
                <a:cs typeface="SF Mono"/>
              </a:rPr>
              <a:t>minN / minNPerStratum + minFollowUp; minfup</a:t>
            </a:r>
          </a:p>
        </p:txBody>
      </p:sp>
      <p:sp>
        <p:nvSpPr>
          <p:cNvPr id="12" name="">
            <a:extLst xmlns:a="http://schemas.openxmlformats.org/drawingml/2006/main">
              <a:ext uri="{FF2B5EF4-FFF2-40B4-BE49-F238E27FC236}">
                <a16:creationId xmlns:a16="http://schemas.microsoft.com/office/drawing/2014/main" id="{3BE77CE0-0F05-437A-AB38-28BDB70E5016}"/>
              </a:ext>
            </a:extLst>
          </p:cNvPr>
          <p:cNvSpPr>
            <a:spLocks xmlns:a="http://schemas.openxmlformats.org/drawingml/2006/main" noGrp="1"/>
          </p:cNvSpPr>
          <p:nvPr/>
        </p:nvSpPr>
        <p:spPr>
          <a:xfrm xmlns:a="http://schemas.openxmlformats.org/drawingml/2006/main">
            <a:off x="8048625" y="2743200"/>
            <a:ext cx="347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“After N enrolled and X months follow-up…”</a:t>
            </a:r>
          </a:p>
        </p:txBody>
      </p:sp>
      <p:sp>
        <p:nvSpPr>
          <p:cNvPr id="13" name="">
            <a:extLst xmlns:a="http://schemas.openxmlformats.org/drawingml/2006/main">
              <a:ext uri="{FF2B5EF4-FFF2-40B4-BE49-F238E27FC236}">
                <a16:creationId xmlns:a16="http://schemas.microsoft.com/office/drawing/2014/main" id="{887857F9-F77C-4235-83E6-B4AADAE762A5}"/>
              </a:ext>
            </a:extLst>
          </p:cNvPr>
          <p:cNvSpPr>
            <a:spLocks xmlns:a="http://schemas.openxmlformats.org/drawingml/2006/main" noGrp="1"/>
          </p:cNvSpPr>
          <p:nvPr/>
        </p:nvSpPr>
        <p:spPr>
          <a:xfrm xmlns:a="http://schemas.openxmlformats.org/drawingml/2006/main">
            <a:off x="400050" y="3581400"/>
            <a:ext cx="11144250" cy="0"/>
          </a:xfrm>
          <a:prstGeom xmlns:a="http://schemas.openxmlformats.org/drawingml/2006/main" prst="line">
            <a:avLst/>
          </a:prstGeom>
          <a:noFill xmlns:a="http://schemas.openxmlformats.org/drawingml/2006/main"/>
          <a:ln xmlns:a="http://schemas.openxmlformats.org/drawingml/2006/main" w="9525">
            <a:solidFill>
              <a:srgbClr val="E2E5E9"/>
            </a:solidFill>
            <a:prstDash val="solid"/>
          </a:ln>
        </p:spPr>
      </p:sp>
      <p:sp>
        <p:nvSpPr>
          <p:cNvPr id="14" name="">
            <a:extLst xmlns:a="http://schemas.openxmlformats.org/drawingml/2006/main">
              <a:ext uri="{FF2B5EF4-FFF2-40B4-BE49-F238E27FC236}">
                <a16:creationId xmlns:a16="http://schemas.microsoft.com/office/drawing/2014/main" id="{0F25D82C-18FE-4A98-9AAC-414F90B2D8FD}"/>
              </a:ext>
            </a:extLst>
          </p:cNvPr>
          <p:cNvSpPr>
            <a:spLocks xmlns:a="http://schemas.openxmlformats.org/drawingml/2006/main" noGrp="1"/>
          </p:cNvSpPr>
          <p:nvPr/>
        </p:nvSpPr>
        <p:spPr>
          <a:xfrm xmlns:a="http://schemas.openxmlformats.org/drawingml/2006/main">
            <a:off x="400050" y="3886200"/>
            <a:ext cx="2000250" cy="323850"/>
          </a:xfrm>
          <a:prstGeom xmlns:a="http://schemas.openxmlformats.org/drawingml/2006/main" prst="roundRect">
            <a:avLst>
              <a:gd name="adj" fmla="val 50000"/>
            </a:avLst>
          </a:prstGeom>
          <a:solidFill xmlns:a="http://schemas.openxmlformats.org/drawingml/2006/main">
            <a:srgbClr val="EAF6FC"/>
          </a:solidFill>
          <a:ln xmlns:a="http://schemas.openxmlformats.org/drawingml/2006/main" w="0">
            <a:solidFill>
              <a:srgbClr val="EAF6FC"/>
            </a:solidFill>
            <a:prstDash val="solid"/>
          </a:ln>
        </p:spPr>
      </p:sp>
      <p:sp>
        <p:nvSpPr>
          <p:cNvPr id="15" name="">
            <a:extLst xmlns:a="http://schemas.openxmlformats.org/drawingml/2006/main">
              <a:ext uri="{FF2B5EF4-FFF2-40B4-BE49-F238E27FC236}">
                <a16:creationId xmlns:a16="http://schemas.microsoft.com/office/drawing/2014/main" id="{C69C24B6-2781-4AFF-8331-C9E37B4F2DC3}"/>
              </a:ext>
            </a:extLst>
          </p:cNvPr>
          <p:cNvSpPr>
            <a:spLocks xmlns:a="http://schemas.openxmlformats.org/drawingml/2006/main" noGrp="1"/>
          </p:cNvSpPr>
          <p:nvPr/>
        </p:nvSpPr>
        <p:spPr>
          <a:xfrm xmlns:a="http://schemas.openxmlformats.org/drawingml/2006/main">
            <a:off x="495300" y="39338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EVENT GATE</a:t>
            </a:r>
          </a:p>
        </p:txBody>
      </p:sp>
      <p:sp>
        <p:nvSpPr>
          <p:cNvPr id="16" name="">
            <a:extLst xmlns:a="http://schemas.openxmlformats.org/drawingml/2006/main">
              <a:ext uri="{FF2B5EF4-FFF2-40B4-BE49-F238E27FC236}">
                <a16:creationId xmlns:a16="http://schemas.microsoft.com/office/drawing/2014/main" id="{2EC5C228-4AD8-4771-8C97-82CA32DB6B06}"/>
              </a:ext>
            </a:extLst>
          </p:cNvPr>
          <p:cNvSpPr>
            <a:spLocks xmlns:a="http://schemas.openxmlformats.org/drawingml/2006/main" noGrp="1"/>
          </p:cNvSpPr>
          <p:nvPr/>
        </p:nvSpPr>
        <p:spPr>
          <a:xfrm xmlns:a="http://schemas.openxmlformats.org/drawingml/2006/main">
            <a:off x="2714625" y="3848100"/>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000000"/>
                </a:solidFill>
                <a:latin typeface="SF Mono"/>
                <a:ea typeface="SF Mono"/>
                <a:cs typeface="SF Mono"/>
              </a:defRPr>
            </a:pPr>
            <a:r>
              <a:rPr sz="1725" b="1">
                <a:solidFill>
                  <a:srgbClr val="000000"/>
                </a:solidFill>
                <a:latin typeface="SF Mono"/>
                <a:ea typeface="SF Mono"/>
                <a:cs typeface="SF Mono"/>
              </a:rPr>
              <a:t>targetEvents; targetEventsPerStratum</a:t>
            </a:r>
          </a:p>
        </p:txBody>
      </p:sp>
      <p:sp>
        <p:nvSpPr>
          <p:cNvPr id="17" name="">
            <a:extLst xmlns:a="http://schemas.openxmlformats.org/drawingml/2006/main">
              <a:ext uri="{FF2B5EF4-FFF2-40B4-BE49-F238E27FC236}">
                <a16:creationId xmlns:a16="http://schemas.microsoft.com/office/drawing/2014/main" id="{5054D3D8-D124-4B68-A298-468DE86D9763}"/>
              </a:ext>
            </a:extLst>
          </p:cNvPr>
          <p:cNvSpPr>
            <a:spLocks xmlns:a="http://schemas.openxmlformats.org/drawingml/2006/main" noGrp="1"/>
          </p:cNvSpPr>
          <p:nvPr/>
        </p:nvSpPr>
        <p:spPr>
          <a:xfrm xmlns:a="http://schemas.openxmlformats.org/drawingml/2006/main">
            <a:off x="8048625" y="3848100"/>
            <a:ext cx="347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“After at least E events…”</a:t>
            </a:r>
          </a:p>
        </p:txBody>
      </p:sp>
      <p:sp>
        <p:nvSpPr>
          <p:cNvPr id="18" name="">
            <a:extLst xmlns:a="http://schemas.openxmlformats.org/drawingml/2006/main">
              <a:ext uri="{FF2B5EF4-FFF2-40B4-BE49-F238E27FC236}">
                <a16:creationId xmlns:a16="http://schemas.microsoft.com/office/drawing/2014/main" id="{491B7352-BCC9-47B6-8B6D-FF8FFCD21282}"/>
              </a:ext>
            </a:extLst>
          </p:cNvPr>
          <p:cNvSpPr>
            <a:spLocks xmlns:a="http://schemas.openxmlformats.org/drawingml/2006/main" noGrp="1"/>
          </p:cNvSpPr>
          <p:nvPr/>
        </p:nvSpPr>
        <p:spPr>
          <a:xfrm xmlns:a="http://schemas.openxmlformats.org/drawingml/2006/main">
            <a:off x="400050" y="4686300"/>
            <a:ext cx="11144250" cy="0"/>
          </a:xfrm>
          <a:prstGeom xmlns:a="http://schemas.openxmlformats.org/drawingml/2006/main" prst="line">
            <a:avLst/>
          </a:prstGeom>
          <a:noFill xmlns:a="http://schemas.openxmlformats.org/drawingml/2006/main"/>
          <a:ln xmlns:a="http://schemas.openxmlformats.org/drawingml/2006/main" w="9525">
            <a:solidFill>
              <a:srgbClr val="E2E5E9"/>
            </a:solidFill>
            <a:prstDash val="solid"/>
          </a:ln>
        </p:spPr>
      </p:sp>
      <p:sp>
        <p:nvSpPr>
          <p:cNvPr id="19" name="">
            <a:extLst xmlns:a="http://schemas.openxmlformats.org/drawingml/2006/main">
              <a:ext uri="{FF2B5EF4-FFF2-40B4-BE49-F238E27FC236}">
                <a16:creationId xmlns:a16="http://schemas.microsoft.com/office/drawing/2014/main" id="{3C4C8AD7-9585-44C8-A3E4-943FC36B618F}"/>
              </a:ext>
            </a:extLst>
          </p:cNvPr>
          <p:cNvSpPr>
            <a:spLocks xmlns:a="http://schemas.openxmlformats.org/drawingml/2006/main" noGrp="1"/>
          </p:cNvSpPr>
          <p:nvPr/>
        </p:nvSpPr>
        <p:spPr>
          <a:xfrm xmlns:a="http://schemas.openxmlformats.org/drawingml/2006/main">
            <a:off x="400050" y="4991100"/>
            <a:ext cx="2000250" cy="323850"/>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solidFill>
              <a:srgbClr val="F2F2F2"/>
            </a:solidFill>
            <a:prstDash val="solid"/>
          </a:ln>
        </p:spPr>
      </p:sp>
      <p:sp>
        <p:nvSpPr>
          <p:cNvPr id="20" name="">
            <a:extLst xmlns:a="http://schemas.openxmlformats.org/drawingml/2006/main">
              <a:ext uri="{FF2B5EF4-FFF2-40B4-BE49-F238E27FC236}">
                <a16:creationId xmlns:a16="http://schemas.microsoft.com/office/drawing/2014/main" id="{F6B0E8E7-6CAD-4115-B4E8-8576B9E2A7DA}"/>
              </a:ext>
            </a:extLst>
          </p:cNvPr>
          <p:cNvSpPr>
            <a:spLocks xmlns:a="http://schemas.openxmlformats.org/drawingml/2006/main" noGrp="1"/>
          </p:cNvSpPr>
          <p:nvPr/>
        </p:nvSpPr>
        <p:spPr>
          <a:xfrm xmlns:a="http://schemas.openxmlformats.org/drawingml/2006/main">
            <a:off x="495300" y="50387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DEADLINE</a:t>
            </a:r>
          </a:p>
        </p:txBody>
      </p:sp>
      <p:sp>
        <p:nvSpPr>
          <p:cNvPr id="21" name="">
            <a:extLst xmlns:a="http://schemas.openxmlformats.org/drawingml/2006/main">
              <a:ext uri="{FF2B5EF4-FFF2-40B4-BE49-F238E27FC236}">
                <a16:creationId xmlns:a16="http://schemas.microsoft.com/office/drawing/2014/main" id="{4EF77E0A-6DB5-4935-996D-F358A0845970}"/>
              </a:ext>
            </a:extLst>
          </p:cNvPr>
          <p:cNvSpPr>
            <a:spLocks xmlns:a="http://schemas.openxmlformats.org/drawingml/2006/main" noGrp="1"/>
          </p:cNvSpPr>
          <p:nvPr/>
        </p:nvSpPr>
        <p:spPr>
          <a:xfrm xmlns:a="http://schemas.openxmlformats.org/drawingml/2006/main">
            <a:off x="2714625" y="4953000"/>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000000"/>
                </a:solidFill>
                <a:latin typeface="SF Mono"/>
                <a:ea typeface="SF Mono"/>
                <a:cs typeface="SF Mono"/>
              </a:defRPr>
            </a:pPr>
            <a:r>
              <a:rPr sz="1725" b="1">
                <a:solidFill>
                  <a:srgbClr val="000000"/>
                </a:solidFill>
                <a:latin typeface="SF Mono"/>
                <a:ea typeface="SF Mono"/>
                <a:cs typeface="SF Mono"/>
              </a:rPr>
              <a:t>maxExtension; maxCalendarTime</a:t>
            </a:r>
          </a:p>
        </p:txBody>
      </p:sp>
      <p:sp>
        <p:nvSpPr>
          <p:cNvPr id="22" name="">
            <a:extLst xmlns:a="http://schemas.openxmlformats.org/drawingml/2006/main">
              <a:ext uri="{FF2B5EF4-FFF2-40B4-BE49-F238E27FC236}">
                <a16:creationId xmlns:a16="http://schemas.microsoft.com/office/drawing/2014/main" id="{9B070644-80FC-4E07-BAC2-859A5B8EF3BE}"/>
              </a:ext>
            </a:extLst>
          </p:cNvPr>
          <p:cNvSpPr>
            <a:spLocks xmlns:a="http://schemas.openxmlformats.org/drawingml/2006/main" noGrp="1"/>
          </p:cNvSpPr>
          <p:nvPr/>
        </p:nvSpPr>
        <p:spPr>
          <a:xfrm xmlns:a="http://schemas.openxmlformats.org/drawingml/2006/main">
            <a:off x="8048625" y="4953000"/>
            <a:ext cx="347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“But no later than…”</a:t>
            </a:r>
          </a:p>
        </p:txBody>
      </p:sp>
      <p:sp>
        <p:nvSpPr>
          <p:cNvPr id="23" name="">
            <a:extLst xmlns:a="http://schemas.openxmlformats.org/drawingml/2006/main">
              <a:ext uri="{FF2B5EF4-FFF2-40B4-BE49-F238E27FC236}">
                <a16:creationId xmlns:a16="http://schemas.microsoft.com/office/drawing/2014/main" id="{BC262219-D3E0-49BC-A5E6-1542C5D34765}"/>
              </a:ext>
            </a:extLst>
          </p:cNvPr>
          <p:cNvSpPr>
            <a:spLocks xmlns:a="http://schemas.openxmlformats.org/drawingml/2006/main" noGrp="1"/>
          </p:cNvSpPr>
          <p:nvPr/>
        </p:nvSpPr>
        <p:spPr>
          <a:xfrm xmlns:a="http://schemas.openxmlformats.org/drawingml/2006/main">
            <a:off x="400050" y="60960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Timing inputs only: scalar → all looks   •   length k → look-specific   •   NA → inactive</a:t>
            </a:r>
          </a:p>
        </p:txBody>
      </p:sp>
    </p:spTree>
    <p:extLst>
      <p:ext uri="{BB962C8B-B14F-4D97-AF65-F5344CB8AC3E}">
        <p14:creationId xmlns:p14="http://schemas.microsoft.com/office/powerpoint/2010/main" val="5001785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99500EB7-E680-4047-84D4-7D96274A5C21}"/>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EXPECTED VS SIMULATED</a:t>
            </a:r>
          </a:p>
        </p:txBody>
      </p:sp>
      <p:sp>
        <p:nvSpPr>
          <p:cNvPr id="2" name="">
            <a:extLst xmlns:a="http://schemas.openxmlformats.org/drawingml/2006/main">
              <a:ext uri="{FF2B5EF4-FFF2-40B4-BE49-F238E27FC236}">
                <a16:creationId xmlns:a16="http://schemas.microsoft.com/office/drawing/2014/main" id="{7B8437E2-8D54-47E0-81B6-40F7EE655AAC}"/>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The grammar intentionally parallels simtrial cuts</a:t>
            </a:r>
          </a:p>
        </p:txBody>
      </p:sp>
      <p:sp>
        <p:nvSpPr>
          <p:cNvPr id="3" name="">
            <a:extLst xmlns:a="http://schemas.openxmlformats.org/drawingml/2006/main">
              <a:ext uri="{FF2B5EF4-FFF2-40B4-BE49-F238E27FC236}">
                <a16:creationId xmlns:a16="http://schemas.microsoft.com/office/drawing/2014/main" id="{5990DF02-A150-4787-A74B-BCF62D917457}"/>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79F89975-E2D6-44C2-851F-976F4D145FF6}"/>
              </a:ext>
            </a:extLst>
          </p:cNvPr>
          <p:cNvSpPr>
            <a:spLocks xmlns:a="http://schemas.openxmlformats.org/drawingml/2006/main" noGrp="1"/>
          </p:cNvSpPr>
          <p:nvPr/>
        </p:nvSpPr>
        <p:spPr>
          <a:xfrm xmlns:a="http://schemas.openxmlformats.org/drawingml/2006/main">
            <a:off x="400050" y="1571625"/>
            <a:ext cx="3905250" cy="5905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5" name="">
            <a:extLst xmlns:a="http://schemas.openxmlformats.org/drawingml/2006/main">
              <a:ext uri="{FF2B5EF4-FFF2-40B4-BE49-F238E27FC236}">
                <a16:creationId xmlns:a16="http://schemas.microsoft.com/office/drawing/2014/main" id="{E2788203-1BA5-4964-9B4E-EB8E4326CD44}"/>
              </a:ext>
            </a:extLst>
          </p:cNvPr>
          <p:cNvSpPr>
            <a:spLocks xmlns:a="http://schemas.openxmlformats.org/drawingml/2006/main" noGrp="1"/>
          </p:cNvSpPr>
          <p:nvPr/>
        </p:nvSpPr>
        <p:spPr>
          <a:xfrm xmlns:a="http://schemas.openxmlformats.org/drawingml/2006/main">
            <a:off x="495300" y="16383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simtrial</a:t>
            </a:r>
          </a:p>
        </p:txBody>
      </p:sp>
      <p:sp>
        <p:nvSpPr>
          <p:cNvPr id="6" name="">
            <a:extLst xmlns:a="http://schemas.openxmlformats.org/drawingml/2006/main">
              <a:ext uri="{FF2B5EF4-FFF2-40B4-BE49-F238E27FC236}">
                <a16:creationId xmlns:a16="http://schemas.microsoft.com/office/drawing/2014/main" id="{BFF7F1BE-F3C8-434E-A3A2-5D0818F36E13}"/>
              </a:ext>
            </a:extLst>
          </p:cNvPr>
          <p:cNvSpPr>
            <a:spLocks xmlns:a="http://schemas.openxmlformats.org/drawingml/2006/main" noGrp="1"/>
          </p:cNvSpPr>
          <p:nvPr/>
        </p:nvSpPr>
        <p:spPr>
          <a:xfrm xmlns:a="http://schemas.openxmlformats.org/drawingml/2006/main">
            <a:off x="4305300" y="1571625"/>
            <a:ext cx="4095750" cy="5905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7" name="">
            <a:extLst xmlns:a="http://schemas.openxmlformats.org/drawingml/2006/main">
              <a:ext uri="{FF2B5EF4-FFF2-40B4-BE49-F238E27FC236}">
                <a16:creationId xmlns:a16="http://schemas.microsoft.com/office/drawing/2014/main" id="{1701B9EE-1562-49DC-8427-B66D33934F0B}"/>
              </a:ext>
            </a:extLst>
          </p:cNvPr>
          <p:cNvSpPr>
            <a:spLocks xmlns:a="http://schemas.openxmlformats.org/drawingml/2006/main" noGrp="1"/>
          </p:cNvSpPr>
          <p:nvPr/>
        </p:nvSpPr>
        <p:spPr>
          <a:xfrm xmlns:a="http://schemas.openxmlformats.org/drawingml/2006/main">
            <a:off x="4400550" y="1638300"/>
            <a:ext cx="3905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gsSurvPower</a:t>
            </a:r>
          </a:p>
        </p:txBody>
      </p:sp>
      <p:sp>
        <p:nvSpPr>
          <p:cNvPr id="8" name="">
            <a:extLst xmlns:a="http://schemas.openxmlformats.org/drawingml/2006/main">
              <a:ext uri="{FF2B5EF4-FFF2-40B4-BE49-F238E27FC236}">
                <a16:creationId xmlns:a16="http://schemas.microsoft.com/office/drawing/2014/main" id="{59DB6539-E7AE-46A3-A26A-F1322412B14B}"/>
              </a:ext>
            </a:extLst>
          </p:cNvPr>
          <p:cNvSpPr>
            <a:spLocks xmlns:a="http://schemas.openxmlformats.org/drawingml/2006/main" noGrp="1"/>
          </p:cNvSpPr>
          <p:nvPr/>
        </p:nvSpPr>
        <p:spPr>
          <a:xfrm xmlns:a="http://schemas.openxmlformats.org/drawingml/2006/main">
            <a:off x="8401050" y="1571625"/>
            <a:ext cx="3143250" cy="5905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9" name="">
            <a:extLst xmlns:a="http://schemas.openxmlformats.org/drawingml/2006/main">
              <a:ext uri="{FF2B5EF4-FFF2-40B4-BE49-F238E27FC236}">
                <a16:creationId xmlns:a16="http://schemas.microsoft.com/office/drawing/2014/main" id="{F31C0B52-4360-496E-BA62-ACC18F8A94CC}"/>
              </a:ext>
            </a:extLst>
          </p:cNvPr>
          <p:cNvSpPr>
            <a:spLocks xmlns:a="http://schemas.openxmlformats.org/drawingml/2006/main" noGrp="1"/>
          </p:cNvSpPr>
          <p:nvPr/>
        </p:nvSpPr>
        <p:spPr>
          <a:xfrm xmlns:a="http://schemas.openxmlformats.org/drawingml/2006/main">
            <a:off x="8496300" y="16383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Meaning</a:t>
            </a:r>
          </a:p>
        </p:txBody>
      </p:sp>
      <p:sp>
        <p:nvSpPr>
          <p:cNvPr id="10" name="">
            <a:extLst xmlns:a="http://schemas.openxmlformats.org/drawingml/2006/main">
              <a:ext uri="{FF2B5EF4-FFF2-40B4-BE49-F238E27FC236}">
                <a16:creationId xmlns:a16="http://schemas.microsoft.com/office/drawing/2014/main" id="{97F36BC4-FFD8-4ACF-8E97-3FB12258DB28}"/>
              </a:ext>
            </a:extLst>
          </p:cNvPr>
          <p:cNvSpPr>
            <a:spLocks xmlns:a="http://schemas.openxmlformats.org/drawingml/2006/main" noGrp="1"/>
          </p:cNvSpPr>
          <p:nvPr/>
        </p:nvSpPr>
        <p:spPr>
          <a:xfrm xmlns:a="http://schemas.openxmlformats.org/drawingml/2006/main">
            <a:off x="400050" y="2162175"/>
            <a:ext cx="3905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1" name="">
            <a:extLst xmlns:a="http://schemas.openxmlformats.org/drawingml/2006/main">
              <a:ext uri="{FF2B5EF4-FFF2-40B4-BE49-F238E27FC236}">
                <a16:creationId xmlns:a16="http://schemas.microsoft.com/office/drawing/2014/main" id="{9F2A65CE-73AC-48DB-A80D-71E850C95659}"/>
              </a:ext>
            </a:extLst>
          </p:cNvPr>
          <p:cNvSpPr>
            <a:spLocks xmlns:a="http://schemas.openxmlformats.org/drawingml/2006/main" noGrp="1"/>
          </p:cNvSpPr>
          <p:nvPr/>
        </p:nvSpPr>
        <p:spPr>
          <a:xfrm xmlns:a="http://schemas.openxmlformats.org/drawingml/2006/main">
            <a:off x="495300" y="22288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planned_calendar_time</a:t>
            </a:r>
          </a:p>
        </p:txBody>
      </p:sp>
      <p:sp>
        <p:nvSpPr>
          <p:cNvPr id="12" name="">
            <a:extLst xmlns:a="http://schemas.openxmlformats.org/drawingml/2006/main">
              <a:ext uri="{FF2B5EF4-FFF2-40B4-BE49-F238E27FC236}">
                <a16:creationId xmlns:a16="http://schemas.microsoft.com/office/drawing/2014/main" id="{1195BDC6-0B71-4E46-B1F0-AED84340C34A}"/>
              </a:ext>
            </a:extLst>
          </p:cNvPr>
          <p:cNvSpPr>
            <a:spLocks xmlns:a="http://schemas.openxmlformats.org/drawingml/2006/main" noGrp="1"/>
          </p:cNvSpPr>
          <p:nvPr/>
        </p:nvSpPr>
        <p:spPr>
          <a:xfrm xmlns:a="http://schemas.openxmlformats.org/drawingml/2006/main">
            <a:off x="4305300" y="2162175"/>
            <a:ext cx="40957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3" name="">
            <a:extLst xmlns:a="http://schemas.openxmlformats.org/drawingml/2006/main">
              <a:ext uri="{FF2B5EF4-FFF2-40B4-BE49-F238E27FC236}">
                <a16:creationId xmlns:a16="http://schemas.microsoft.com/office/drawing/2014/main" id="{DF5F07DB-2C8A-4EE0-9508-651C87BCFC38}"/>
              </a:ext>
            </a:extLst>
          </p:cNvPr>
          <p:cNvSpPr>
            <a:spLocks xmlns:a="http://schemas.openxmlformats.org/drawingml/2006/main" noGrp="1"/>
          </p:cNvSpPr>
          <p:nvPr/>
        </p:nvSpPr>
        <p:spPr>
          <a:xfrm xmlns:a="http://schemas.openxmlformats.org/drawingml/2006/main">
            <a:off x="4400550" y="2228850"/>
            <a:ext cx="3905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plannedCalendarTime</a:t>
            </a:r>
          </a:p>
        </p:txBody>
      </p:sp>
      <p:sp>
        <p:nvSpPr>
          <p:cNvPr id="14" name="">
            <a:extLst xmlns:a="http://schemas.openxmlformats.org/drawingml/2006/main">
              <a:ext uri="{FF2B5EF4-FFF2-40B4-BE49-F238E27FC236}">
                <a16:creationId xmlns:a16="http://schemas.microsoft.com/office/drawing/2014/main" id="{F3B4A6B2-298A-4A39-99D9-580C26ED7A5C}"/>
              </a:ext>
            </a:extLst>
          </p:cNvPr>
          <p:cNvSpPr>
            <a:spLocks xmlns:a="http://schemas.openxmlformats.org/drawingml/2006/main" noGrp="1"/>
          </p:cNvSpPr>
          <p:nvPr/>
        </p:nvSpPr>
        <p:spPr>
          <a:xfrm xmlns:a="http://schemas.openxmlformats.org/drawingml/2006/main">
            <a:off x="8401050" y="2162175"/>
            <a:ext cx="3143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5" name="">
            <a:extLst xmlns:a="http://schemas.openxmlformats.org/drawingml/2006/main">
              <a:ext uri="{FF2B5EF4-FFF2-40B4-BE49-F238E27FC236}">
                <a16:creationId xmlns:a16="http://schemas.microsoft.com/office/drawing/2014/main" id="{924DB73F-5013-45E2-B042-42878BEB8092}"/>
              </a:ext>
            </a:extLst>
          </p:cNvPr>
          <p:cNvSpPr>
            <a:spLocks xmlns:a="http://schemas.openxmlformats.org/drawingml/2006/main" noGrp="1"/>
          </p:cNvSpPr>
          <p:nvPr/>
        </p:nvSpPr>
        <p:spPr>
          <a:xfrm xmlns:a="http://schemas.openxmlformats.org/drawingml/2006/main">
            <a:off x="8496300" y="22288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calendar floor</a:t>
            </a:r>
          </a:p>
        </p:txBody>
      </p:sp>
      <p:sp>
        <p:nvSpPr>
          <p:cNvPr id="16" name="">
            <a:extLst xmlns:a="http://schemas.openxmlformats.org/drawingml/2006/main">
              <a:ext uri="{FF2B5EF4-FFF2-40B4-BE49-F238E27FC236}">
                <a16:creationId xmlns:a16="http://schemas.microsoft.com/office/drawing/2014/main" id="{57E52DCF-8A4E-416D-9844-E068BFF001F7}"/>
              </a:ext>
            </a:extLst>
          </p:cNvPr>
          <p:cNvSpPr>
            <a:spLocks xmlns:a="http://schemas.openxmlformats.org/drawingml/2006/main" noGrp="1"/>
          </p:cNvSpPr>
          <p:nvPr/>
        </p:nvSpPr>
        <p:spPr>
          <a:xfrm xmlns:a="http://schemas.openxmlformats.org/drawingml/2006/main">
            <a:off x="400050" y="2752725"/>
            <a:ext cx="3905250" cy="5905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17" name="">
            <a:extLst xmlns:a="http://schemas.openxmlformats.org/drawingml/2006/main">
              <a:ext uri="{FF2B5EF4-FFF2-40B4-BE49-F238E27FC236}">
                <a16:creationId xmlns:a16="http://schemas.microsoft.com/office/drawing/2014/main" id="{7239C730-3807-449C-95B3-7B58F533EF97}"/>
              </a:ext>
            </a:extLst>
          </p:cNvPr>
          <p:cNvSpPr>
            <a:spLocks xmlns:a="http://schemas.openxmlformats.org/drawingml/2006/main" noGrp="1"/>
          </p:cNvSpPr>
          <p:nvPr/>
        </p:nvSpPr>
        <p:spPr>
          <a:xfrm xmlns:a="http://schemas.openxmlformats.org/drawingml/2006/main">
            <a:off x="495300" y="28194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target_event_overall</a:t>
            </a:r>
          </a:p>
        </p:txBody>
      </p:sp>
      <p:sp>
        <p:nvSpPr>
          <p:cNvPr id="18" name="">
            <a:extLst xmlns:a="http://schemas.openxmlformats.org/drawingml/2006/main">
              <a:ext uri="{FF2B5EF4-FFF2-40B4-BE49-F238E27FC236}">
                <a16:creationId xmlns:a16="http://schemas.microsoft.com/office/drawing/2014/main" id="{EE5027BF-BFEB-44B5-BE57-E3604831FCF8}"/>
              </a:ext>
            </a:extLst>
          </p:cNvPr>
          <p:cNvSpPr>
            <a:spLocks xmlns:a="http://schemas.openxmlformats.org/drawingml/2006/main" noGrp="1"/>
          </p:cNvSpPr>
          <p:nvPr/>
        </p:nvSpPr>
        <p:spPr>
          <a:xfrm xmlns:a="http://schemas.openxmlformats.org/drawingml/2006/main">
            <a:off x="4305300" y="2752725"/>
            <a:ext cx="4095750" cy="5905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19" name="">
            <a:extLst xmlns:a="http://schemas.openxmlformats.org/drawingml/2006/main">
              <a:ext uri="{FF2B5EF4-FFF2-40B4-BE49-F238E27FC236}">
                <a16:creationId xmlns:a16="http://schemas.microsoft.com/office/drawing/2014/main" id="{18DFBB63-D2B0-4E17-BCD9-9CEFAD2C2E12}"/>
              </a:ext>
            </a:extLst>
          </p:cNvPr>
          <p:cNvSpPr>
            <a:spLocks xmlns:a="http://schemas.openxmlformats.org/drawingml/2006/main" noGrp="1"/>
          </p:cNvSpPr>
          <p:nvPr/>
        </p:nvSpPr>
        <p:spPr>
          <a:xfrm xmlns:a="http://schemas.openxmlformats.org/drawingml/2006/main">
            <a:off x="4400550" y="2819400"/>
            <a:ext cx="3905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targetEvents</a:t>
            </a:r>
          </a:p>
        </p:txBody>
      </p:sp>
      <p:sp>
        <p:nvSpPr>
          <p:cNvPr id="20" name="">
            <a:extLst xmlns:a="http://schemas.openxmlformats.org/drawingml/2006/main">
              <a:ext uri="{FF2B5EF4-FFF2-40B4-BE49-F238E27FC236}">
                <a16:creationId xmlns:a16="http://schemas.microsoft.com/office/drawing/2014/main" id="{1E400036-BCB9-4057-8B3F-8172B85F64E6}"/>
              </a:ext>
            </a:extLst>
          </p:cNvPr>
          <p:cNvSpPr>
            <a:spLocks xmlns:a="http://schemas.openxmlformats.org/drawingml/2006/main" noGrp="1"/>
          </p:cNvSpPr>
          <p:nvPr/>
        </p:nvSpPr>
        <p:spPr>
          <a:xfrm xmlns:a="http://schemas.openxmlformats.org/drawingml/2006/main">
            <a:off x="8401050" y="2752725"/>
            <a:ext cx="3143250" cy="5905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1" name="">
            <a:extLst xmlns:a="http://schemas.openxmlformats.org/drawingml/2006/main">
              <a:ext uri="{FF2B5EF4-FFF2-40B4-BE49-F238E27FC236}">
                <a16:creationId xmlns:a16="http://schemas.microsoft.com/office/drawing/2014/main" id="{0B00A23C-9432-46FF-8AC5-735868D2CF89}"/>
              </a:ext>
            </a:extLst>
          </p:cNvPr>
          <p:cNvSpPr>
            <a:spLocks xmlns:a="http://schemas.openxmlformats.org/drawingml/2006/main" noGrp="1"/>
          </p:cNvSpPr>
          <p:nvPr/>
        </p:nvSpPr>
        <p:spPr>
          <a:xfrm xmlns:a="http://schemas.openxmlformats.org/drawingml/2006/main">
            <a:off x="8496300" y="28194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overall event gate</a:t>
            </a:r>
          </a:p>
        </p:txBody>
      </p:sp>
      <p:sp>
        <p:nvSpPr>
          <p:cNvPr id="22" name="">
            <a:extLst xmlns:a="http://schemas.openxmlformats.org/drawingml/2006/main">
              <a:ext uri="{FF2B5EF4-FFF2-40B4-BE49-F238E27FC236}">
                <a16:creationId xmlns:a16="http://schemas.microsoft.com/office/drawing/2014/main" id="{37E68EA2-3B18-470D-972D-94EA90164A69}"/>
              </a:ext>
            </a:extLst>
          </p:cNvPr>
          <p:cNvSpPr>
            <a:spLocks xmlns:a="http://schemas.openxmlformats.org/drawingml/2006/main" noGrp="1"/>
          </p:cNvSpPr>
          <p:nvPr/>
        </p:nvSpPr>
        <p:spPr>
          <a:xfrm xmlns:a="http://schemas.openxmlformats.org/drawingml/2006/main">
            <a:off x="400050" y="3343275"/>
            <a:ext cx="3905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23" name="">
            <a:extLst xmlns:a="http://schemas.openxmlformats.org/drawingml/2006/main">
              <a:ext uri="{FF2B5EF4-FFF2-40B4-BE49-F238E27FC236}">
                <a16:creationId xmlns:a16="http://schemas.microsoft.com/office/drawing/2014/main" id="{40967327-D38A-4276-8F28-64E4F866E780}"/>
              </a:ext>
            </a:extLst>
          </p:cNvPr>
          <p:cNvSpPr>
            <a:spLocks xmlns:a="http://schemas.openxmlformats.org/drawingml/2006/main" noGrp="1"/>
          </p:cNvSpPr>
          <p:nvPr/>
        </p:nvSpPr>
        <p:spPr>
          <a:xfrm xmlns:a="http://schemas.openxmlformats.org/drawingml/2006/main">
            <a:off x="495300" y="34099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target_event_per_stratum</a:t>
            </a:r>
          </a:p>
        </p:txBody>
      </p:sp>
      <p:sp>
        <p:nvSpPr>
          <p:cNvPr id="24" name="">
            <a:extLst xmlns:a="http://schemas.openxmlformats.org/drawingml/2006/main">
              <a:ext uri="{FF2B5EF4-FFF2-40B4-BE49-F238E27FC236}">
                <a16:creationId xmlns:a16="http://schemas.microsoft.com/office/drawing/2014/main" id="{AC6CA2C7-4284-46DD-A162-91D938324325}"/>
              </a:ext>
            </a:extLst>
          </p:cNvPr>
          <p:cNvSpPr>
            <a:spLocks xmlns:a="http://schemas.openxmlformats.org/drawingml/2006/main" noGrp="1"/>
          </p:cNvSpPr>
          <p:nvPr/>
        </p:nvSpPr>
        <p:spPr>
          <a:xfrm xmlns:a="http://schemas.openxmlformats.org/drawingml/2006/main">
            <a:off x="4305300" y="3343275"/>
            <a:ext cx="40957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25" name="">
            <a:extLst xmlns:a="http://schemas.openxmlformats.org/drawingml/2006/main">
              <a:ext uri="{FF2B5EF4-FFF2-40B4-BE49-F238E27FC236}">
                <a16:creationId xmlns:a16="http://schemas.microsoft.com/office/drawing/2014/main" id="{E092388B-6D5D-4EA6-8CAB-529D04676710}"/>
              </a:ext>
            </a:extLst>
          </p:cNvPr>
          <p:cNvSpPr>
            <a:spLocks xmlns:a="http://schemas.openxmlformats.org/drawingml/2006/main" noGrp="1"/>
          </p:cNvSpPr>
          <p:nvPr/>
        </p:nvSpPr>
        <p:spPr>
          <a:xfrm xmlns:a="http://schemas.openxmlformats.org/drawingml/2006/main">
            <a:off x="4400550" y="3409950"/>
            <a:ext cx="3905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targetEventsPerStratum</a:t>
            </a:r>
          </a:p>
        </p:txBody>
      </p:sp>
      <p:sp>
        <p:nvSpPr>
          <p:cNvPr id="26" name="">
            <a:extLst xmlns:a="http://schemas.openxmlformats.org/drawingml/2006/main">
              <a:ext uri="{FF2B5EF4-FFF2-40B4-BE49-F238E27FC236}">
                <a16:creationId xmlns:a16="http://schemas.microsoft.com/office/drawing/2014/main" id="{99CF4871-A36B-4CFA-B9F1-DBE039D56AFC}"/>
              </a:ext>
            </a:extLst>
          </p:cNvPr>
          <p:cNvSpPr>
            <a:spLocks xmlns:a="http://schemas.openxmlformats.org/drawingml/2006/main" noGrp="1"/>
          </p:cNvSpPr>
          <p:nvPr/>
        </p:nvSpPr>
        <p:spPr>
          <a:xfrm xmlns:a="http://schemas.openxmlformats.org/drawingml/2006/main">
            <a:off x="8401050" y="3343275"/>
            <a:ext cx="3143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27" name="">
            <a:extLst xmlns:a="http://schemas.openxmlformats.org/drawingml/2006/main">
              <a:ext uri="{FF2B5EF4-FFF2-40B4-BE49-F238E27FC236}">
                <a16:creationId xmlns:a16="http://schemas.microsoft.com/office/drawing/2014/main" id="{287BD633-8D28-4726-97D0-94F34D326E1B}"/>
              </a:ext>
            </a:extLst>
          </p:cNvPr>
          <p:cNvSpPr>
            <a:spLocks xmlns:a="http://schemas.openxmlformats.org/drawingml/2006/main" noGrp="1"/>
          </p:cNvSpPr>
          <p:nvPr/>
        </p:nvSpPr>
        <p:spPr>
          <a:xfrm xmlns:a="http://schemas.openxmlformats.org/drawingml/2006/main">
            <a:off x="8496300" y="34099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per-stratum gates</a:t>
            </a:r>
          </a:p>
        </p:txBody>
      </p:sp>
      <p:sp>
        <p:nvSpPr>
          <p:cNvPr id="28" name="">
            <a:extLst xmlns:a="http://schemas.openxmlformats.org/drawingml/2006/main">
              <a:ext uri="{FF2B5EF4-FFF2-40B4-BE49-F238E27FC236}">
                <a16:creationId xmlns:a16="http://schemas.microsoft.com/office/drawing/2014/main" id="{2552390A-CF06-4FC4-8DC8-319938DFF726}"/>
              </a:ext>
            </a:extLst>
          </p:cNvPr>
          <p:cNvSpPr>
            <a:spLocks xmlns:a="http://schemas.openxmlformats.org/drawingml/2006/main" noGrp="1"/>
          </p:cNvSpPr>
          <p:nvPr/>
        </p:nvSpPr>
        <p:spPr>
          <a:xfrm xmlns:a="http://schemas.openxmlformats.org/drawingml/2006/main">
            <a:off x="400050" y="3933825"/>
            <a:ext cx="3905250" cy="5905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9" name="">
            <a:extLst xmlns:a="http://schemas.openxmlformats.org/drawingml/2006/main">
              <a:ext uri="{FF2B5EF4-FFF2-40B4-BE49-F238E27FC236}">
                <a16:creationId xmlns:a16="http://schemas.microsoft.com/office/drawing/2014/main" id="{9799F693-13A8-4970-8F24-45B31BD17312}"/>
              </a:ext>
            </a:extLst>
          </p:cNvPr>
          <p:cNvSpPr>
            <a:spLocks xmlns:a="http://schemas.openxmlformats.org/drawingml/2006/main" noGrp="1"/>
          </p:cNvSpPr>
          <p:nvPr/>
        </p:nvSpPr>
        <p:spPr>
          <a:xfrm xmlns:a="http://schemas.openxmlformats.org/drawingml/2006/main">
            <a:off x="495300" y="40005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min_n_overall / per_stratum</a:t>
            </a:r>
          </a:p>
        </p:txBody>
      </p:sp>
      <p:sp>
        <p:nvSpPr>
          <p:cNvPr id="30" name="">
            <a:extLst xmlns:a="http://schemas.openxmlformats.org/drawingml/2006/main">
              <a:ext uri="{FF2B5EF4-FFF2-40B4-BE49-F238E27FC236}">
                <a16:creationId xmlns:a16="http://schemas.microsoft.com/office/drawing/2014/main" id="{A6F9318C-7468-494E-B253-6BDA390B0F68}"/>
              </a:ext>
            </a:extLst>
          </p:cNvPr>
          <p:cNvSpPr>
            <a:spLocks xmlns:a="http://schemas.openxmlformats.org/drawingml/2006/main" noGrp="1"/>
          </p:cNvSpPr>
          <p:nvPr/>
        </p:nvSpPr>
        <p:spPr>
          <a:xfrm xmlns:a="http://schemas.openxmlformats.org/drawingml/2006/main">
            <a:off x="4305300" y="3933825"/>
            <a:ext cx="4095750" cy="5905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31" name="">
            <a:extLst xmlns:a="http://schemas.openxmlformats.org/drawingml/2006/main">
              <a:ext uri="{FF2B5EF4-FFF2-40B4-BE49-F238E27FC236}">
                <a16:creationId xmlns:a16="http://schemas.microsoft.com/office/drawing/2014/main" id="{4334B523-7E36-43FF-9715-82249AF69E45}"/>
              </a:ext>
            </a:extLst>
          </p:cNvPr>
          <p:cNvSpPr>
            <a:spLocks xmlns:a="http://schemas.openxmlformats.org/drawingml/2006/main" noGrp="1"/>
          </p:cNvSpPr>
          <p:nvPr/>
        </p:nvSpPr>
        <p:spPr>
          <a:xfrm xmlns:a="http://schemas.openxmlformats.org/drawingml/2006/main">
            <a:off x="4400550" y="4000500"/>
            <a:ext cx="3905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minN / minNPerStratum</a:t>
            </a:r>
          </a:p>
        </p:txBody>
      </p:sp>
      <p:sp>
        <p:nvSpPr>
          <p:cNvPr id="32" name="">
            <a:extLst xmlns:a="http://schemas.openxmlformats.org/drawingml/2006/main">
              <a:ext uri="{FF2B5EF4-FFF2-40B4-BE49-F238E27FC236}">
                <a16:creationId xmlns:a16="http://schemas.microsoft.com/office/drawing/2014/main" id="{36C6ADC5-1E4F-475B-963D-41C605885F41}"/>
              </a:ext>
            </a:extLst>
          </p:cNvPr>
          <p:cNvSpPr>
            <a:spLocks xmlns:a="http://schemas.openxmlformats.org/drawingml/2006/main" noGrp="1"/>
          </p:cNvSpPr>
          <p:nvPr/>
        </p:nvSpPr>
        <p:spPr>
          <a:xfrm xmlns:a="http://schemas.openxmlformats.org/drawingml/2006/main">
            <a:off x="8401050" y="3933825"/>
            <a:ext cx="3143250" cy="5905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33" name="">
            <a:extLst xmlns:a="http://schemas.openxmlformats.org/drawingml/2006/main">
              <a:ext uri="{FF2B5EF4-FFF2-40B4-BE49-F238E27FC236}">
                <a16:creationId xmlns:a16="http://schemas.microsoft.com/office/drawing/2014/main" id="{FC97231B-50DE-48FB-BC0F-589803A4967B}"/>
              </a:ext>
            </a:extLst>
          </p:cNvPr>
          <p:cNvSpPr>
            <a:spLocks xmlns:a="http://schemas.openxmlformats.org/drawingml/2006/main" noGrp="1"/>
          </p:cNvSpPr>
          <p:nvPr/>
        </p:nvSpPr>
        <p:spPr>
          <a:xfrm xmlns:a="http://schemas.openxmlformats.org/drawingml/2006/main">
            <a:off x="8496300" y="40005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enrollment gates</a:t>
            </a:r>
          </a:p>
        </p:txBody>
      </p:sp>
      <p:sp>
        <p:nvSpPr>
          <p:cNvPr id="34" name="">
            <a:extLst xmlns:a="http://schemas.openxmlformats.org/drawingml/2006/main">
              <a:ext uri="{FF2B5EF4-FFF2-40B4-BE49-F238E27FC236}">
                <a16:creationId xmlns:a16="http://schemas.microsoft.com/office/drawing/2014/main" id="{B60F9304-F72D-4A62-8782-A51BB55A9627}"/>
              </a:ext>
            </a:extLst>
          </p:cNvPr>
          <p:cNvSpPr>
            <a:spLocks xmlns:a="http://schemas.openxmlformats.org/drawingml/2006/main" noGrp="1"/>
          </p:cNvSpPr>
          <p:nvPr/>
        </p:nvSpPr>
        <p:spPr>
          <a:xfrm xmlns:a="http://schemas.openxmlformats.org/drawingml/2006/main">
            <a:off x="400050" y="4524375"/>
            <a:ext cx="3905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5" name="">
            <a:extLst xmlns:a="http://schemas.openxmlformats.org/drawingml/2006/main">
              <a:ext uri="{FF2B5EF4-FFF2-40B4-BE49-F238E27FC236}">
                <a16:creationId xmlns:a16="http://schemas.microsoft.com/office/drawing/2014/main" id="{3322A079-41FB-4435-9A4A-95A8D7328727}"/>
              </a:ext>
            </a:extLst>
          </p:cNvPr>
          <p:cNvSpPr>
            <a:spLocks xmlns:a="http://schemas.openxmlformats.org/drawingml/2006/main" noGrp="1"/>
          </p:cNvSpPr>
          <p:nvPr/>
        </p:nvSpPr>
        <p:spPr>
          <a:xfrm xmlns:a="http://schemas.openxmlformats.org/drawingml/2006/main">
            <a:off x="495300" y="45910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min_followup</a:t>
            </a:r>
          </a:p>
        </p:txBody>
      </p:sp>
      <p:sp>
        <p:nvSpPr>
          <p:cNvPr id="36" name="">
            <a:extLst xmlns:a="http://schemas.openxmlformats.org/drawingml/2006/main">
              <a:ext uri="{FF2B5EF4-FFF2-40B4-BE49-F238E27FC236}">
                <a16:creationId xmlns:a16="http://schemas.microsoft.com/office/drawing/2014/main" id="{2EF3D0C4-A2D5-402F-9084-E6CF837E1867}"/>
              </a:ext>
            </a:extLst>
          </p:cNvPr>
          <p:cNvSpPr>
            <a:spLocks xmlns:a="http://schemas.openxmlformats.org/drawingml/2006/main" noGrp="1"/>
          </p:cNvSpPr>
          <p:nvPr/>
        </p:nvSpPr>
        <p:spPr>
          <a:xfrm xmlns:a="http://schemas.openxmlformats.org/drawingml/2006/main">
            <a:off x="4305300" y="4524375"/>
            <a:ext cx="40957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7" name="">
            <a:extLst xmlns:a="http://schemas.openxmlformats.org/drawingml/2006/main">
              <a:ext uri="{FF2B5EF4-FFF2-40B4-BE49-F238E27FC236}">
                <a16:creationId xmlns:a16="http://schemas.microsoft.com/office/drawing/2014/main" id="{615A8483-C674-45C7-8141-17B4F4E34E7F}"/>
              </a:ext>
            </a:extLst>
          </p:cNvPr>
          <p:cNvSpPr>
            <a:spLocks xmlns:a="http://schemas.openxmlformats.org/drawingml/2006/main" noGrp="1"/>
          </p:cNvSpPr>
          <p:nvPr/>
        </p:nvSpPr>
        <p:spPr>
          <a:xfrm xmlns:a="http://schemas.openxmlformats.org/drawingml/2006/main">
            <a:off x="4400550" y="4591050"/>
            <a:ext cx="3905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minFollowUp</a:t>
            </a:r>
          </a:p>
        </p:txBody>
      </p:sp>
      <p:sp>
        <p:nvSpPr>
          <p:cNvPr id="38" name="">
            <a:extLst xmlns:a="http://schemas.openxmlformats.org/drawingml/2006/main">
              <a:ext uri="{FF2B5EF4-FFF2-40B4-BE49-F238E27FC236}">
                <a16:creationId xmlns:a16="http://schemas.microsoft.com/office/drawing/2014/main" id="{EF476A30-252D-4C56-9AC6-3D94379B9561}"/>
              </a:ext>
            </a:extLst>
          </p:cNvPr>
          <p:cNvSpPr>
            <a:spLocks xmlns:a="http://schemas.openxmlformats.org/drawingml/2006/main" noGrp="1"/>
          </p:cNvSpPr>
          <p:nvPr/>
        </p:nvSpPr>
        <p:spPr>
          <a:xfrm xmlns:a="http://schemas.openxmlformats.org/drawingml/2006/main">
            <a:off x="8401050" y="4524375"/>
            <a:ext cx="3143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9" name="">
            <a:extLst xmlns:a="http://schemas.openxmlformats.org/drawingml/2006/main">
              <a:ext uri="{FF2B5EF4-FFF2-40B4-BE49-F238E27FC236}">
                <a16:creationId xmlns:a16="http://schemas.microsoft.com/office/drawing/2014/main" id="{BF66AC90-9998-4DA4-852A-86478D858636}"/>
              </a:ext>
            </a:extLst>
          </p:cNvPr>
          <p:cNvSpPr>
            <a:spLocks xmlns:a="http://schemas.openxmlformats.org/drawingml/2006/main" noGrp="1"/>
          </p:cNvSpPr>
          <p:nvPr/>
        </p:nvSpPr>
        <p:spPr>
          <a:xfrm xmlns:a="http://schemas.openxmlformats.org/drawingml/2006/main">
            <a:off x="8496300" y="45910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follow-up after enrollment gate</a:t>
            </a:r>
          </a:p>
        </p:txBody>
      </p:sp>
      <p:sp>
        <p:nvSpPr>
          <p:cNvPr id="40" name="">
            <a:extLst xmlns:a="http://schemas.openxmlformats.org/drawingml/2006/main">
              <a:ext uri="{FF2B5EF4-FFF2-40B4-BE49-F238E27FC236}">
                <a16:creationId xmlns:a16="http://schemas.microsoft.com/office/drawing/2014/main" id="{672171C8-2D9E-419D-8A39-A2E6415F382C}"/>
              </a:ext>
            </a:extLst>
          </p:cNvPr>
          <p:cNvSpPr>
            <a:spLocks xmlns:a="http://schemas.openxmlformats.org/drawingml/2006/main" noGrp="1"/>
          </p:cNvSpPr>
          <p:nvPr/>
        </p:nvSpPr>
        <p:spPr>
          <a:xfrm xmlns:a="http://schemas.openxmlformats.org/drawingml/2006/main">
            <a:off x="400050" y="5114925"/>
            <a:ext cx="3905250" cy="5905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41" name="">
            <a:extLst xmlns:a="http://schemas.openxmlformats.org/drawingml/2006/main">
              <a:ext uri="{FF2B5EF4-FFF2-40B4-BE49-F238E27FC236}">
                <a16:creationId xmlns:a16="http://schemas.microsoft.com/office/drawing/2014/main" id="{7B56D489-A04E-4DA6-AFB0-7D1EFE3E435E}"/>
              </a:ext>
            </a:extLst>
          </p:cNvPr>
          <p:cNvSpPr>
            <a:spLocks xmlns:a="http://schemas.openxmlformats.org/drawingml/2006/main" noGrp="1"/>
          </p:cNvSpPr>
          <p:nvPr/>
        </p:nvSpPr>
        <p:spPr>
          <a:xfrm xmlns:a="http://schemas.openxmlformats.org/drawingml/2006/main">
            <a:off x="495300" y="51816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max_extension_for_target_event</a:t>
            </a:r>
          </a:p>
        </p:txBody>
      </p:sp>
      <p:sp>
        <p:nvSpPr>
          <p:cNvPr id="42" name="">
            <a:extLst xmlns:a="http://schemas.openxmlformats.org/drawingml/2006/main">
              <a:ext uri="{FF2B5EF4-FFF2-40B4-BE49-F238E27FC236}">
                <a16:creationId xmlns:a16="http://schemas.microsoft.com/office/drawing/2014/main" id="{A15D1DE9-C7B6-4751-83D8-39F7597ABA2A}"/>
              </a:ext>
            </a:extLst>
          </p:cNvPr>
          <p:cNvSpPr>
            <a:spLocks xmlns:a="http://schemas.openxmlformats.org/drawingml/2006/main" noGrp="1"/>
          </p:cNvSpPr>
          <p:nvPr/>
        </p:nvSpPr>
        <p:spPr>
          <a:xfrm xmlns:a="http://schemas.openxmlformats.org/drawingml/2006/main">
            <a:off x="4305300" y="5114925"/>
            <a:ext cx="4095750" cy="5905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43" name="">
            <a:extLst xmlns:a="http://schemas.openxmlformats.org/drawingml/2006/main">
              <a:ext uri="{FF2B5EF4-FFF2-40B4-BE49-F238E27FC236}">
                <a16:creationId xmlns:a16="http://schemas.microsoft.com/office/drawing/2014/main" id="{86596BA1-E3EA-49DF-89A7-578B45352CAD}"/>
              </a:ext>
            </a:extLst>
          </p:cNvPr>
          <p:cNvSpPr>
            <a:spLocks xmlns:a="http://schemas.openxmlformats.org/drawingml/2006/main" noGrp="1"/>
          </p:cNvSpPr>
          <p:nvPr/>
        </p:nvSpPr>
        <p:spPr>
          <a:xfrm xmlns:a="http://schemas.openxmlformats.org/drawingml/2006/main">
            <a:off x="4400550" y="5181600"/>
            <a:ext cx="3905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maxCalendarTime</a:t>
            </a:r>
          </a:p>
        </p:txBody>
      </p:sp>
      <p:sp>
        <p:nvSpPr>
          <p:cNvPr id="44" name="">
            <a:extLst xmlns:a="http://schemas.openxmlformats.org/drawingml/2006/main">
              <a:ext uri="{FF2B5EF4-FFF2-40B4-BE49-F238E27FC236}">
                <a16:creationId xmlns:a16="http://schemas.microsoft.com/office/drawing/2014/main" id="{04BA24CE-EC8B-4A46-B7D8-1E096B29426A}"/>
              </a:ext>
            </a:extLst>
          </p:cNvPr>
          <p:cNvSpPr>
            <a:spLocks xmlns:a="http://schemas.openxmlformats.org/drawingml/2006/main" noGrp="1"/>
          </p:cNvSpPr>
          <p:nvPr/>
        </p:nvSpPr>
        <p:spPr>
          <a:xfrm xmlns:a="http://schemas.openxmlformats.org/drawingml/2006/main">
            <a:off x="8401050" y="5114925"/>
            <a:ext cx="3143250" cy="5905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45" name="">
            <a:extLst xmlns:a="http://schemas.openxmlformats.org/drawingml/2006/main">
              <a:ext uri="{FF2B5EF4-FFF2-40B4-BE49-F238E27FC236}">
                <a16:creationId xmlns:a16="http://schemas.microsoft.com/office/drawing/2014/main" id="{CBE03B24-FD26-4273-B46F-4109C43B7DCB}"/>
              </a:ext>
            </a:extLst>
          </p:cNvPr>
          <p:cNvSpPr>
            <a:spLocks xmlns:a="http://schemas.openxmlformats.org/drawingml/2006/main" noGrp="1"/>
          </p:cNvSpPr>
          <p:nvPr/>
        </p:nvSpPr>
        <p:spPr>
          <a:xfrm xmlns:a="http://schemas.openxmlformats.org/drawingml/2006/main">
            <a:off x="8496300" y="51816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absolute calendar cap</a:t>
            </a:r>
          </a:p>
        </p:txBody>
      </p:sp>
      <p:sp>
        <p:nvSpPr>
          <p:cNvPr id="46" name="">
            <a:extLst xmlns:a="http://schemas.openxmlformats.org/drawingml/2006/main">
              <a:ext uri="{FF2B5EF4-FFF2-40B4-BE49-F238E27FC236}">
                <a16:creationId xmlns:a16="http://schemas.microsoft.com/office/drawing/2014/main" id="{61FB521C-7639-445B-B31A-1BA1A7A5FD80}"/>
              </a:ext>
            </a:extLst>
          </p:cNvPr>
          <p:cNvSpPr>
            <a:spLocks xmlns:a="http://schemas.openxmlformats.org/drawingml/2006/main" noGrp="1"/>
          </p:cNvSpPr>
          <p:nvPr/>
        </p:nvSpPr>
        <p:spPr>
          <a:xfrm xmlns:a="http://schemas.openxmlformats.org/drawingml/2006/main">
            <a:off x="400050" y="59436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Naming caveat</a:t>
            </a:r>
          </a:p>
        </p:txBody>
      </p:sp>
      <p:sp>
        <p:nvSpPr>
          <p:cNvPr id="47" name="">
            <a:extLst xmlns:a="http://schemas.openxmlformats.org/drawingml/2006/main">
              <a:ext uri="{FF2B5EF4-FFF2-40B4-BE49-F238E27FC236}">
                <a16:creationId xmlns:a16="http://schemas.microsoft.com/office/drawing/2014/main" id="{9EC47978-BFA6-4944-A17B-2FE18982BFB2}"/>
              </a:ext>
            </a:extLst>
          </p:cNvPr>
          <p:cNvSpPr>
            <a:spLocks xmlns:a="http://schemas.openxmlformats.org/drawingml/2006/main" noGrp="1"/>
          </p:cNvSpPr>
          <p:nvPr/>
        </p:nvSpPr>
        <p:spPr>
          <a:xfrm xmlns:a="http://schemas.openxmlformats.org/drawingml/2006/main">
            <a:off x="2095500" y="5876925"/>
            <a:ext cx="933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gsSurvPower maxExtension is a relative cap; simtrial's named “extension” behaves as an absolute date.</a:t>
            </a:r>
          </a:p>
        </p:txBody>
      </p:sp>
    </p:spTree>
    <p:extLst>
      <p:ext uri="{BB962C8B-B14F-4D97-AF65-F5344CB8AC3E}">
        <p14:creationId xmlns:p14="http://schemas.microsoft.com/office/powerpoint/2010/main" val="49356749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335B104-6582-4796-803F-80B45859C917}"/>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EXPECTED VS SIMULATED</a:t>
            </a:r>
          </a:p>
        </p:txBody>
      </p:sp>
      <p:sp>
        <p:nvSpPr>
          <p:cNvPr id="2" name="">
            <a:extLst xmlns:a="http://schemas.openxmlformats.org/drawingml/2006/main">
              <a:ext uri="{FF2B5EF4-FFF2-40B4-BE49-F238E27FC236}">
                <a16:creationId xmlns:a16="http://schemas.microsoft.com/office/drawing/2014/main" id="{5F81C451-0387-4E05-8501-009D1041B55B}"/>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Expected timing is not a realized analysis date</a:t>
            </a:r>
          </a:p>
        </p:txBody>
      </p:sp>
      <p:sp>
        <p:nvSpPr>
          <p:cNvPr id="3" name="">
            <a:extLst xmlns:a="http://schemas.openxmlformats.org/drawingml/2006/main">
              <a:ext uri="{FF2B5EF4-FFF2-40B4-BE49-F238E27FC236}">
                <a16:creationId xmlns:a16="http://schemas.microsoft.com/office/drawing/2014/main" id="{9366FFC9-EF94-401E-BAD4-416539D23FC4}"/>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4FF7C124-B837-4352-8B49-59CB26E32717}"/>
              </a:ext>
            </a:extLst>
          </p:cNvPr>
          <p:cNvSpPr>
            <a:spLocks xmlns:a="http://schemas.openxmlformats.org/drawingml/2006/main" noGrp="1"/>
          </p:cNvSpPr>
          <p:nvPr/>
        </p:nvSpPr>
        <p:spPr>
          <a:xfrm xmlns:a="http://schemas.openxmlformats.org/drawingml/2006/main">
            <a:off x="400050" y="174307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gsSurvPower</a:t>
            </a:r>
          </a:p>
        </p:txBody>
      </p:sp>
      <p:sp>
        <p:nvSpPr>
          <p:cNvPr id="5" name="">
            <a:extLst xmlns:a="http://schemas.openxmlformats.org/drawingml/2006/main">
              <a:ext uri="{FF2B5EF4-FFF2-40B4-BE49-F238E27FC236}">
                <a16:creationId xmlns:a16="http://schemas.microsoft.com/office/drawing/2014/main" id="{AD852AEB-E0BE-4E95-A813-199F0AEDB607}"/>
              </a:ext>
            </a:extLst>
          </p:cNvPr>
          <p:cNvSpPr>
            <a:spLocks xmlns:a="http://schemas.openxmlformats.org/drawingml/2006/main" noGrp="1"/>
          </p:cNvSpPr>
          <p:nvPr/>
        </p:nvSpPr>
        <p:spPr>
          <a:xfrm xmlns:a="http://schemas.openxmlformats.org/drawingml/2006/main">
            <a:off x="876300" y="3095625"/>
            <a:ext cx="4286250" cy="0"/>
          </a:xfrm>
          <a:prstGeom xmlns:a="http://schemas.openxmlformats.org/drawingml/2006/main" prst="line">
            <a:avLst/>
          </a:prstGeom>
          <a:noFill xmlns:a="http://schemas.openxmlformats.org/drawingml/2006/main"/>
          <a:ln xmlns:a="http://schemas.openxmlformats.org/drawingml/2006/main" w="28575">
            <a:solidFill>
              <a:srgbClr val="9CA3AF"/>
            </a:solidFill>
            <a:prstDash val="solid"/>
          </a:ln>
        </p:spPr>
      </p:sp>
      <p:sp>
        <p:nvSpPr>
          <p:cNvPr id="6" name="">
            <a:extLst xmlns:a="http://schemas.openxmlformats.org/drawingml/2006/main">
              <a:ext uri="{FF2B5EF4-FFF2-40B4-BE49-F238E27FC236}">
                <a16:creationId xmlns:a16="http://schemas.microsoft.com/office/drawing/2014/main" id="{44F518F5-A63E-4661-9F7C-50BD3DA51FCF}"/>
              </a:ext>
            </a:extLst>
          </p:cNvPr>
          <p:cNvSpPr>
            <a:spLocks xmlns:a="http://schemas.openxmlformats.org/drawingml/2006/main" noGrp="1"/>
          </p:cNvSpPr>
          <p:nvPr/>
        </p:nvSpPr>
        <p:spPr>
          <a:xfrm xmlns:a="http://schemas.openxmlformats.org/drawingml/2006/main">
            <a:off x="2886075" y="2952750"/>
            <a:ext cx="285750" cy="2857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F284D54A-41B0-4D8F-ACCF-78F39C120D53}"/>
              </a:ext>
            </a:extLst>
          </p:cNvPr>
          <p:cNvSpPr>
            <a:spLocks xmlns:a="http://schemas.openxmlformats.org/drawingml/2006/main" noGrp="1"/>
          </p:cNvSpPr>
          <p:nvPr/>
        </p:nvSpPr>
        <p:spPr>
          <a:xfrm xmlns:a="http://schemas.openxmlformats.org/drawingml/2006/main">
            <a:off x="2114550" y="3476625"/>
            <a:ext cx="1857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one expected time</a:t>
            </a:r>
          </a:p>
        </p:txBody>
      </p:sp>
      <p:sp>
        <p:nvSpPr>
          <p:cNvPr id="8" name="">
            <a:extLst xmlns:a="http://schemas.openxmlformats.org/drawingml/2006/main">
              <a:ext uri="{FF2B5EF4-FFF2-40B4-BE49-F238E27FC236}">
                <a16:creationId xmlns:a16="http://schemas.microsoft.com/office/drawing/2014/main" id="{5C7E9252-E78E-4A24-8D38-3D697400703A}"/>
              </a:ext>
            </a:extLst>
          </p:cNvPr>
          <p:cNvSpPr>
            <a:spLocks xmlns:a="http://schemas.openxmlformats.org/drawingml/2006/main" noGrp="1"/>
          </p:cNvSpPr>
          <p:nvPr/>
        </p:nvSpPr>
        <p:spPr>
          <a:xfrm xmlns:a="http://schemas.openxmlformats.org/drawingml/2006/main">
            <a:off x="400050" y="4238625"/>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725" b="0">
                <a:solidFill>
                  <a:srgbClr val="4B5563"/>
                </a:solidFill>
                <a:latin typeface="Helvetica Neue"/>
                <a:ea typeface="Helvetica Neue"/>
                <a:cs typeface="Helvetica Neue"/>
              </a:defRPr>
            </a:pPr>
            <a:r>
              <a:rPr sz="1725" b="0">
                <a:solidFill>
                  <a:srgbClr val="4B5563"/>
                </a:solidFill>
                <a:latin typeface="Helvetica Neue"/>
                <a:ea typeface="Helvetica Neue"/>
                <a:cs typeface="Helvetica Neue"/>
              </a:rPr>
              <a:t>Expected enrollment + expected events + deterministic rule evaluation</a:t>
            </a:r>
          </a:p>
        </p:txBody>
      </p:sp>
      <p:sp>
        <p:nvSpPr>
          <p:cNvPr id="9" name="">
            <a:extLst xmlns:a="http://schemas.openxmlformats.org/drawingml/2006/main">
              <a:ext uri="{FF2B5EF4-FFF2-40B4-BE49-F238E27FC236}">
                <a16:creationId xmlns:a16="http://schemas.microsoft.com/office/drawing/2014/main" id="{B62FF5AD-E877-4390-B95E-8E744D509DE2}"/>
              </a:ext>
            </a:extLst>
          </p:cNvPr>
          <p:cNvSpPr>
            <a:spLocks xmlns:a="http://schemas.openxmlformats.org/drawingml/2006/main" noGrp="1"/>
          </p:cNvSpPr>
          <p:nvPr/>
        </p:nvSpPr>
        <p:spPr>
          <a:xfrm xmlns:a="http://schemas.openxmlformats.org/drawingml/2006/main">
            <a:off x="6667500" y="174307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simtrial</a:t>
            </a:r>
          </a:p>
        </p:txBody>
      </p:sp>
      <p:sp>
        <p:nvSpPr>
          <p:cNvPr id="10" name="">
            <a:extLst xmlns:a="http://schemas.openxmlformats.org/drawingml/2006/main">
              <a:ext uri="{FF2B5EF4-FFF2-40B4-BE49-F238E27FC236}">
                <a16:creationId xmlns:a16="http://schemas.microsoft.com/office/drawing/2014/main" id="{204F3F0B-857E-45FD-966E-BE1A7FCB4598}"/>
              </a:ext>
            </a:extLst>
          </p:cNvPr>
          <p:cNvSpPr>
            <a:spLocks xmlns:a="http://schemas.openxmlformats.org/drawingml/2006/main" noGrp="1"/>
          </p:cNvSpPr>
          <p:nvPr/>
        </p:nvSpPr>
        <p:spPr>
          <a:xfrm xmlns:a="http://schemas.openxmlformats.org/drawingml/2006/main">
            <a:off x="6810375" y="3095625"/>
            <a:ext cx="4333875" cy="0"/>
          </a:xfrm>
          <a:prstGeom xmlns:a="http://schemas.openxmlformats.org/drawingml/2006/main" prst="line">
            <a:avLst/>
          </a:prstGeom>
          <a:noFill xmlns:a="http://schemas.openxmlformats.org/drawingml/2006/main"/>
          <a:ln xmlns:a="http://schemas.openxmlformats.org/drawingml/2006/main" w="28575">
            <a:solidFill>
              <a:srgbClr val="9CA3AF"/>
            </a:solidFill>
            <a:prstDash val="solid"/>
          </a:ln>
        </p:spPr>
      </p:sp>
      <p:sp>
        <p:nvSpPr>
          <p:cNvPr id="11" name="">
            <a:extLst xmlns:a="http://schemas.openxmlformats.org/drawingml/2006/main">
              <a:ext uri="{FF2B5EF4-FFF2-40B4-BE49-F238E27FC236}">
                <a16:creationId xmlns:a16="http://schemas.microsoft.com/office/drawing/2014/main" id="{3944EA4F-C89B-40A7-A8BC-CCC8E486CAE7}"/>
              </a:ext>
            </a:extLst>
          </p:cNvPr>
          <p:cNvSpPr>
            <a:spLocks xmlns:a="http://schemas.openxmlformats.org/drawingml/2006/main" noGrp="1"/>
          </p:cNvSpPr>
          <p:nvPr/>
        </p:nvSpPr>
        <p:spPr>
          <a:xfrm xmlns:a="http://schemas.openxmlformats.org/drawingml/2006/main">
            <a:off x="7286625" y="3000375"/>
            <a:ext cx="190500" cy="1905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2" name="">
            <a:extLst xmlns:a="http://schemas.openxmlformats.org/drawingml/2006/main">
              <a:ext uri="{FF2B5EF4-FFF2-40B4-BE49-F238E27FC236}">
                <a16:creationId xmlns:a16="http://schemas.microsoft.com/office/drawing/2014/main" id="{FA258A6D-07D7-40AA-AD88-B17A22B5DBFC}"/>
              </a:ext>
            </a:extLst>
          </p:cNvPr>
          <p:cNvSpPr>
            <a:spLocks xmlns:a="http://schemas.openxmlformats.org/drawingml/2006/main" noGrp="1"/>
          </p:cNvSpPr>
          <p:nvPr/>
        </p:nvSpPr>
        <p:spPr>
          <a:xfrm xmlns:a="http://schemas.openxmlformats.org/drawingml/2006/main">
            <a:off x="7810500" y="2828925"/>
            <a:ext cx="190500" cy="190500"/>
          </a:xfrm>
          <a:prstGeom xmlns:a="http://schemas.openxmlformats.org/drawingml/2006/main" prst="ellipse">
            <a:avLst/>
          </a:prstGeom>
          <a:solidFill xmlns:a="http://schemas.openxmlformats.org/drawingml/2006/main">
            <a:srgbClr val="6DCBF4"/>
          </a:solidFill>
          <a:ln xmlns:a="http://schemas.openxmlformats.org/drawingml/2006/main" w="0">
            <a:solidFill>
              <a:srgbClr val="6DCBF4"/>
            </a:solidFill>
            <a:prstDash val="solid"/>
          </a:ln>
        </p:spPr>
      </p:sp>
      <p:sp>
        <p:nvSpPr>
          <p:cNvPr id="13" name="">
            <a:extLst xmlns:a="http://schemas.openxmlformats.org/drawingml/2006/main">
              <a:ext uri="{FF2B5EF4-FFF2-40B4-BE49-F238E27FC236}">
                <a16:creationId xmlns:a16="http://schemas.microsoft.com/office/drawing/2014/main" id="{15A4FC35-C115-479C-9169-A23AC2F3AEEF}"/>
              </a:ext>
            </a:extLst>
          </p:cNvPr>
          <p:cNvSpPr>
            <a:spLocks xmlns:a="http://schemas.openxmlformats.org/drawingml/2006/main" noGrp="1"/>
          </p:cNvSpPr>
          <p:nvPr/>
        </p:nvSpPr>
        <p:spPr>
          <a:xfrm xmlns:a="http://schemas.openxmlformats.org/drawingml/2006/main">
            <a:off x="8429625" y="3057525"/>
            <a:ext cx="190500" cy="1905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4" name="">
            <a:extLst xmlns:a="http://schemas.openxmlformats.org/drawingml/2006/main">
              <a:ext uri="{FF2B5EF4-FFF2-40B4-BE49-F238E27FC236}">
                <a16:creationId xmlns:a16="http://schemas.microsoft.com/office/drawing/2014/main" id="{731D35F2-E390-4FA9-8C05-D676968507A4}"/>
              </a:ext>
            </a:extLst>
          </p:cNvPr>
          <p:cNvSpPr>
            <a:spLocks xmlns:a="http://schemas.openxmlformats.org/drawingml/2006/main" noGrp="1"/>
          </p:cNvSpPr>
          <p:nvPr/>
        </p:nvSpPr>
        <p:spPr>
          <a:xfrm xmlns:a="http://schemas.openxmlformats.org/drawingml/2006/main">
            <a:off x="9001125" y="2867025"/>
            <a:ext cx="190500" cy="190500"/>
          </a:xfrm>
          <a:prstGeom xmlns:a="http://schemas.openxmlformats.org/drawingml/2006/main" prst="ellipse">
            <a:avLst/>
          </a:prstGeom>
          <a:solidFill xmlns:a="http://schemas.openxmlformats.org/drawingml/2006/main">
            <a:srgbClr val="6DCBF4"/>
          </a:solidFill>
          <a:ln xmlns:a="http://schemas.openxmlformats.org/drawingml/2006/main" w="0">
            <a:solidFill>
              <a:srgbClr val="6DCBF4"/>
            </a:solidFill>
            <a:prstDash val="solid"/>
          </a:ln>
        </p:spPr>
      </p:sp>
      <p:sp>
        <p:nvSpPr>
          <p:cNvPr id="15" name="">
            <a:extLst xmlns:a="http://schemas.openxmlformats.org/drawingml/2006/main">
              <a:ext uri="{FF2B5EF4-FFF2-40B4-BE49-F238E27FC236}">
                <a16:creationId xmlns:a16="http://schemas.microsoft.com/office/drawing/2014/main" id="{65E36E7E-A7BF-4DED-AE1B-EE6D1CB8BC7C}"/>
              </a:ext>
            </a:extLst>
          </p:cNvPr>
          <p:cNvSpPr>
            <a:spLocks xmlns:a="http://schemas.openxmlformats.org/drawingml/2006/main" noGrp="1"/>
          </p:cNvSpPr>
          <p:nvPr/>
        </p:nvSpPr>
        <p:spPr>
          <a:xfrm xmlns:a="http://schemas.openxmlformats.org/drawingml/2006/main">
            <a:off x="9667875" y="2695575"/>
            <a:ext cx="190500" cy="1905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6" name="">
            <a:extLst xmlns:a="http://schemas.openxmlformats.org/drawingml/2006/main">
              <a:ext uri="{FF2B5EF4-FFF2-40B4-BE49-F238E27FC236}">
                <a16:creationId xmlns:a16="http://schemas.microsoft.com/office/drawing/2014/main" id="{31CC93DA-1F21-479B-8339-2B5F4D298A9A}"/>
              </a:ext>
            </a:extLst>
          </p:cNvPr>
          <p:cNvSpPr>
            <a:spLocks xmlns:a="http://schemas.openxmlformats.org/drawingml/2006/main" noGrp="1"/>
          </p:cNvSpPr>
          <p:nvPr/>
        </p:nvSpPr>
        <p:spPr>
          <a:xfrm xmlns:a="http://schemas.openxmlformats.org/drawingml/2006/main">
            <a:off x="10382250" y="2952750"/>
            <a:ext cx="190500" cy="190500"/>
          </a:xfrm>
          <a:prstGeom xmlns:a="http://schemas.openxmlformats.org/drawingml/2006/main" prst="ellipse">
            <a:avLst/>
          </a:prstGeom>
          <a:solidFill xmlns:a="http://schemas.openxmlformats.org/drawingml/2006/main">
            <a:srgbClr val="6DCBF4"/>
          </a:solidFill>
          <a:ln xmlns:a="http://schemas.openxmlformats.org/drawingml/2006/main" w="0">
            <a:solidFill>
              <a:srgbClr val="6DCBF4"/>
            </a:solidFill>
            <a:prstDash val="solid"/>
          </a:ln>
        </p:spPr>
      </p:sp>
      <p:sp>
        <p:nvSpPr>
          <p:cNvPr id="17" name="">
            <a:extLst xmlns:a="http://schemas.openxmlformats.org/drawingml/2006/main">
              <a:ext uri="{FF2B5EF4-FFF2-40B4-BE49-F238E27FC236}">
                <a16:creationId xmlns:a16="http://schemas.microsoft.com/office/drawing/2014/main" id="{71E0F4C0-258D-4615-BCE7-C70451B74678}"/>
              </a:ext>
            </a:extLst>
          </p:cNvPr>
          <p:cNvSpPr>
            <a:spLocks xmlns:a="http://schemas.openxmlformats.org/drawingml/2006/main" noGrp="1"/>
          </p:cNvSpPr>
          <p:nvPr/>
        </p:nvSpPr>
        <p:spPr>
          <a:xfrm xmlns:a="http://schemas.openxmlformats.org/drawingml/2006/main">
            <a:off x="7429500" y="347662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distribution of realized dates</a:t>
            </a:r>
          </a:p>
        </p:txBody>
      </p:sp>
      <p:sp>
        <p:nvSpPr>
          <p:cNvPr id="18" name="">
            <a:extLst xmlns:a="http://schemas.openxmlformats.org/drawingml/2006/main">
              <a:ext uri="{FF2B5EF4-FFF2-40B4-BE49-F238E27FC236}">
                <a16:creationId xmlns:a16="http://schemas.microsoft.com/office/drawing/2014/main" id="{8925020A-AF2C-4E6D-8B21-5ECDF7ECE8B7}"/>
              </a:ext>
            </a:extLst>
          </p:cNvPr>
          <p:cNvSpPr>
            <a:spLocks xmlns:a="http://schemas.openxmlformats.org/drawingml/2006/main" noGrp="1"/>
          </p:cNvSpPr>
          <p:nvPr/>
        </p:nvSpPr>
        <p:spPr>
          <a:xfrm xmlns:a="http://schemas.openxmlformats.org/drawingml/2006/main">
            <a:off x="6477000" y="4238625"/>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725" b="0">
                <a:solidFill>
                  <a:srgbClr val="4B5563"/>
                </a:solidFill>
                <a:latin typeface="Helvetica Neue"/>
                <a:ea typeface="Helvetica Neue"/>
                <a:cs typeface="Helvetica Neue"/>
              </a:defRPr>
            </a:pPr>
            <a:r>
              <a:rPr sz="1725" b="0">
                <a:solidFill>
                  <a:srgbClr val="4B5563"/>
                </a:solidFill>
                <a:latin typeface="Helvetica Neue"/>
                <a:ea typeface="Helvetica Neue"/>
                <a:cs typeface="Helvetica Neue"/>
              </a:rPr>
              <a:t>Random accrual + failures + dropout + competing timing rules</a:t>
            </a:r>
          </a:p>
        </p:txBody>
      </p:sp>
      <p:sp>
        <p:nvSpPr>
          <p:cNvPr id="19" name="">
            <a:extLst xmlns:a="http://schemas.openxmlformats.org/drawingml/2006/main">
              <a:ext uri="{FF2B5EF4-FFF2-40B4-BE49-F238E27FC236}">
                <a16:creationId xmlns:a16="http://schemas.microsoft.com/office/drawing/2014/main" id="{E598431B-1D85-4AA4-8C88-6D64C663F7F0}"/>
              </a:ext>
            </a:extLst>
          </p:cNvPr>
          <p:cNvSpPr>
            <a:spLocks xmlns:a="http://schemas.openxmlformats.org/drawingml/2006/main" noGrp="1"/>
          </p:cNvSpPr>
          <p:nvPr/>
        </p:nvSpPr>
        <p:spPr>
          <a:xfrm xmlns:a="http://schemas.openxmlformats.org/drawingml/2006/main">
            <a:off x="400050" y="5619750"/>
            <a:ext cx="1076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Use asymptotics to screen scenarios; use simulation to quantify execution risk.</a:t>
            </a:r>
          </a:p>
        </p:txBody>
      </p:sp>
    </p:spTree>
    <p:extLst>
      <p:ext uri="{BB962C8B-B14F-4D97-AF65-F5344CB8AC3E}">
        <p14:creationId xmlns:p14="http://schemas.microsoft.com/office/powerpoint/2010/main" val="130365173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A1A5723-3568-4C0E-A44E-C81B554CA133}"/>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TIMING PITFALLS</a:t>
            </a:r>
          </a:p>
        </p:txBody>
      </p:sp>
      <p:sp>
        <p:nvSpPr>
          <p:cNvPr id="2" name="">
            <a:extLst xmlns:a="http://schemas.openxmlformats.org/drawingml/2006/main">
              <a:ext uri="{FF2B5EF4-FFF2-40B4-BE49-F238E27FC236}">
                <a16:creationId xmlns:a16="http://schemas.microsoft.com/office/drawing/2014/main" id="{81EA94F2-A469-4EA2-A18D-6CBB9C17F9D2}"/>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Two inputs are especially easy to misread</a:t>
            </a:r>
          </a:p>
        </p:txBody>
      </p:sp>
      <p:sp>
        <p:nvSpPr>
          <p:cNvPr id="3" name="">
            <a:extLst xmlns:a="http://schemas.openxmlformats.org/drawingml/2006/main">
              <a:ext uri="{FF2B5EF4-FFF2-40B4-BE49-F238E27FC236}">
                <a16:creationId xmlns:a16="http://schemas.microsoft.com/office/drawing/2014/main" id="{D3B0AC8F-DEDC-46A9-95F6-8CD9A5ADAB3D}"/>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1EBD63F6-83A7-4858-A8FB-BEE0D1600A69}"/>
              </a:ext>
            </a:extLst>
          </p:cNvPr>
          <p:cNvSpPr>
            <a:spLocks xmlns:a="http://schemas.openxmlformats.org/drawingml/2006/main" noGrp="1"/>
          </p:cNvSpPr>
          <p:nvPr/>
        </p:nvSpPr>
        <p:spPr>
          <a:xfrm xmlns:a="http://schemas.openxmlformats.org/drawingml/2006/main">
            <a:off x="400050" y="1762125"/>
            <a:ext cx="5381625" cy="3667125"/>
          </a:xfrm>
          <a:prstGeom xmlns:a="http://schemas.openxmlformats.org/drawingml/2006/main" prst="roundRect">
            <a:avLst>
              <a:gd name="adj" fmla="val 3117"/>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21EC0AB3-F0D2-46DC-A224-05543312CBDC}"/>
              </a:ext>
            </a:extLst>
          </p:cNvPr>
          <p:cNvSpPr>
            <a:spLocks xmlns:a="http://schemas.openxmlformats.org/drawingml/2006/main" noGrp="1"/>
          </p:cNvSpPr>
          <p:nvPr/>
        </p:nvSpPr>
        <p:spPr>
          <a:xfrm xmlns:a="http://schemas.openxmlformats.org/drawingml/2006/main">
            <a:off x="628650" y="1952625"/>
            <a:ext cx="49244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FOLLOW-UP FLOOR</a:t>
            </a:r>
          </a:p>
        </p:txBody>
      </p:sp>
      <p:sp>
        <p:nvSpPr>
          <p:cNvPr id="6" name="">
            <a:extLst xmlns:a="http://schemas.openxmlformats.org/drawingml/2006/main">
              <a:ext uri="{FF2B5EF4-FFF2-40B4-BE49-F238E27FC236}">
                <a16:creationId xmlns:a16="http://schemas.microsoft.com/office/drawing/2014/main" id="{499F8523-07B8-4510-B277-DA7048672A39}"/>
              </a:ext>
            </a:extLst>
          </p:cNvPr>
          <p:cNvSpPr>
            <a:spLocks xmlns:a="http://schemas.openxmlformats.org/drawingml/2006/main" noGrp="1"/>
          </p:cNvSpPr>
          <p:nvPr/>
        </p:nvSpPr>
        <p:spPr>
          <a:xfrm xmlns:a="http://schemas.openxmlformats.org/drawingml/2006/main">
            <a:off x="628650" y="2352675"/>
            <a:ext cx="4924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300" b="1">
                <a:solidFill>
                  <a:srgbClr val="000000"/>
                </a:solidFill>
                <a:latin typeface="Helvetica Neue"/>
                <a:ea typeface="Helvetica Neue"/>
                <a:cs typeface="Helvetica Neue"/>
              </a:defRPr>
            </a:pPr>
            <a:r>
              <a:rPr sz="3300" b="1">
                <a:solidFill>
                  <a:srgbClr val="000000"/>
                </a:solidFill>
                <a:latin typeface="Helvetica Neue"/>
                <a:ea typeface="Helvetica Neue"/>
                <a:cs typeface="Helvetica Neue"/>
              </a:rPr>
              <a:t>minfup</a:t>
            </a:r>
          </a:p>
        </p:txBody>
      </p:sp>
      <p:sp>
        <p:nvSpPr>
          <p:cNvPr id="7" name="">
            <a:extLst xmlns:a="http://schemas.openxmlformats.org/drawingml/2006/main">
              <a:ext uri="{FF2B5EF4-FFF2-40B4-BE49-F238E27FC236}">
                <a16:creationId xmlns:a16="http://schemas.microsoft.com/office/drawing/2014/main" id="{44B45F2A-FBB6-4E2D-A0CC-C1C62F6AE116}"/>
              </a:ext>
            </a:extLst>
          </p:cNvPr>
          <p:cNvSpPr>
            <a:spLocks xmlns:a="http://schemas.openxmlformats.org/drawingml/2006/main" noGrp="1"/>
          </p:cNvSpPr>
          <p:nvPr/>
        </p:nvSpPr>
        <p:spPr>
          <a:xfrm xmlns:a="http://schemas.openxmlformats.org/drawingml/2006/main">
            <a:off x="628650" y="3114675"/>
            <a:ext cx="4924425" cy="2085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A final-analysis floor after enrollment ends—not an event target.</a:t>
            </a:r>
          </a:p>
          <a:p xmlns:a="http://schemas.openxmlformats.org/drawingml/2006/main">
            <a:r>
              <a:t/>
            </a:r>
          </a:p>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Final time ≥ sum(R) + minfup.</a:t>
            </a:r>
          </a:p>
          <a:p xmlns:a="http://schemas.openxmlformats.org/drawingml/2006/main">
            <a:r>
              <a:t/>
            </a:r>
          </a:p>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Expected final events may exceed the target.</a:t>
            </a:r>
          </a:p>
        </p:txBody>
      </p:sp>
      <p:sp>
        <p:nvSpPr>
          <p:cNvPr id="8" name="">
            <a:extLst xmlns:a="http://schemas.openxmlformats.org/drawingml/2006/main">
              <a:ext uri="{FF2B5EF4-FFF2-40B4-BE49-F238E27FC236}">
                <a16:creationId xmlns:a16="http://schemas.microsoft.com/office/drawing/2014/main" id="{C815A65B-9C04-45DA-9488-C775881B3B73}"/>
              </a:ext>
            </a:extLst>
          </p:cNvPr>
          <p:cNvSpPr>
            <a:spLocks xmlns:a="http://schemas.openxmlformats.org/drawingml/2006/main" noGrp="1"/>
          </p:cNvSpPr>
          <p:nvPr/>
        </p:nvSpPr>
        <p:spPr>
          <a:xfrm xmlns:a="http://schemas.openxmlformats.org/drawingml/2006/main">
            <a:off x="6076950" y="1762125"/>
            <a:ext cx="5715000" cy="3667125"/>
          </a:xfrm>
          <a:prstGeom xmlns:a="http://schemas.openxmlformats.org/drawingml/2006/main" prst="roundRect">
            <a:avLst>
              <a:gd name="adj" fmla="val 3117"/>
            </a:avLst>
          </a:prstGeom>
          <a:solidFill xmlns:a="http://schemas.openxmlformats.org/drawingml/2006/main">
            <a:srgbClr val="EAF6FC"/>
          </a:solidFill>
          <a:ln xmlns:a="http://schemas.openxmlformats.org/drawingml/2006/main" w="0">
            <a:solidFill>
              <a:srgbClr val="EAF6FC"/>
            </a:solidFill>
            <a:prstDash val="solid"/>
          </a:ln>
        </p:spPr>
      </p:sp>
      <p:sp>
        <p:nvSpPr>
          <p:cNvPr id="9" name="">
            <a:extLst xmlns:a="http://schemas.openxmlformats.org/drawingml/2006/main">
              <a:ext uri="{FF2B5EF4-FFF2-40B4-BE49-F238E27FC236}">
                <a16:creationId xmlns:a16="http://schemas.microsoft.com/office/drawing/2014/main" id="{DB447F39-BF8A-456E-A030-6CED964FB7DE}"/>
              </a:ext>
            </a:extLst>
          </p:cNvPr>
          <p:cNvSpPr>
            <a:spLocks xmlns:a="http://schemas.openxmlformats.org/drawingml/2006/main" noGrp="1"/>
          </p:cNvSpPr>
          <p:nvPr/>
        </p:nvSpPr>
        <p:spPr>
          <a:xfrm xmlns:a="http://schemas.openxmlformats.org/drawingml/2006/main">
            <a:off x="6305550" y="1952625"/>
            <a:ext cx="525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ENROLLMENT DURATION</a:t>
            </a:r>
          </a:p>
        </p:txBody>
      </p:sp>
      <p:sp>
        <p:nvSpPr>
          <p:cNvPr id="10" name="">
            <a:extLst xmlns:a="http://schemas.openxmlformats.org/drawingml/2006/main">
              <a:ext uri="{FF2B5EF4-FFF2-40B4-BE49-F238E27FC236}">
                <a16:creationId xmlns:a16="http://schemas.microsoft.com/office/drawing/2014/main" id="{C61D8CA9-BFEB-44A8-8F93-08A927813089}"/>
              </a:ext>
            </a:extLst>
          </p:cNvPr>
          <p:cNvSpPr>
            <a:spLocks xmlns:a="http://schemas.openxmlformats.org/drawingml/2006/main" noGrp="1"/>
          </p:cNvSpPr>
          <p:nvPr/>
        </p:nvSpPr>
        <p:spPr>
          <a:xfrm xmlns:a="http://schemas.openxmlformats.org/drawingml/2006/main">
            <a:off x="6305550" y="2352675"/>
            <a:ext cx="5257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300" b="1">
                <a:solidFill>
                  <a:srgbClr val="000000"/>
                </a:solidFill>
                <a:latin typeface="Helvetica Neue"/>
                <a:ea typeface="Helvetica Neue"/>
                <a:cs typeface="Helvetica Neue"/>
              </a:defRPr>
            </a:pPr>
            <a:r>
              <a:rPr sz="3300" b="1">
                <a:solidFill>
                  <a:srgbClr val="000000"/>
                </a:solidFill>
                <a:latin typeface="Helvetica Neue"/>
                <a:ea typeface="Helvetica Neue"/>
                <a:cs typeface="Helvetica Neue"/>
              </a:rPr>
              <a:t>targetN</a:t>
            </a:r>
          </a:p>
        </p:txBody>
      </p:sp>
      <p:sp>
        <p:nvSpPr>
          <p:cNvPr id="11" name="">
            <a:extLst xmlns:a="http://schemas.openxmlformats.org/drawingml/2006/main">
              <a:ext uri="{FF2B5EF4-FFF2-40B4-BE49-F238E27FC236}">
                <a16:creationId xmlns:a16="http://schemas.microsoft.com/office/drawing/2014/main" id="{7DB9DF2D-95DB-4BD0-BA7D-272B8038D7A3}"/>
              </a:ext>
            </a:extLst>
          </p:cNvPr>
          <p:cNvSpPr>
            <a:spLocks xmlns:a="http://schemas.openxmlformats.org/drawingml/2006/main" noGrp="1"/>
          </p:cNvSpPr>
          <p:nvPr/>
        </p:nvSpPr>
        <p:spPr>
          <a:xfrm xmlns:a="http://schemas.openxmlformats.org/drawingml/2006/main">
            <a:off x="6305550" y="3114675"/>
            <a:ext cx="5257800" cy="2085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Changes enrollment duration—not the enrollment-rate vector.</a:t>
            </a:r>
          </a:p>
          <a:p xmlns:a="http://schemas.openxmlformats.org/drawingml/2006/main">
            <a:r>
              <a:t/>
            </a:r>
          </a:p>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It rescales R so sum(gamma × R) = targetN.</a:t>
            </a:r>
          </a:p>
          <a:p xmlns:a="http://schemas.openxmlformats.org/drawingml/2006/main">
            <a:r>
              <a:t/>
            </a:r>
          </a:p>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Do not also supply a non-NULL R.</a:t>
            </a:r>
          </a:p>
        </p:txBody>
      </p:sp>
      <p:sp>
        <p:nvSpPr>
          <p:cNvPr id="12" name="">
            <a:extLst xmlns:a="http://schemas.openxmlformats.org/drawingml/2006/main">
              <a:ext uri="{FF2B5EF4-FFF2-40B4-BE49-F238E27FC236}">
                <a16:creationId xmlns:a16="http://schemas.microsoft.com/office/drawing/2014/main" id="{AB223CCB-E3D8-4BA4-BFF9-1472064ED236}"/>
              </a:ext>
            </a:extLst>
          </p:cNvPr>
          <p:cNvSpPr>
            <a:spLocks xmlns:a="http://schemas.openxmlformats.org/drawingml/2006/main" noGrp="1"/>
          </p:cNvSpPr>
          <p:nvPr/>
        </p:nvSpPr>
        <p:spPr>
          <a:xfrm xmlns:a="http://schemas.openxmlformats.org/drawingml/2006/main">
            <a:off x="400050" y="5857875"/>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Neither argument solves the design for power.</a:t>
            </a:r>
          </a:p>
        </p:txBody>
      </p:sp>
    </p:spTree>
    <p:extLst>
      <p:ext uri="{BB962C8B-B14F-4D97-AF65-F5344CB8AC3E}">
        <p14:creationId xmlns:p14="http://schemas.microsoft.com/office/powerpoint/2010/main" val="95109499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9C7A4DC-3E7F-4ACF-86DD-73CA2820B45A}"/>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TIMING PITFALLS</a:t>
            </a:r>
          </a:p>
        </p:txBody>
      </p:sp>
      <p:sp>
        <p:nvSpPr>
          <p:cNvPr id="2" name="">
            <a:extLst xmlns:a="http://schemas.openxmlformats.org/drawingml/2006/main">
              <a:ext uri="{FF2B5EF4-FFF2-40B4-BE49-F238E27FC236}">
                <a16:creationId xmlns:a16="http://schemas.microsoft.com/office/drawing/2014/main" id="{7673EBCC-6634-4781-A901-BBFFFFDE5286}"/>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Choose the right deadline</a:t>
            </a:r>
          </a:p>
        </p:txBody>
      </p:sp>
      <p:sp>
        <p:nvSpPr>
          <p:cNvPr id="3" name="">
            <a:extLst xmlns:a="http://schemas.openxmlformats.org/drawingml/2006/main">
              <a:ext uri="{FF2B5EF4-FFF2-40B4-BE49-F238E27FC236}">
                <a16:creationId xmlns:a16="http://schemas.microsoft.com/office/drawing/2014/main" id="{F60361A1-8B5F-4335-8241-86B1300ED11E}"/>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17</a:t>
            </a:r>
          </a:p>
        </p:txBody>
      </p:sp>
      <p:sp>
        <p:nvSpPr>
          <p:cNvPr id="4" name="">
            <a:extLst xmlns:a="http://schemas.openxmlformats.org/drawingml/2006/main">
              <a:ext uri="{FF2B5EF4-FFF2-40B4-BE49-F238E27FC236}">
                <a16:creationId xmlns:a16="http://schemas.microsoft.com/office/drawing/2014/main" id="{7877C3D7-FF02-4BBB-BB11-D9B31B790AA6}"/>
              </a:ext>
            </a:extLst>
          </p:cNvPr>
          <p:cNvSpPr>
            <a:spLocks xmlns:a="http://schemas.openxmlformats.org/drawingml/2006/main" noGrp="1"/>
          </p:cNvSpPr>
          <p:nvPr/>
        </p:nvSpPr>
        <p:spPr>
          <a:xfrm xmlns:a="http://schemas.openxmlformats.org/drawingml/2006/main">
            <a:off x="400050" y="16573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relative</a:t>
            </a:r>
          </a:p>
        </p:txBody>
      </p:sp>
      <p:sp>
        <p:nvSpPr>
          <p:cNvPr id="5" name="">
            <a:extLst xmlns:a="http://schemas.openxmlformats.org/drawingml/2006/main">
              <a:ext uri="{FF2B5EF4-FFF2-40B4-BE49-F238E27FC236}">
                <a16:creationId xmlns:a16="http://schemas.microsoft.com/office/drawing/2014/main" id="{F822582E-3432-478E-9DA5-F16DC042123C}"/>
              </a:ext>
            </a:extLst>
          </p:cNvPr>
          <p:cNvSpPr>
            <a:spLocks xmlns:a="http://schemas.openxmlformats.org/drawingml/2006/main" noGrp="1"/>
          </p:cNvSpPr>
          <p:nvPr/>
        </p:nvSpPr>
        <p:spPr>
          <a:xfrm xmlns:a="http://schemas.openxmlformats.org/drawingml/2006/main">
            <a:off x="400050" y="2038350"/>
            <a:ext cx="409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maxExtension</a:t>
            </a:r>
          </a:p>
        </p:txBody>
      </p:sp>
      <p:sp>
        <p:nvSpPr>
          <p:cNvPr id="6" name="">
            <a:extLst xmlns:a="http://schemas.openxmlformats.org/drawingml/2006/main">
              <a:ext uri="{FF2B5EF4-FFF2-40B4-BE49-F238E27FC236}">
                <a16:creationId xmlns:a16="http://schemas.microsoft.com/office/drawing/2014/main" id="{35490165-834B-4E29-99C1-0F87B92F748D}"/>
              </a:ext>
            </a:extLst>
          </p:cNvPr>
          <p:cNvSpPr>
            <a:spLocks xmlns:a="http://schemas.openxmlformats.org/drawingml/2006/main" noGrp="1"/>
          </p:cNvSpPr>
          <p:nvPr/>
        </p:nvSpPr>
        <p:spPr>
          <a:xfrm xmlns:a="http://schemas.openxmlformats.org/drawingml/2006/main">
            <a:off x="400050" y="27241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SF Mono"/>
                <a:ea typeface="SF Mono"/>
                <a:cs typeface="SF Mono"/>
              </a:defRPr>
            </a:pPr>
            <a:r>
              <a:rPr sz="1800" b="0">
                <a:solidFill>
                  <a:srgbClr val="4B5563"/>
                </a:solidFill>
                <a:latin typeface="SF Mono"/>
                <a:ea typeface="SF Mono"/>
                <a:cs typeface="SF Mono"/>
              </a:rPr>
              <a:t>deadline = timing anchor + extension</a:t>
            </a:r>
          </a:p>
        </p:txBody>
      </p:sp>
      <p:sp>
        <p:nvSpPr>
          <p:cNvPr id="7" name="">
            <a:extLst xmlns:a="http://schemas.openxmlformats.org/drawingml/2006/main">
              <a:ext uri="{FF2B5EF4-FFF2-40B4-BE49-F238E27FC236}">
                <a16:creationId xmlns:a16="http://schemas.microsoft.com/office/drawing/2014/main" id="{C2F3E958-1D52-48DC-9F0E-E36F6F516D66}"/>
              </a:ext>
            </a:extLst>
          </p:cNvPr>
          <p:cNvSpPr>
            <a:spLocks xmlns:a="http://schemas.openxmlformats.org/drawingml/2006/main" noGrp="1"/>
          </p:cNvSpPr>
          <p:nvPr/>
        </p:nvSpPr>
        <p:spPr>
          <a:xfrm xmlns:a="http://schemas.openxmlformats.org/drawingml/2006/main">
            <a:off x="952500" y="3952875"/>
            <a:ext cx="4095750" cy="0"/>
          </a:xfrm>
          <a:prstGeom xmlns:a="http://schemas.openxmlformats.org/drawingml/2006/main" prst="line">
            <a:avLst/>
          </a:prstGeom>
          <a:noFill xmlns:a="http://schemas.openxmlformats.org/drawingml/2006/main"/>
          <a:ln xmlns:a="http://schemas.openxmlformats.org/drawingml/2006/main" w="28575">
            <a:solidFill>
              <a:srgbClr val="9CA3AF"/>
            </a:solidFill>
            <a:prstDash val="solid"/>
          </a:ln>
        </p:spPr>
      </p:sp>
      <p:sp>
        <p:nvSpPr>
          <p:cNvPr id="8" name="">
            <a:extLst xmlns:a="http://schemas.openxmlformats.org/drawingml/2006/main">
              <a:ext uri="{FF2B5EF4-FFF2-40B4-BE49-F238E27FC236}">
                <a16:creationId xmlns:a16="http://schemas.microsoft.com/office/drawing/2014/main" id="{2C543C2C-B590-4895-91BD-4E8982D17948}"/>
              </a:ext>
            </a:extLst>
          </p:cNvPr>
          <p:cNvSpPr>
            <a:spLocks xmlns:a="http://schemas.openxmlformats.org/drawingml/2006/main" noGrp="1"/>
          </p:cNvSpPr>
          <p:nvPr/>
        </p:nvSpPr>
        <p:spPr>
          <a:xfrm xmlns:a="http://schemas.openxmlformats.org/drawingml/2006/main">
            <a:off x="1428750" y="3857625"/>
            <a:ext cx="190500" cy="1905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E08013BC-E52B-4136-AF87-2959999AF8E9}"/>
              </a:ext>
            </a:extLst>
          </p:cNvPr>
          <p:cNvSpPr>
            <a:spLocks xmlns:a="http://schemas.openxmlformats.org/drawingml/2006/main" noGrp="1"/>
          </p:cNvSpPr>
          <p:nvPr/>
        </p:nvSpPr>
        <p:spPr>
          <a:xfrm xmlns:a="http://schemas.openxmlformats.org/drawingml/2006/main">
            <a:off x="4191000" y="3829050"/>
            <a:ext cx="247650" cy="2476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0" name="">
            <a:extLst xmlns:a="http://schemas.openxmlformats.org/drawingml/2006/main">
              <a:ext uri="{FF2B5EF4-FFF2-40B4-BE49-F238E27FC236}">
                <a16:creationId xmlns:a16="http://schemas.microsoft.com/office/drawing/2014/main" id="{A76DBFD3-D503-4613-99D5-833FAA2122B7}"/>
              </a:ext>
            </a:extLst>
          </p:cNvPr>
          <p:cNvSpPr>
            <a:spLocks xmlns:a="http://schemas.openxmlformats.org/drawingml/2006/main" noGrp="1"/>
          </p:cNvSpPr>
          <p:nvPr/>
        </p:nvSpPr>
        <p:spPr>
          <a:xfrm xmlns:a="http://schemas.openxmlformats.org/drawingml/2006/main">
            <a:off x="1066800" y="42862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anchor</a:t>
            </a:r>
          </a:p>
        </p:txBody>
      </p:sp>
      <p:sp>
        <p:nvSpPr>
          <p:cNvPr id="11" name="">
            <a:extLst xmlns:a="http://schemas.openxmlformats.org/drawingml/2006/main">
              <a:ext uri="{FF2B5EF4-FFF2-40B4-BE49-F238E27FC236}">
                <a16:creationId xmlns:a16="http://schemas.microsoft.com/office/drawing/2014/main" id="{A0D80B0B-BA93-4E9A-B1E5-DB4391A0BE69}"/>
              </a:ext>
            </a:extLst>
          </p:cNvPr>
          <p:cNvSpPr>
            <a:spLocks xmlns:a="http://schemas.openxmlformats.org/drawingml/2006/main" noGrp="1"/>
          </p:cNvSpPr>
          <p:nvPr/>
        </p:nvSpPr>
        <p:spPr>
          <a:xfrm xmlns:a="http://schemas.openxmlformats.org/drawingml/2006/main">
            <a:off x="3714750" y="42862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+ 6 mo</a:t>
            </a:r>
          </a:p>
        </p:txBody>
      </p:sp>
      <p:sp>
        <p:nvSpPr>
          <p:cNvPr id="12" name="">
            <a:extLst xmlns:a="http://schemas.openxmlformats.org/drawingml/2006/main">
              <a:ext uri="{FF2B5EF4-FFF2-40B4-BE49-F238E27FC236}">
                <a16:creationId xmlns:a16="http://schemas.microsoft.com/office/drawing/2014/main" id="{2888B7F0-0956-4D71-A3AF-39CEE32F83CD}"/>
              </a:ext>
            </a:extLst>
          </p:cNvPr>
          <p:cNvSpPr>
            <a:spLocks xmlns:a="http://schemas.openxmlformats.org/drawingml/2006/main" noGrp="1"/>
          </p:cNvSpPr>
          <p:nvPr/>
        </p:nvSpPr>
        <p:spPr>
          <a:xfrm xmlns:a="http://schemas.openxmlformats.org/drawingml/2006/main">
            <a:off x="6477000" y="16573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a:solidFill>
                  <a:srgbClr val="E07A3F"/>
                </a:solidFill>
                <a:latin typeface="Helvetica Neue"/>
                <a:ea typeface="Helvetica Neue"/>
                <a:cs typeface="Helvetica Neue"/>
              </a:defRPr>
            </a:pPr>
            <a:r>
              <a:rPr sz="1575" b="1">
                <a:solidFill>
                  <a:srgbClr val="E07A3F"/>
                </a:solidFill>
                <a:latin typeface="Helvetica Neue"/>
                <a:ea typeface="Helvetica Neue"/>
                <a:cs typeface="Helvetica Neue"/>
              </a:rPr>
              <a:t>absolute</a:t>
            </a:r>
          </a:p>
        </p:txBody>
      </p:sp>
      <p:sp>
        <p:nvSpPr>
          <p:cNvPr id="13" name="">
            <a:extLst xmlns:a="http://schemas.openxmlformats.org/drawingml/2006/main">
              <a:ext uri="{FF2B5EF4-FFF2-40B4-BE49-F238E27FC236}">
                <a16:creationId xmlns:a16="http://schemas.microsoft.com/office/drawing/2014/main" id="{E847813E-F011-474C-9908-271862727392}"/>
              </a:ext>
            </a:extLst>
          </p:cNvPr>
          <p:cNvSpPr>
            <a:spLocks xmlns:a="http://schemas.openxmlformats.org/drawingml/2006/main" noGrp="1"/>
          </p:cNvSpPr>
          <p:nvPr/>
        </p:nvSpPr>
        <p:spPr>
          <a:xfrm xmlns:a="http://schemas.openxmlformats.org/drawingml/2006/main">
            <a:off x="6477000" y="2038350"/>
            <a:ext cx="4857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maxCalendarTime</a:t>
            </a:r>
          </a:p>
        </p:txBody>
      </p:sp>
      <p:sp>
        <p:nvSpPr>
          <p:cNvPr id="14" name="">
            <a:extLst xmlns:a="http://schemas.openxmlformats.org/drawingml/2006/main">
              <a:ext uri="{FF2B5EF4-FFF2-40B4-BE49-F238E27FC236}">
                <a16:creationId xmlns:a16="http://schemas.microsoft.com/office/drawing/2014/main" id="{C71CF874-9B86-44B4-BC34-FAC2E93F0FC4}"/>
              </a:ext>
            </a:extLst>
          </p:cNvPr>
          <p:cNvSpPr>
            <a:spLocks xmlns:a="http://schemas.openxmlformats.org/drawingml/2006/main" noGrp="1"/>
          </p:cNvSpPr>
          <p:nvPr/>
        </p:nvSpPr>
        <p:spPr>
          <a:xfrm xmlns:a="http://schemas.openxmlformats.org/drawingml/2006/main">
            <a:off x="6477000" y="27241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SF Mono"/>
                <a:ea typeface="SF Mono"/>
                <a:cs typeface="SF Mono"/>
              </a:defRPr>
            </a:pPr>
            <a:r>
              <a:rPr sz="1800" b="0">
                <a:solidFill>
                  <a:srgbClr val="4B5563"/>
                </a:solidFill>
                <a:latin typeface="SF Mono"/>
                <a:ea typeface="SF Mono"/>
                <a:cs typeface="SF Mono"/>
              </a:rPr>
              <a:t>deadline = month 30</a:t>
            </a:r>
          </a:p>
        </p:txBody>
      </p:sp>
      <p:sp>
        <p:nvSpPr>
          <p:cNvPr id="15" name="">
            <a:extLst xmlns:a="http://schemas.openxmlformats.org/drawingml/2006/main">
              <a:ext uri="{FF2B5EF4-FFF2-40B4-BE49-F238E27FC236}">
                <a16:creationId xmlns:a16="http://schemas.microsoft.com/office/drawing/2014/main" id="{7B96E19D-310D-4C33-BD48-B65436B09D21}"/>
              </a:ext>
            </a:extLst>
          </p:cNvPr>
          <p:cNvSpPr>
            <a:spLocks xmlns:a="http://schemas.openxmlformats.org/drawingml/2006/main" noGrp="1"/>
          </p:cNvSpPr>
          <p:nvPr/>
        </p:nvSpPr>
        <p:spPr>
          <a:xfrm xmlns:a="http://schemas.openxmlformats.org/drawingml/2006/main">
            <a:off x="6810375" y="3952875"/>
            <a:ext cx="4238625" cy="0"/>
          </a:xfrm>
          <a:prstGeom xmlns:a="http://schemas.openxmlformats.org/drawingml/2006/main" prst="line">
            <a:avLst/>
          </a:prstGeom>
          <a:noFill xmlns:a="http://schemas.openxmlformats.org/drawingml/2006/main"/>
          <a:ln xmlns:a="http://schemas.openxmlformats.org/drawingml/2006/main" w="28575">
            <a:solidFill>
              <a:srgbClr val="9CA3AF"/>
            </a:solidFill>
            <a:prstDash val="solid"/>
          </a:ln>
        </p:spPr>
      </p:sp>
      <p:sp>
        <p:nvSpPr>
          <p:cNvPr id="16" name="">
            <a:extLst xmlns:a="http://schemas.openxmlformats.org/drawingml/2006/main">
              <a:ext uri="{FF2B5EF4-FFF2-40B4-BE49-F238E27FC236}">
                <a16:creationId xmlns:a16="http://schemas.microsoft.com/office/drawing/2014/main" id="{5E7DEECD-4EBD-438A-88FC-1F88CFD7B014}"/>
              </a:ext>
            </a:extLst>
          </p:cNvPr>
          <p:cNvSpPr>
            <a:spLocks xmlns:a="http://schemas.openxmlformats.org/drawingml/2006/main" noGrp="1"/>
          </p:cNvSpPr>
          <p:nvPr/>
        </p:nvSpPr>
        <p:spPr>
          <a:xfrm xmlns:a="http://schemas.openxmlformats.org/drawingml/2006/main">
            <a:off x="9906000" y="3829050"/>
            <a:ext cx="247650" cy="247650"/>
          </a:xfrm>
          <a:prstGeom xmlns:a="http://schemas.openxmlformats.org/drawingml/2006/main" prst="ellipse">
            <a:avLst/>
          </a:prstGeom>
          <a:solidFill xmlns:a="http://schemas.openxmlformats.org/drawingml/2006/main">
            <a:srgbClr val="E07A3F"/>
          </a:solidFill>
          <a:ln xmlns:a="http://schemas.openxmlformats.org/drawingml/2006/main" w="0">
            <a:solidFill>
              <a:srgbClr val="E07A3F"/>
            </a:solidFill>
            <a:prstDash val="solid"/>
          </a:ln>
        </p:spPr>
      </p:sp>
      <p:sp>
        <p:nvSpPr>
          <p:cNvPr id="17" name="">
            <a:extLst xmlns:a="http://schemas.openxmlformats.org/drawingml/2006/main">
              <a:ext uri="{FF2B5EF4-FFF2-40B4-BE49-F238E27FC236}">
                <a16:creationId xmlns:a16="http://schemas.microsoft.com/office/drawing/2014/main" id="{4F89CA3E-FA95-42BD-A2E8-06ADC6B1E51D}"/>
              </a:ext>
            </a:extLst>
          </p:cNvPr>
          <p:cNvSpPr>
            <a:spLocks xmlns:a="http://schemas.openxmlformats.org/drawingml/2006/main" noGrp="1"/>
          </p:cNvSpPr>
          <p:nvPr/>
        </p:nvSpPr>
        <p:spPr>
          <a:xfrm xmlns:a="http://schemas.openxmlformats.org/drawingml/2006/main">
            <a:off x="9353550" y="42862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a:solidFill>
                  <a:srgbClr val="E07A3F"/>
                </a:solidFill>
                <a:latin typeface="Helvetica Neue"/>
                <a:ea typeface="Helvetica Neue"/>
                <a:cs typeface="Helvetica Neue"/>
              </a:defRPr>
            </a:pPr>
            <a:r>
              <a:rPr sz="1500" b="1">
                <a:solidFill>
                  <a:srgbClr val="E07A3F"/>
                </a:solidFill>
                <a:latin typeface="Helvetica Neue"/>
                <a:ea typeface="Helvetica Neue"/>
                <a:cs typeface="Helvetica Neue"/>
              </a:rPr>
              <a:t>month 30</a:t>
            </a:r>
          </a:p>
        </p:txBody>
      </p:sp>
      <p:sp>
        <p:nvSpPr>
          <p:cNvPr id="18" name="">
            <a:extLst xmlns:a="http://schemas.openxmlformats.org/drawingml/2006/main">
              <a:ext uri="{FF2B5EF4-FFF2-40B4-BE49-F238E27FC236}">
                <a16:creationId xmlns:a16="http://schemas.microsoft.com/office/drawing/2014/main" id="{361EB855-7D48-4174-A9F2-6770F70C0FF5}"/>
              </a:ext>
            </a:extLst>
          </p:cNvPr>
          <p:cNvSpPr>
            <a:spLocks xmlns:a="http://schemas.openxmlformats.org/drawingml/2006/main" noGrp="1"/>
          </p:cNvSpPr>
          <p:nvPr/>
        </p:nvSpPr>
        <p:spPr>
          <a:xfrm xmlns:a="http://schemas.openxmlformats.org/drawingml/2006/main">
            <a:off x="400050" y="5257800"/>
            <a:ext cx="11391900" cy="819150"/>
          </a:xfrm>
          <a:prstGeom xmlns:a="http://schemas.openxmlformats.org/drawingml/2006/main" prst="roundRect">
            <a:avLst>
              <a:gd name="adj" fmla="val 13953"/>
            </a:avLst>
          </a:prstGeom>
          <a:solidFill xmlns:a="http://schemas.openxmlformats.org/drawingml/2006/main">
            <a:srgbClr val="F2F2F2"/>
          </a:solidFill>
          <a:ln xmlns:a="http://schemas.openxmlformats.org/drawingml/2006/main" w="0">
            <a:solidFill>
              <a:srgbClr val="F2F2F2"/>
            </a:solidFill>
            <a:prstDash val="solid"/>
          </a:ln>
        </p:spPr>
      </p:sp>
      <p:sp>
        <p:nvSpPr>
          <p:cNvPr id="19" name="">
            <a:extLst xmlns:a="http://schemas.openxmlformats.org/drawingml/2006/main">
              <a:ext uri="{FF2B5EF4-FFF2-40B4-BE49-F238E27FC236}">
                <a16:creationId xmlns:a16="http://schemas.microsoft.com/office/drawing/2014/main" id="{DD90E8BB-A811-446E-8342-E226B0AAC0D6}"/>
              </a:ext>
            </a:extLst>
          </p:cNvPr>
          <p:cNvSpPr>
            <a:spLocks xmlns:a="http://schemas.openxmlformats.org/drawingml/2006/main" noGrp="1"/>
          </p:cNvSpPr>
          <p:nvPr/>
        </p:nvSpPr>
        <p:spPr>
          <a:xfrm xmlns:a="http://schemas.openxmlformats.org/drawingml/2006/main">
            <a:off x="685800" y="548640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If both are supplied, the earlier deadline wins.</a:t>
            </a:r>
          </a:p>
        </p:txBody>
      </p:sp>
    </p:spTree>
    <p:extLst>
      <p:ext uri="{BB962C8B-B14F-4D97-AF65-F5344CB8AC3E}">
        <p14:creationId xmlns:p14="http://schemas.microsoft.com/office/powerpoint/2010/main" val="2966467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F62AEA9-35D7-4EAD-A8D2-2E1A7AB2D72D}"/>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TIMING PITFALLS</a:t>
            </a:r>
          </a:p>
        </p:txBody>
      </p:sp>
      <p:sp>
        <p:nvSpPr>
          <p:cNvPr id="2" name="">
            <a:extLst xmlns:a="http://schemas.openxmlformats.org/drawingml/2006/main">
              <a:ext uri="{FF2B5EF4-FFF2-40B4-BE49-F238E27FC236}">
                <a16:creationId xmlns:a16="http://schemas.microsoft.com/office/drawing/2014/main" id="{52336AF1-DF90-4AFE-A180-CCD2149C94C6}"/>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Enrollment + follow-up creates an analysis floor</a:t>
            </a:r>
          </a:p>
        </p:txBody>
      </p:sp>
      <p:sp>
        <p:nvSpPr>
          <p:cNvPr id="3" name="">
            <a:extLst xmlns:a="http://schemas.openxmlformats.org/drawingml/2006/main">
              <a:ext uri="{FF2B5EF4-FFF2-40B4-BE49-F238E27FC236}">
                <a16:creationId xmlns:a16="http://schemas.microsoft.com/office/drawing/2014/main" id="{9D6A7851-9AF6-4DD8-AFCB-8D8A7B4EB969}"/>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762599DB-F491-425D-856C-C5CB452EB1DE}"/>
              </a:ext>
            </a:extLst>
          </p:cNvPr>
          <p:cNvSpPr>
            <a:spLocks xmlns:a="http://schemas.openxmlformats.org/drawingml/2006/main" noGrp="1"/>
          </p:cNvSpPr>
          <p:nvPr/>
        </p:nvSpPr>
        <p:spPr>
          <a:xfrm xmlns:a="http://schemas.openxmlformats.org/drawingml/2006/main">
            <a:off x="904875" y="3381375"/>
            <a:ext cx="10096500" cy="0"/>
          </a:xfrm>
          <a:prstGeom xmlns:a="http://schemas.openxmlformats.org/drawingml/2006/main" prst="line">
            <a:avLst/>
          </a:prstGeom>
          <a:noFill xmlns:a="http://schemas.openxmlformats.org/drawingml/2006/main"/>
          <a:ln xmlns:a="http://schemas.openxmlformats.org/drawingml/2006/main" w="28575">
            <a:solidFill>
              <a:srgbClr val="9CA3AF"/>
            </a:solidFill>
            <a:prstDash val="solid"/>
          </a:ln>
        </p:spPr>
      </p:sp>
      <p:sp>
        <p:nvSpPr>
          <p:cNvPr id="5" name="">
            <a:extLst xmlns:a="http://schemas.openxmlformats.org/drawingml/2006/main">
              <a:ext uri="{FF2B5EF4-FFF2-40B4-BE49-F238E27FC236}">
                <a16:creationId xmlns:a16="http://schemas.microsoft.com/office/drawing/2014/main" id="{1D5D52B7-9514-4D02-9DBE-96100ED31038}"/>
              </a:ext>
            </a:extLst>
          </p:cNvPr>
          <p:cNvSpPr>
            <a:spLocks xmlns:a="http://schemas.openxmlformats.org/drawingml/2006/main" noGrp="1"/>
          </p:cNvSpPr>
          <p:nvPr/>
        </p:nvSpPr>
        <p:spPr>
          <a:xfrm xmlns:a="http://schemas.openxmlformats.org/drawingml/2006/main">
            <a:off x="1695450" y="3267075"/>
            <a:ext cx="228600" cy="2286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2BEC7E4A-CA93-4242-9124-72F169388420}"/>
              </a:ext>
            </a:extLst>
          </p:cNvPr>
          <p:cNvSpPr>
            <a:spLocks xmlns:a="http://schemas.openxmlformats.org/drawingml/2006/main" noGrp="1"/>
          </p:cNvSpPr>
          <p:nvPr/>
        </p:nvSpPr>
        <p:spPr>
          <a:xfrm xmlns:a="http://schemas.openxmlformats.org/drawingml/2006/main">
            <a:off x="5029200" y="3267075"/>
            <a:ext cx="228600" cy="2286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3966C9ED-5171-4F33-A3C1-3DE26A7C0816}"/>
              </a:ext>
            </a:extLst>
          </p:cNvPr>
          <p:cNvSpPr>
            <a:spLocks xmlns:a="http://schemas.openxmlformats.org/drawingml/2006/main" noGrp="1"/>
          </p:cNvSpPr>
          <p:nvPr/>
        </p:nvSpPr>
        <p:spPr>
          <a:xfrm xmlns:a="http://schemas.openxmlformats.org/drawingml/2006/main">
            <a:off x="8458200" y="3267075"/>
            <a:ext cx="228600" cy="2286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8" name="">
            <a:extLst xmlns:a="http://schemas.openxmlformats.org/drawingml/2006/main">
              <a:ext uri="{FF2B5EF4-FFF2-40B4-BE49-F238E27FC236}">
                <a16:creationId xmlns:a16="http://schemas.microsoft.com/office/drawing/2014/main" id="{FF06D225-9468-413F-BEC8-2C8ABFC494B4}"/>
              </a:ext>
            </a:extLst>
          </p:cNvPr>
          <p:cNvSpPr>
            <a:spLocks xmlns:a="http://schemas.openxmlformats.org/drawingml/2006/main" noGrp="1"/>
          </p:cNvSpPr>
          <p:nvPr/>
        </p:nvSpPr>
        <p:spPr>
          <a:xfrm xmlns:a="http://schemas.openxmlformats.org/drawingml/2006/main">
            <a:off x="1000125" y="2476500"/>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minN reached</a:t>
            </a:r>
          </a:p>
        </p:txBody>
      </p:sp>
      <p:sp>
        <p:nvSpPr>
          <p:cNvPr id="9" name="">
            <a:extLst xmlns:a="http://schemas.openxmlformats.org/drawingml/2006/main">
              <a:ext uri="{FF2B5EF4-FFF2-40B4-BE49-F238E27FC236}">
                <a16:creationId xmlns:a16="http://schemas.microsoft.com/office/drawing/2014/main" id="{D9B754A1-862E-4433-8E63-F1E9F8519E98}"/>
              </a:ext>
            </a:extLst>
          </p:cNvPr>
          <p:cNvSpPr>
            <a:spLocks xmlns:a="http://schemas.openxmlformats.org/drawingml/2006/main" noGrp="1"/>
          </p:cNvSpPr>
          <p:nvPr/>
        </p:nvSpPr>
        <p:spPr>
          <a:xfrm xmlns:a="http://schemas.openxmlformats.org/drawingml/2006/main">
            <a:off x="4333875" y="3762375"/>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394"/>
          </a:bodyPr>
          <a:lstStyle xmlns:a="http://schemas.openxmlformats.org/drawingml/2006/main"/>
          <a:p xmlns:a="http://schemas.openxmlformats.org/drawingml/2006/main">
            <a:pPr algn="ctr">
              <a:lnSpc>
                <a:spcPct val="105000"/>
              </a:lnSpc>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 minFollowUp</a:t>
            </a:r>
          </a:p>
        </p:txBody>
      </p:sp>
      <p:sp>
        <p:nvSpPr>
          <p:cNvPr id="10" name="">
            <a:extLst xmlns:a="http://schemas.openxmlformats.org/drawingml/2006/main">
              <a:ext uri="{FF2B5EF4-FFF2-40B4-BE49-F238E27FC236}">
                <a16:creationId xmlns:a16="http://schemas.microsoft.com/office/drawing/2014/main" id="{D7B20294-7A19-4DDC-B179-0FAABEFF1E9E}"/>
              </a:ext>
            </a:extLst>
          </p:cNvPr>
          <p:cNvSpPr>
            <a:spLocks xmlns:a="http://schemas.openxmlformats.org/drawingml/2006/main" noGrp="1"/>
          </p:cNvSpPr>
          <p:nvPr/>
        </p:nvSpPr>
        <p:spPr>
          <a:xfrm xmlns:a="http://schemas.openxmlformats.org/drawingml/2006/main">
            <a:off x="7715250" y="247650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702"/>
          </a:bodyPr>
          <a:lstStyle xmlns:a="http://schemas.openxmlformats.org/drawingml/2006/main"/>
          <a:p xmlns:a="http://schemas.openxmlformats.org/drawingml/2006/main">
            <a:pPr algn="ctr">
              <a:lnSpc>
                <a:spcPct val="105000"/>
              </a:lnSpc>
              <a:buNone/>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analysis eligible</a:t>
            </a:r>
          </a:p>
        </p:txBody>
      </p:sp>
      <p:sp>
        <p:nvSpPr>
          <p:cNvPr id="11" name="">
            <a:extLst xmlns:a="http://schemas.openxmlformats.org/drawingml/2006/main">
              <a:ext uri="{FF2B5EF4-FFF2-40B4-BE49-F238E27FC236}">
                <a16:creationId xmlns:a16="http://schemas.microsoft.com/office/drawing/2014/main" id="{10B263D9-B260-4D24-902C-08B0DA5523DC}"/>
              </a:ext>
            </a:extLst>
          </p:cNvPr>
          <p:cNvSpPr>
            <a:spLocks xmlns:a="http://schemas.openxmlformats.org/drawingml/2006/main" noGrp="1"/>
          </p:cNvSpPr>
          <p:nvPr/>
        </p:nvSpPr>
        <p:spPr>
          <a:xfrm xmlns:a="http://schemas.openxmlformats.org/drawingml/2006/main">
            <a:off x="1047750" y="46196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overall threshold</a:t>
            </a:r>
          </a:p>
        </p:txBody>
      </p:sp>
      <p:sp>
        <p:nvSpPr>
          <p:cNvPr id="12" name="">
            <a:extLst xmlns:a="http://schemas.openxmlformats.org/drawingml/2006/main">
              <a:ext uri="{FF2B5EF4-FFF2-40B4-BE49-F238E27FC236}">
                <a16:creationId xmlns:a16="http://schemas.microsoft.com/office/drawing/2014/main" id="{6352397C-2972-4940-8AEC-7D8CA8CEF5E5}"/>
              </a:ext>
            </a:extLst>
          </p:cNvPr>
          <p:cNvSpPr>
            <a:spLocks xmlns:a="http://schemas.openxmlformats.org/drawingml/2006/main" noGrp="1"/>
          </p:cNvSpPr>
          <p:nvPr/>
        </p:nvSpPr>
        <p:spPr>
          <a:xfrm xmlns:a="http://schemas.openxmlformats.org/drawingml/2006/main">
            <a:off x="3619500" y="4600575"/>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2FE026A9-C3E1-485A-AE13-6A19D05AA5EE}"/>
              </a:ext>
            </a:extLst>
          </p:cNvPr>
          <p:cNvSpPr>
            <a:spLocks xmlns:a="http://schemas.openxmlformats.org/drawingml/2006/main" noGrp="1"/>
          </p:cNvSpPr>
          <p:nvPr/>
        </p:nvSpPr>
        <p:spPr>
          <a:xfrm xmlns:a="http://schemas.openxmlformats.org/drawingml/2006/main">
            <a:off x="4191000" y="4619625"/>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every active per-stratum threshold</a:t>
            </a:r>
          </a:p>
        </p:txBody>
      </p:sp>
      <p:sp>
        <p:nvSpPr>
          <p:cNvPr id="14" name="">
            <a:extLst xmlns:a="http://schemas.openxmlformats.org/drawingml/2006/main">
              <a:ext uri="{FF2B5EF4-FFF2-40B4-BE49-F238E27FC236}">
                <a16:creationId xmlns:a16="http://schemas.microsoft.com/office/drawing/2014/main" id="{1D445D35-96D7-4113-AB32-E464C560FB16}"/>
              </a:ext>
            </a:extLst>
          </p:cNvPr>
          <p:cNvSpPr>
            <a:spLocks xmlns:a="http://schemas.openxmlformats.org/drawingml/2006/main" noGrp="1"/>
          </p:cNvSpPr>
          <p:nvPr/>
        </p:nvSpPr>
        <p:spPr>
          <a:xfrm xmlns:a="http://schemas.openxmlformats.org/drawingml/2006/main">
            <a:off x="7953375" y="4524375"/>
            <a:ext cx="3619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follow-up starts after the last active threshold</a:t>
            </a:r>
          </a:p>
        </p:txBody>
      </p:sp>
      <p:sp>
        <p:nvSpPr>
          <p:cNvPr id="15" name="">
            <a:extLst xmlns:a="http://schemas.openxmlformats.org/drawingml/2006/main">
              <a:ext uri="{FF2B5EF4-FFF2-40B4-BE49-F238E27FC236}">
                <a16:creationId xmlns:a16="http://schemas.microsoft.com/office/drawing/2014/main" id="{FE4C63AD-A92D-43DB-A93C-7E09203B9178}"/>
              </a:ext>
            </a:extLst>
          </p:cNvPr>
          <p:cNvSpPr>
            <a:spLocks xmlns:a="http://schemas.openxmlformats.org/drawingml/2006/main" noGrp="1"/>
          </p:cNvSpPr>
          <p:nvPr/>
        </p:nvSpPr>
        <p:spPr>
          <a:xfrm xmlns:a="http://schemas.openxmlformats.org/drawingml/2006/main">
            <a:off x="400050" y="5476875"/>
            <a:ext cx="11391900" cy="685800"/>
          </a:xfrm>
          <a:prstGeom xmlns:a="http://schemas.openxmlformats.org/drawingml/2006/main" prst="roundRect">
            <a:avLst>
              <a:gd name="adj" fmla="val 16667"/>
            </a:avLst>
          </a:prstGeom>
          <a:solidFill xmlns:a="http://schemas.openxmlformats.org/drawingml/2006/main">
            <a:srgbClr val="EAF6FC"/>
          </a:solidFill>
          <a:ln xmlns:a="http://schemas.openxmlformats.org/drawingml/2006/main" w="0">
            <a:solidFill>
              <a:srgbClr val="EAF6FC"/>
            </a:solidFill>
            <a:prstDash val="solid"/>
          </a:ln>
        </p:spPr>
      </p:sp>
      <p:sp>
        <p:nvSpPr>
          <p:cNvPr id="16" name="">
            <a:extLst xmlns:a="http://schemas.openxmlformats.org/drawingml/2006/main">
              <a:ext uri="{FF2B5EF4-FFF2-40B4-BE49-F238E27FC236}">
                <a16:creationId xmlns:a16="http://schemas.microsoft.com/office/drawing/2014/main" id="{EC8FA420-B887-4C8A-815A-C3B310BCBB5C}"/>
              </a:ext>
            </a:extLst>
          </p:cNvPr>
          <p:cNvSpPr>
            <a:spLocks xmlns:a="http://schemas.openxmlformats.org/drawingml/2006/main" noGrp="1"/>
          </p:cNvSpPr>
          <p:nvPr/>
        </p:nvSpPr>
        <p:spPr>
          <a:xfrm xmlns:a="http://schemas.openxmlformats.org/drawingml/2006/main">
            <a:off x="666750" y="56673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Analyses must still be strictly increasing; add a date, event gate, or minimum gap when needed.</a:t>
            </a:r>
          </a:p>
        </p:txBody>
      </p:sp>
    </p:spTree>
    <p:extLst>
      <p:ext uri="{BB962C8B-B14F-4D97-AF65-F5344CB8AC3E}">
        <p14:creationId xmlns:p14="http://schemas.microsoft.com/office/powerpoint/2010/main" val="91825055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5FB646EA-E362-406A-9390-E9506E3BA39F}"/>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WORKED SCENARIO</a:t>
            </a:r>
          </a:p>
        </p:txBody>
      </p:sp>
      <p:sp>
        <p:nvSpPr>
          <p:cNvPr id="2" name="">
            <a:extLst xmlns:a="http://schemas.openxmlformats.org/drawingml/2006/main">
              <a:ext uri="{FF2B5EF4-FFF2-40B4-BE49-F238E27FC236}">
                <a16:creationId xmlns:a16="http://schemas.microsoft.com/office/drawing/2014/main" id="{7A780892-271F-41CD-B1B2-8C4F4CCA6680}"/>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A realistic plan layers four rules at each look</a:t>
            </a:r>
          </a:p>
        </p:txBody>
      </p:sp>
      <p:sp>
        <p:nvSpPr>
          <p:cNvPr id="3" name="">
            <a:extLst xmlns:a="http://schemas.openxmlformats.org/drawingml/2006/main">
              <a:ext uri="{FF2B5EF4-FFF2-40B4-BE49-F238E27FC236}">
                <a16:creationId xmlns:a16="http://schemas.microsoft.com/office/drawing/2014/main" id="{9CF29913-55E8-46AC-B1A3-24462AB7F1FC}"/>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19</a:t>
            </a:r>
          </a:p>
        </p:txBody>
      </p:sp>
      <p:sp>
        <p:nvSpPr>
          <p:cNvPr id="4" name="">
            <a:extLst xmlns:a="http://schemas.openxmlformats.org/drawingml/2006/main">
              <a:ext uri="{FF2B5EF4-FFF2-40B4-BE49-F238E27FC236}">
                <a16:creationId xmlns:a16="http://schemas.microsoft.com/office/drawing/2014/main" id="{B2D1CC32-E7EC-4F86-B264-09855080B262}"/>
              </a:ext>
            </a:extLst>
          </p:cNvPr>
          <p:cNvSpPr>
            <a:spLocks xmlns:a="http://schemas.openxmlformats.org/drawingml/2006/main" noGrp="1"/>
          </p:cNvSpPr>
          <p:nvPr/>
        </p:nvSpPr>
        <p:spPr>
          <a:xfrm xmlns:a="http://schemas.openxmlformats.org/drawingml/2006/main">
            <a:off x="400050" y="1571625"/>
            <a:ext cx="2762250" cy="6667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5" name="">
            <a:extLst xmlns:a="http://schemas.openxmlformats.org/drawingml/2006/main">
              <a:ext uri="{FF2B5EF4-FFF2-40B4-BE49-F238E27FC236}">
                <a16:creationId xmlns:a16="http://schemas.microsoft.com/office/drawing/2014/main" id="{E223C189-2D2B-4CA4-8A65-E824A38F4923}"/>
              </a:ext>
            </a:extLst>
          </p:cNvPr>
          <p:cNvSpPr>
            <a:spLocks xmlns:a="http://schemas.openxmlformats.org/drawingml/2006/main" noGrp="1"/>
          </p:cNvSpPr>
          <p:nvPr/>
        </p:nvSpPr>
        <p:spPr>
          <a:xfrm xmlns:a="http://schemas.openxmlformats.org/drawingml/2006/main">
            <a:off x="495300" y="1638300"/>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Criterion</a:t>
            </a:r>
          </a:p>
        </p:txBody>
      </p:sp>
      <p:sp>
        <p:nvSpPr>
          <p:cNvPr id="6" name="">
            <a:extLst xmlns:a="http://schemas.openxmlformats.org/drawingml/2006/main">
              <a:ext uri="{FF2B5EF4-FFF2-40B4-BE49-F238E27FC236}">
                <a16:creationId xmlns:a16="http://schemas.microsoft.com/office/drawing/2014/main" id="{E7F30D63-8004-4A7D-84AF-D499590F35B4}"/>
              </a:ext>
            </a:extLst>
          </p:cNvPr>
          <p:cNvSpPr>
            <a:spLocks xmlns:a="http://schemas.openxmlformats.org/drawingml/2006/main" noGrp="1"/>
          </p:cNvSpPr>
          <p:nvPr/>
        </p:nvSpPr>
        <p:spPr>
          <a:xfrm xmlns:a="http://schemas.openxmlformats.org/drawingml/2006/main">
            <a:off x="3162300" y="1571625"/>
            <a:ext cx="2476500" cy="6667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7" name="">
            <a:extLst xmlns:a="http://schemas.openxmlformats.org/drawingml/2006/main">
              <a:ext uri="{FF2B5EF4-FFF2-40B4-BE49-F238E27FC236}">
                <a16:creationId xmlns:a16="http://schemas.microsoft.com/office/drawing/2014/main" id="{64246F06-D24C-4168-8BE9-E5C3FE7A8E5E}"/>
              </a:ext>
            </a:extLst>
          </p:cNvPr>
          <p:cNvSpPr>
            <a:spLocks xmlns:a="http://schemas.openxmlformats.org/drawingml/2006/main" noGrp="1"/>
          </p:cNvSpPr>
          <p:nvPr/>
        </p:nvSpPr>
        <p:spPr>
          <a:xfrm xmlns:a="http://schemas.openxmlformats.org/drawingml/2006/main">
            <a:off x="3257550" y="16383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IA1</a:t>
            </a:r>
          </a:p>
        </p:txBody>
      </p:sp>
      <p:sp>
        <p:nvSpPr>
          <p:cNvPr id="8" name="">
            <a:extLst xmlns:a="http://schemas.openxmlformats.org/drawingml/2006/main">
              <a:ext uri="{FF2B5EF4-FFF2-40B4-BE49-F238E27FC236}">
                <a16:creationId xmlns:a16="http://schemas.microsoft.com/office/drawing/2014/main" id="{83A1C91A-DC0A-4B0F-9FC0-4EBC47DBFE0E}"/>
              </a:ext>
            </a:extLst>
          </p:cNvPr>
          <p:cNvSpPr>
            <a:spLocks xmlns:a="http://schemas.openxmlformats.org/drawingml/2006/main" noGrp="1"/>
          </p:cNvSpPr>
          <p:nvPr/>
        </p:nvSpPr>
        <p:spPr>
          <a:xfrm xmlns:a="http://schemas.openxmlformats.org/drawingml/2006/main">
            <a:off x="5638800" y="1571625"/>
            <a:ext cx="2476500" cy="6667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9" name="">
            <a:extLst xmlns:a="http://schemas.openxmlformats.org/drawingml/2006/main">
              <a:ext uri="{FF2B5EF4-FFF2-40B4-BE49-F238E27FC236}">
                <a16:creationId xmlns:a16="http://schemas.microsoft.com/office/drawing/2014/main" id="{1FA95CDE-94C8-48CA-B77E-E969BE9CF871}"/>
              </a:ext>
            </a:extLst>
          </p:cNvPr>
          <p:cNvSpPr>
            <a:spLocks xmlns:a="http://schemas.openxmlformats.org/drawingml/2006/main" noGrp="1"/>
          </p:cNvSpPr>
          <p:nvPr/>
        </p:nvSpPr>
        <p:spPr>
          <a:xfrm xmlns:a="http://schemas.openxmlformats.org/drawingml/2006/main">
            <a:off x="5734050" y="16383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IA2</a:t>
            </a:r>
          </a:p>
        </p:txBody>
      </p:sp>
      <p:sp>
        <p:nvSpPr>
          <p:cNvPr id="10" name="">
            <a:extLst xmlns:a="http://schemas.openxmlformats.org/drawingml/2006/main">
              <a:ext uri="{FF2B5EF4-FFF2-40B4-BE49-F238E27FC236}">
                <a16:creationId xmlns:a16="http://schemas.microsoft.com/office/drawing/2014/main" id="{50BCB65C-3E38-4653-BCD2-24D1CBFCED05}"/>
              </a:ext>
            </a:extLst>
          </p:cNvPr>
          <p:cNvSpPr>
            <a:spLocks xmlns:a="http://schemas.openxmlformats.org/drawingml/2006/main" noGrp="1"/>
          </p:cNvSpPr>
          <p:nvPr/>
        </p:nvSpPr>
        <p:spPr>
          <a:xfrm xmlns:a="http://schemas.openxmlformats.org/drawingml/2006/main">
            <a:off x="8115300" y="1571625"/>
            <a:ext cx="2476500" cy="6667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1" name="">
            <a:extLst xmlns:a="http://schemas.openxmlformats.org/drawingml/2006/main">
              <a:ext uri="{FF2B5EF4-FFF2-40B4-BE49-F238E27FC236}">
                <a16:creationId xmlns:a16="http://schemas.microsoft.com/office/drawing/2014/main" id="{1A9D7B6F-6945-4114-9BBA-07794C1AEF25}"/>
              </a:ext>
            </a:extLst>
          </p:cNvPr>
          <p:cNvSpPr>
            <a:spLocks xmlns:a="http://schemas.openxmlformats.org/drawingml/2006/main" noGrp="1"/>
          </p:cNvSpPr>
          <p:nvPr/>
        </p:nvSpPr>
        <p:spPr>
          <a:xfrm xmlns:a="http://schemas.openxmlformats.org/drawingml/2006/main">
            <a:off x="8210550" y="16383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Final</a:t>
            </a:r>
          </a:p>
        </p:txBody>
      </p:sp>
      <p:sp>
        <p:nvSpPr>
          <p:cNvPr id="12" name="">
            <a:extLst xmlns:a="http://schemas.openxmlformats.org/drawingml/2006/main">
              <a:ext uri="{FF2B5EF4-FFF2-40B4-BE49-F238E27FC236}">
                <a16:creationId xmlns:a16="http://schemas.microsoft.com/office/drawing/2014/main" id="{EC7BDFFA-3EED-4D77-867F-80D8339F6703}"/>
              </a:ext>
            </a:extLst>
          </p:cNvPr>
          <p:cNvSpPr>
            <a:spLocks xmlns:a="http://schemas.openxmlformats.org/drawingml/2006/main" noGrp="1"/>
          </p:cNvSpPr>
          <p:nvPr/>
        </p:nvSpPr>
        <p:spPr>
          <a:xfrm xmlns:a="http://schemas.openxmlformats.org/drawingml/2006/main">
            <a:off x="400050" y="2238375"/>
            <a:ext cx="27622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3" name="">
            <a:extLst xmlns:a="http://schemas.openxmlformats.org/drawingml/2006/main">
              <a:ext uri="{FF2B5EF4-FFF2-40B4-BE49-F238E27FC236}">
                <a16:creationId xmlns:a16="http://schemas.microsoft.com/office/drawing/2014/main" id="{CFB70A85-257B-45FD-8587-36D5CA7A7095}"/>
              </a:ext>
            </a:extLst>
          </p:cNvPr>
          <p:cNvSpPr>
            <a:spLocks xmlns:a="http://schemas.openxmlformats.org/drawingml/2006/main" noGrp="1"/>
          </p:cNvSpPr>
          <p:nvPr/>
        </p:nvSpPr>
        <p:spPr>
          <a:xfrm xmlns:a="http://schemas.openxmlformats.org/drawingml/2006/main">
            <a:off x="495300" y="2305050"/>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Calendar floor</a:t>
            </a:r>
          </a:p>
        </p:txBody>
      </p:sp>
      <p:sp>
        <p:nvSpPr>
          <p:cNvPr id="14" name="">
            <a:extLst xmlns:a="http://schemas.openxmlformats.org/drawingml/2006/main">
              <a:ext uri="{FF2B5EF4-FFF2-40B4-BE49-F238E27FC236}">
                <a16:creationId xmlns:a16="http://schemas.microsoft.com/office/drawing/2014/main" id="{C8EC655A-AC99-48A1-970B-6918905FF594}"/>
              </a:ext>
            </a:extLst>
          </p:cNvPr>
          <p:cNvSpPr>
            <a:spLocks xmlns:a="http://schemas.openxmlformats.org/drawingml/2006/main" noGrp="1"/>
          </p:cNvSpPr>
          <p:nvPr/>
        </p:nvSpPr>
        <p:spPr>
          <a:xfrm xmlns:a="http://schemas.openxmlformats.org/drawingml/2006/main">
            <a:off x="3162300" y="2238375"/>
            <a:ext cx="2476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5" name="">
            <a:extLst xmlns:a="http://schemas.openxmlformats.org/drawingml/2006/main">
              <a:ext uri="{FF2B5EF4-FFF2-40B4-BE49-F238E27FC236}">
                <a16:creationId xmlns:a16="http://schemas.microsoft.com/office/drawing/2014/main" id="{3E071937-875F-4228-9CFD-43C76478B1D9}"/>
              </a:ext>
            </a:extLst>
          </p:cNvPr>
          <p:cNvSpPr>
            <a:spLocks xmlns:a="http://schemas.openxmlformats.org/drawingml/2006/main" noGrp="1"/>
          </p:cNvSpPr>
          <p:nvPr/>
        </p:nvSpPr>
        <p:spPr>
          <a:xfrm xmlns:a="http://schemas.openxmlformats.org/drawingml/2006/main">
            <a:off x="3257550" y="230505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12.4 mo</a:t>
            </a:r>
          </a:p>
        </p:txBody>
      </p:sp>
      <p:sp>
        <p:nvSpPr>
          <p:cNvPr id="16" name="">
            <a:extLst xmlns:a="http://schemas.openxmlformats.org/drawingml/2006/main">
              <a:ext uri="{FF2B5EF4-FFF2-40B4-BE49-F238E27FC236}">
                <a16:creationId xmlns:a16="http://schemas.microsoft.com/office/drawing/2014/main" id="{4A418642-459F-4B87-8DBB-4BCE91F66D73}"/>
              </a:ext>
            </a:extLst>
          </p:cNvPr>
          <p:cNvSpPr>
            <a:spLocks xmlns:a="http://schemas.openxmlformats.org/drawingml/2006/main" noGrp="1"/>
          </p:cNvSpPr>
          <p:nvPr/>
        </p:nvSpPr>
        <p:spPr>
          <a:xfrm xmlns:a="http://schemas.openxmlformats.org/drawingml/2006/main">
            <a:off x="5638800" y="2238375"/>
            <a:ext cx="2476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7" name="">
            <a:extLst xmlns:a="http://schemas.openxmlformats.org/drawingml/2006/main">
              <a:ext uri="{FF2B5EF4-FFF2-40B4-BE49-F238E27FC236}">
                <a16:creationId xmlns:a16="http://schemas.microsoft.com/office/drawing/2014/main" id="{D7907C4A-F10D-4CD1-A409-F1A3A09CAEF1}"/>
              </a:ext>
            </a:extLst>
          </p:cNvPr>
          <p:cNvSpPr>
            <a:spLocks xmlns:a="http://schemas.openxmlformats.org/drawingml/2006/main" noGrp="1"/>
          </p:cNvSpPr>
          <p:nvPr/>
        </p:nvSpPr>
        <p:spPr>
          <a:xfrm xmlns:a="http://schemas.openxmlformats.org/drawingml/2006/main">
            <a:off x="5734050" y="230505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18.9 mo</a:t>
            </a:r>
          </a:p>
        </p:txBody>
      </p:sp>
      <p:sp>
        <p:nvSpPr>
          <p:cNvPr id="18" name="">
            <a:extLst xmlns:a="http://schemas.openxmlformats.org/drawingml/2006/main">
              <a:ext uri="{FF2B5EF4-FFF2-40B4-BE49-F238E27FC236}">
                <a16:creationId xmlns:a16="http://schemas.microsoft.com/office/drawing/2014/main" id="{3554C177-B4AC-48EB-A2A3-A9EEE0FCEA21}"/>
              </a:ext>
            </a:extLst>
          </p:cNvPr>
          <p:cNvSpPr>
            <a:spLocks xmlns:a="http://schemas.openxmlformats.org/drawingml/2006/main" noGrp="1"/>
          </p:cNvSpPr>
          <p:nvPr/>
        </p:nvSpPr>
        <p:spPr>
          <a:xfrm xmlns:a="http://schemas.openxmlformats.org/drawingml/2006/main">
            <a:off x="8115300" y="2238375"/>
            <a:ext cx="2476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9" name="">
            <a:extLst xmlns:a="http://schemas.openxmlformats.org/drawingml/2006/main">
              <a:ext uri="{FF2B5EF4-FFF2-40B4-BE49-F238E27FC236}">
                <a16:creationId xmlns:a16="http://schemas.microsoft.com/office/drawing/2014/main" id="{AEE77E59-7971-41C9-835B-317104DB5F6A}"/>
              </a:ext>
            </a:extLst>
          </p:cNvPr>
          <p:cNvSpPr>
            <a:spLocks xmlns:a="http://schemas.openxmlformats.org/drawingml/2006/main" noGrp="1"/>
          </p:cNvSpPr>
          <p:nvPr/>
        </p:nvSpPr>
        <p:spPr>
          <a:xfrm xmlns:a="http://schemas.openxmlformats.org/drawingml/2006/main">
            <a:off x="8210550" y="230505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28.0 mo</a:t>
            </a:r>
          </a:p>
        </p:txBody>
      </p:sp>
      <p:sp>
        <p:nvSpPr>
          <p:cNvPr id="20" name="">
            <a:extLst xmlns:a="http://schemas.openxmlformats.org/drawingml/2006/main">
              <a:ext uri="{FF2B5EF4-FFF2-40B4-BE49-F238E27FC236}">
                <a16:creationId xmlns:a16="http://schemas.microsoft.com/office/drawing/2014/main" id="{3480F504-8D1F-48AE-A201-7FEE0AA7EC6F}"/>
              </a:ext>
            </a:extLst>
          </p:cNvPr>
          <p:cNvSpPr>
            <a:spLocks xmlns:a="http://schemas.openxmlformats.org/drawingml/2006/main" noGrp="1"/>
          </p:cNvSpPr>
          <p:nvPr/>
        </p:nvSpPr>
        <p:spPr>
          <a:xfrm xmlns:a="http://schemas.openxmlformats.org/drawingml/2006/main">
            <a:off x="400050" y="2905125"/>
            <a:ext cx="2762250" cy="6667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1" name="">
            <a:extLst xmlns:a="http://schemas.openxmlformats.org/drawingml/2006/main">
              <a:ext uri="{FF2B5EF4-FFF2-40B4-BE49-F238E27FC236}">
                <a16:creationId xmlns:a16="http://schemas.microsoft.com/office/drawing/2014/main" id="{0C227517-AD0A-463B-8B5B-123F457FF48D}"/>
              </a:ext>
            </a:extLst>
          </p:cNvPr>
          <p:cNvSpPr>
            <a:spLocks xmlns:a="http://schemas.openxmlformats.org/drawingml/2006/main" noGrp="1"/>
          </p:cNvSpPr>
          <p:nvPr/>
        </p:nvSpPr>
        <p:spPr>
          <a:xfrm xmlns:a="http://schemas.openxmlformats.org/drawingml/2006/main">
            <a:off x="495300" y="2971800"/>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Event target</a:t>
            </a:r>
          </a:p>
        </p:txBody>
      </p:sp>
      <p:sp>
        <p:nvSpPr>
          <p:cNvPr id="22" name="">
            <a:extLst xmlns:a="http://schemas.openxmlformats.org/drawingml/2006/main">
              <a:ext uri="{FF2B5EF4-FFF2-40B4-BE49-F238E27FC236}">
                <a16:creationId xmlns:a16="http://schemas.microsoft.com/office/drawing/2014/main" id="{4135609D-6496-4C55-95CC-C7B7CFC809C7}"/>
              </a:ext>
            </a:extLst>
          </p:cNvPr>
          <p:cNvSpPr>
            <a:spLocks xmlns:a="http://schemas.openxmlformats.org/drawingml/2006/main" noGrp="1"/>
          </p:cNvSpPr>
          <p:nvPr/>
        </p:nvSpPr>
        <p:spPr>
          <a:xfrm xmlns:a="http://schemas.openxmlformats.org/drawingml/2006/main">
            <a:off x="3162300" y="2905125"/>
            <a:ext cx="2476500" cy="6667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3" name="">
            <a:extLst xmlns:a="http://schemas.openxmlformats.org/drawingml/2006/main">
              <a:ext uri="{FF2B5EF4-FFF2-40B4-BE49-F238E27FC236}">
                <a16:creationId xmlns:a16="http://schemas.microsoft.com/office/drawing/2014/main" id="{45E3B404-C86F-46FE-9E81-8E4B63E16CD6}"/>
              </a:ext>
            </a:extLst>
          </p:cNvPr>
          <p:cNvSpPr>
            <a:spLocks xmlns:a="http://schemas.openxmlformats.org/drawingml/2006/main" noGrp="1"/>
          </p:cNvSpPr>
          <p:nvPr/>
        </p:nvSpPr>
        <p:spPr>
          <a:xfrm xmlns:a="http://schemas.openxmlformats.org/drawingml/2006/main">
            <a:off x="3257550" y="29718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118</a:t>
            </a:r>
          </a:p>
        </p:txBody>
      </p:sp>
      <p:sp>
        <p:nvSpPr>
          <p:cNvPr id="24" name="">
            <a:extLst xmlns:a="http://schemas.openxmlformats.org/drawingml/2006/main">
              <a:ext uri="{FF2B5EF4-FFF2-40B4-BE49-F238E27FC236}">
                <a16:creationId xmlns:a16="http://schemas.microsoft.com/office/drawing/2014/main" id="{CC928B75-C8F3-48C6-B634-4C4EC411D059}"/>
              </a:ext>
            </a:extLst>
          </p:cNvPr>
          <p:cNvSpPr>
            <a:spLocks xmlns:a="http://schemas.openxmlformats.org/drawingml/2006/main" noGrp="1"/>
          </p:cNvSpPr>
          <p:nvPr/>
        </p:nvSpPr>
        <p:spPr>
          <a:xfrm xmlns:a="http://schemas.openxmlformats.org/drawingml/2006/main">
            <a:off x="5638800" y="2905125"/>
            <a:ext cx="2476500" cy="6667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5" name="">
            <a:extLst xmlns:a="http://schemas.openxmlformats.org/drawingml/2006/main">
              <a:ext uri="{FF2B5EF4-FFF2-40B4-BE49-F238E27FC236}">
                <a16:creationId xmlns:a16="http://schemas.microsoft.com/office/drawing/2014/main" id="{1422290D-793E-4DC3-9D04-5CC1DDEBD85A}"/>
              </a:ext>
            </a:extLst>
          </p:cNvPr>
          <p:cNvSpPr>
            <a:spLocks xmlns:a="http://schemas.openxmlformats.org/drawingml/2006/main" noGrp="1"/>
          </p:cNvSpPr>
          <p:nvPr/>
        </p:nvSpPr>
        <p:spPr>
          <a:xfrm xmlns:a="http://schemas.openxmlformats.org/drawingml/2006/main">
            <a:off x="5734050" y="29718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235</a:t>
            </a:r>
          </a:p>
        </p:txBody>
      </p:sp>
      <p:sp>
        <p:nvSpPr>
          <p:cNvPr id="26" name="">
            <a:extLst xmlns:a="http://schemas.openxmlformats.org/drawingml/2006/main">
              <a:ext uri="{FF2B5EF4-FFF2-40B4-BE49-F238E27FC236}">
                <a16:creationId xmlns:a16="http://schemas.microsoft.com/office/drawing/2014/main" id="{75D62D57-8207-4710-B22C-A50A20D7C736}"/>
              </a:ext>
            </a:extLst>
          </p:cNvPr>
          <p:cNvSpPr>
            <a:spLocks xmlns:a="http://schemas.openxmlformats.org/drawingml/2006/main" noGrp="1"/>
          </p:cNvSpPr>
          <p:nvPr/>
        </p:nvSpPr>
        <p:spPr>
          <a:xfrm xmlns:a="http://schemas.openxmlformats.org/drawingml/2006/main">
            <a:off x="8115300" y="2905125"/>
            <a:ext cx="2476500" cy="6667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7" name="">
            <a:extLst xmlns:a="http://schemas.openxmlformats.org/drawingml/2006/main">
              <a:ext uri="{FF2B5EF4-FFF2-40B4-BE49-F238E27FC236}">
                <a16:creationId xmlns:a16="http://schemas.microsoft.com/office/drawing/2014/main" id="{BDB94BDF-2C86-4F6D-8B03-86DB3DBA1F7E}"/>
              </a:ext>
            </a:extLst>
          </p:cNvPr>
          <p:cNvSpPr>
            <a:spLocks xmlns:a="http://schemas.openxmlformats.org/drawingml/2006/main" noGrp="1"/>
          </p:cNvSpPr>
          <p:nvPr/>
        </p:nvSpPr>
        <p:spPr>
          <a:xfrm xmlns:a="http://schemas.openxmlformats.org/drawingml/2006/main">
            <a:off x="8210550" y="29718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353</a:t>
            </a:r>
          </a:p>
        </p:txBody>
      </p:sp>
      <p:sp>
        <p:nvSpPr>
          <p:cNvPr id="28" name="">
            <a:extLst xmlns:a="http://schemas.openxmlformats.org/drawingml/2006/main">
              <a:ext uri="{FF2B5EF4-FFF2-40B4-BE49-F238E27FC236}">
                <a16:creationId xmlns:a16="http://schemas.microsoft.com/office/drawing/2014/main" id="{BDFC8F74-A969-48B4-871E-30F8B9AE528A}"/>
              </a:ext>
            </a:extLst>
          </p:cNvPr>
          <p:cNvSpPr>
            <a:spLocks xmlns:a="http://schemas.openxmlformats.org/drawingml/2006/main" noGrp="1"/>
          </p:cNvSpPr>
          <p:nvPr/>
        </p:nvSpPr>
        <p:spPr>
          <a:xfrm xmlns:a="http://schemas.openxmlformats.org/drawingml/2006/main">
            <a:off x="400050" y="3571875"/>
            <a:ext cx="27622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29" name="">
            <a:extLst xmlns:a="http://schemas.openxmlformats.org/drawingml/2006/main">
              <a:ext uri="{FF2B5EF4-FFF2-40B4-BE49-F238E27FC236}">
                <a16:creationId xmlns:a16="http://schemas.microsoft.com/office/drawing/2014/main" id="{8882C66D-326D-4846-9C43-876B885CB13B}"/>
              </a:ext>
            </a:extLst>
          </p:cNvPr>
          <p:cNvSpPr>
            <a:spLocks xmlns:a="http://schemas.openxmlformats.org/drawingml/2006/main" noGrp="1"/>
          </p:cNvSpPr>
          <p:nvPr/>
        </p:nvSpPr>
        <p:spPr>
          <a:xfrm xmlns:a="http://schemas.openxmlformats.org/drawingml/2006/main">
            <a:off x="495300" y="3638550"/>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Enrollment + follow-up</a:t>
            </a:r>
          </a:p>
        </p:txBody>
      </p:sp>
      <p:sp>
        <p:nvSpPr>
          <p:cNvPr id="30" name="">
            <a:extLst xmlns:a="http://schemas.openxmlformats.org/drawingml/2006/main">
              <a:ext uri="{FF2B5EF4-FFF2-40B4-BE49-F238E27FC236}">
                <a16:creationId xmlns:a16="http://schemas.microsoft.com/office/drawing/2014/main" id="{32C90F43-195E-48AE-8326-48C187462C53}"/>
              </a:ext>
            </a:extLst>
          </p:cNvPr>
          <p:cNvSpPr>
            <a:spLocks xmlns:a="http://schemas.openxmlformats.org/drawingml/2006/main" noGrp="1"/>
          </p:cNvSpPr>
          <p:nvPr/>
        </p:nvSpPr>
        <p:spPr>
          <a:xfrm xmlns:a="http://schemas.openxmlformats.org/drawingml/2006/main">
            <a:off x="3162300" y="3571875"/>
            <a:ext cx="2476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1" name="">
            <a:extLst xmlns:a="http://schemas.openxmlformats.org/drawingml/2006/main">
              <a:ext uri="{FF2B5EF4-FFF2-40B4-BE49-F238E27FC236}">
                <a16:creationId xmlns:a16="http://schemas.microsoft.com/office/drawing/2014/main" id="{EDFBF109-B4F6-4202-880D-612EC59BCA06}"/>
              </a:ext>
            </a:extLst>
          </p:cNvPr>
          <p:cNvSpPr>
            <a:spLocks xmlns:a="http://schemas.openxmlformats.org/drawingml/2006/main" noGrp="1"/>
          </p:cNvSpPr>
          <p:nvPr/>
        </p:nvSpPr>
        <p:spPr>
          <a:xfrm xmlns:a="http://schemas.openxmlformats.org/drawingml/2006/main">
            <a:off x="3257550" y="363855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a:t>
            </a:r>
          </a:p>
        </p:txBody>
      </p:sp>
      <p:sp>
        <p:nvSpPr>
          <p:cNvPr id="32" name="">
            <a:extLst xmlns:a="http://schemas.openxmlformats.org/drawingml/2006/main">
              <a:ext uri="{FF2B5EF4-FFF2-40B4-BE49-F238E27FC236}">
                <a16:creationId xmlns:a16="http://schemas.microsoft.com/office/drawing/2014/main" id="{D6029D1B-93F7-425E-A257-13A2C5244555}"/>
              </a:ext>
            </a:extLst>
          </p:cNvPr>
          <p:cNvSpPr>
            <a:spLocks xmlns:a="http://schemas.openxmlformats.org/drawingml/2006/main" noGrp="1"/>
          </p:cNvSpPr>
          <p:nvPr/>
        </p:nvSpPr>
        <p:spPr>
          <a:xfrm xmlns:a="http://schemas.openxmlformats.org/drawingml/2006/main">
            <a:off x="5638800" y="3571875"/>
            <a:ext cx="2476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3" name="">
            <a:extLst xmlns:a="http://schemas.openxmlformats.org/drawingml/2006/main">
              <a:ext uri="{FF2B5EF4-FFF2-40B4-BE49-F238E27FC236}">
                <a16:creationId xmlns:a16="http://schemas.microsoft.com/office/drawing/2014/main" id="{929C5D82-1927-40F1-90D6-4199D5A5528C}"/>
              </a:ext>
            </a:extLst>
          </p:cNvPr>
          <p:cNvSpPr>
            <a:spLocks xmlns:a="http://schemas.openxmlformats.org/drawingml/2006/main" noGrp="1"/>
          </p:cNvSpPr>
          <p:nvPr/>
        </p:nvSpPr>
        <p:spPr>
          <a:xfrm xmlns:a="http://schemas.openxmlformats.org/drawingml/2006/main">
            <a:off x="5734050" y="363855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all N + 2 mo</a:t>
            </a:r>
          </a:p>
        </p:txBody>
      </p:sp>
      <p:sp>
        <p:nvSpPr>
          <p:cNvPr id="34" name="">
            <a:extLst xmlns:a="http://schemas.openxmlformats.org/drawingml/2006/main">
              <a:ext uri="{FF2B5EF4-FFF2-40B4-BE49-F238E27FC236}">
                <a16:creationId xmlns:a16="http://schemas.microsoft.com/office/drawing/2014/main" id="{8D8A5E45-7BA8-4156-AFF3-7769E4757972}"/>
              </a:ext>
            </a:extLst>
          </p:cNvPr>
          <p:cNvSpPr>
            <a:spLocks xmlns:a="http://schemas.openxmlformats.org/drawingml/2006/main" noGrp="1"/>
          </p:cNvSpPr>
          <p:nvPr/>
        </p:nvSpPr>
        <p:spPr>
          <a:xfrm xmlns:a="http://schemas.openxmlformats.org/drawingml/2006/main">
            <a:off x="8115300" y="3571875"/>
            <a:ext cx="2476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5" name="">
            <a:extLst xmlns:a="http://schemas.openxmlformats.org/drawingml/2006/main">
              <a:ext uri="{FF2B5EF4-FFF2-40B4-BE49-F238E27FC236}">
                <a16:creationId xmlns:a16="http://schemas.microsoft.com/office/drawing/2014/main" id="{53C3EF9E-838D-4E80-9C43-CBEEA3AAD420}"/>
              </a:ext>
            </a:extLst>
          </p:cNvPr>
          <p:cNvSpPr>
            <a:spLocks xmlns:a="http://schemas.openxmlformats.org/drawingml/2006/main" noGrp="1"/>
          </p:cNvSpPr>
          <p:nvPr/>
        </p:nvSpPr>
        <p:spPr>
          <a:xfrm xmlns:a="http://schemas.openxmlformats.org/drawingml/2006/main">
            <a:off x="8210550" y="363855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all N + 12 mo</a:t>
            </a:r>
          </a:p>
        </p:txBody>
      </p:sp>
      <p:sp>
        <p:nvSpPr>
          <p:cNvPr id="36" name="">
            <a:extLst xmlns:a="http://schemas.openxmlformats.org/drawingml/2006/main">
              <a:ext uri="{FF2B5EF4-FFF2-40B4-BE49-F238E27FC236}">
                <a16:creationId xmlns:a16="http://schemas.microsoft.com/office/drawing/2014/main" id="{5EAEA0D1-D7EA-4D61-8B56-330DD80DA166}"/>
              </a:ext>
            </a:extLst>
          </p:cNvPr>
          <p:cNvSpPr>
            <a:spLocks xmlns:a="http://schemas.openxmlformats.org/drawingml/2006/main" noGrp="1"/>
          </p:cNvSpPr>
          <p:nvPr/>
        </p:nvSpPr>
        <p:spPr>
          <a:xfrm xmlns:a="http://schemas.openxmlformats.org/drawingml/2006/main">
            <a:off x="400050" y="4238625"/>
            <a:ext cx="2762250" cy="6667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37" name="">
            <a:extLst xmlns:a="http://schemas.openxmlformats.org/drawingml/2006/main">
              <a:ext uri="{FF2B5EF4-FFF2-40B4-BE49-F238E27FC236}">
                <a16:creationId xmlns:a16="http://schemas.microsoft.com/office/drawing/2014/main" id="{7E46A08F-6DE5-4DDB-B510-98FAB4DD879E}"/>
              </a:ext>
            </a:extLst>
          </p:cNvPr>
          <p:cNvSpPr>
            <a:spLocks xmlns:a="http://schemas.openxmlformats.org/drawingml/2006/main" noGrp="1"/>
          </p:cNvSpPr>
          <p:nvPr/>
        </p:nvSpPr>
        <p:spPr>
          <a:xfrm xmlns:a="http://schemas.openxmlformats.org/drawingml/2006/main">
            <a:off x="495300" y="4305300"/>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Relative cap</a:t>
            </a:r>
          </a:p>
        </p:txBody>
      </p:sp>
      <p:sp>
        <p:nvSpPr>
          <p:cNvPr id="38" name="">
            <a:extLst xmlns:a="http://schemas.openxmlformats.org/drawingml/2006/main">
              <a:ext uri="{FF2B5EF4-FFF2-40B4-BE49-F238E27FC236}">
                <a16:creationId xmlns:a16="http://schemas.microsoft.com/office/drawing/2014/main" id="{8073AA24-A12F-4A26-8EBF-C539ECD06ED4}"/>
              </a:ext>
            </a:extLst>
          </p:cNvPr>
          <p:cNvSpPr>
            <a:spLocks xmlns:a="http://schemas.openxmlformats.org/drawingml/2006/main" noGrp="1"/>
          </p:cNvSpPr>
          <p:nvPr/>
        </p:nvSpPr>
        <p:spPr>
          <a:xfrm xmlns:a="http://schemas.openxmlformats.org/drawingml/2006/main">
            <a:off x="3162300" y="4238625"/>
            <a:ext cx="2476500" cy="6667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39" name="">
            <a:extLst xmlns:a="http://schemas.openxmlformats.org/drawingml/2006/main">
              <a:ext uri="{FF2B5EF4-FFF2-40B4-BE49-F238E27FC236}">
                <a16:creationId xmlns:a16="http://schemas.microsoft.com/office/drawing/2014/main" id="{CD215B4E-6F31-4A42-860B-027261D71C4C}"/>
              </a:ext>
            </a:extLst>
          </p:cNvPr>
          <p:cNvSpPr>
            <a:spLocks xmlns:a="http://schemas.openxmlformats.org/drawingml/2006/main" noGrp="1"/>
          </p:cNvSpPr>
          <p:nvPr/>
        </p:nvSpPr>
        <p:spPr>
          <a:xfrm xmlns:a="http://schemas.openxmlformats.org/drawingml/2006/main">
            <a:off x="3257550" y="43053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+3 mo</a:t>
            </a:r>
          </a:p>
        </p:txBody>
      </p:sp>
      <p:sp>
        <p:nvSpPr>
          <p:cNvPr id="40" name="">
            <a:extLst xmlns:a="http://schemas.openxmlformats.org/drawingml/2006/main">
              <a:ext uri="{FF2B5EF4-FFF2-40B4-BE49-F238E27FC236}">
                <a16:creationId xmlns:a16="http://schemas.microsoft.com/office/drawing/2014/main" id="{F2DAF79E-B0B7-443D-898F-5807FD30316C}"/>
              </a:ext>
            </a:extLst>
          </p:cNvPr>
          <p:cNvSpPr>
            <a:spLocks xmlns:a="http://schemas.openxmlformats.org/drawingml/2006/main" noGrp="1"/>
          </p:cNvSpPr>
          <p:nvPr/>
        </p:nvSpPr>
        <p:spPr>
          <a:xfrm xmlns:a="http://schemas.openxmlformats.org/drawingml/2006/main">
            <a:off x="5638800" y="4238625"/>
            <a:ext cx="2476500" cy="6667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41" name="">
            <a:extLst xmlns:a="http://schemas.openxmlformats.org/drawingml/2006/main">
              <a:ext uri="{FF2B5EF4-FFF2-40B4-BE49-F238E27FC236}">
                <a16:creationId xmlns:a16="http://schemas.microsoft.com/office/drawing/2014/main" id="{D2F8E124-57D2-40DF-8D65-499B9E37E496}"/>
              </a:ext>
            </a:extLst>
          </p:cNvPr>
          <p:cNvSpPr>
            <a:spLocks xmlns:a="http://schemas.openxmlformats.org/drawingml/2006/main" noGrp="1"/>
          </p:cNvSpPr>
          <p:nvPr/>
        </p:nvSpPr>
        <p:spPr>
          <a:xfrm xmlns:a="http://schemas.openxmlformats.org/drawingml/2006/main">
            <a:off x="5734050" y="43053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+12 mo</a:t>
            </a:r>
          </a:p>
        </p:txBody>
      </p:sp>
      <p:sp>
        <p:nvSpPr>
          <p:cNvPr id="42" name="">
            <a:extLst xmlns:a="http://schemas.openxmlformats.org/drawingml/2006/main">
              <a:ext uri="{FF2B5EF4-FFF2-40B4-BE49-F238E27FC236}">
                <a16:creationId xmlns:a16="http://schemas.microsoft.com/office/drawing/2014/main" id="{B00B9B9A-C38B-4F04-B12E-F0A6C72D82F5}"/>
              </a:ext>
            </a:extLst>
          </p:cNvPr>
          <p:cNvSpPr>
            <a:spLocks xmlns:a="http://schemas.openxmlformats.org/drawingml/2006/main" noGrp="1"/>
          </p:cNvSpPr>
          <p:nvPr/>
        </p:nvSpPr>
        <p:spPr>
          <a:xfrm xmlns:a="http://schemas.openxmlformats.org/drawingml/2006/main">
            <a:off x="8115300" y="4238625"/>
            <a:ext cx="2476500" cy="6667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43" name="">
            <a:extLst xmlns:a="http://schemas.openxmlformats.org/drawingml/2006/main">
              <a:ext uri="{FF2B5EF4-FFF2-40B4-BE49-F238E27FC236}">
                <a16:creationId xmlns:a16="http://schemas.microsoft.com/office/drawing/2014/main" id="{576CDD2A-B13C-4D78-9873-52B0732E23FA}"/>
              </a:ext>
            </a:extLst>
          </p:cNvPr>
          <p:cNvSpPr>
            <a:spLocks xmlns:a="http://schemas.openxmlformats.org/drawingml/2006/main" noGrp="1"/>
          </p:cNvSpPr>
          <p:nvPr/>
        </p:nvSpPr>
        <p:spPr>
          <a:xfrm xmlns:a="http://schemas.openxmlformats.org/drawingml/2006/main">
            <a:off x="8210550" y="43053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+20 mo</a:t>
            </a:r>
          </a:p>
        </p:txBody>
      </p:sp>
      <p:sp>
        <p:nvSpPr>
          <p:cNvPr id="44" name="">
            <a:extLst xmlns:a="http://schemas.openxmlformats.org/drawingml/2006/main">
              <a:ext uri="{FF2B5EF4-FFF2-40B4-BE49-F238E27FC236}">
                <a16:creationId xmlns:a16="http://schemas.microsoft.com/office/drawing/2014/main" id="{DE09525C-EE74-47DD-8029-8D5960D31DD7}"/>
              </a:ext>
            </a:extLst>
          </p:cNvPr>
          <p:cNvSpPr>
            <a:spLocks xmlns:a="http://schemas.openxmlformats.org/drawingml/2006/main" noGrp="1"/>
          </p:cNvSpPr>
          <p:nvPr/>
        </p:nvSpPr>
        <p:spPr>
          <a:xfrm xmlns:a="http://schemas.openxmlformats.org/drawingml/2006/main">
            <a:off x="400050" y="52863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037"/>
          </a:bodyPr>
          <a:lstStyle xmlns:a="http://schemas.openxmlformats.org/drawingml/2006/main"/>
          <a:p xmlns:a="http://schemas.openxmlformats.org/drawingml/2006/main">
            <a:pPr algn="l">
              <a:lnSpc>
                <a:spcPct val="105000"/>
              </a:lnSpc>
              <a:buNone/>
              <a:defRPr sz="1725" b="1">
                <a:solidFill>
                  <a:srgbClr val="3D8DFF"/>
                </a:solidFill>
                <a:latin typeface="Helvetica Neue"/>
                <a:ea typeface="Helvetica Neue"/>
                <a:cs typeface="Helvetica Neue"/>
              </a:defRPr>
            </a:pPr>
            <a:r>
              <a:rPr sz="1725" b="1">
                <a:solidFill>
                  <a:srgbClr val="3D8DFF"/>
                </a:solidFill>
                <a:latin typeface="Helvetica Neue"/>
                <a:ea typeface="Helvetica Neue"/>
                <a:cs typeface="Helvetica Neue"/>
              </a:rPr>
              <a:t>Under design assumptions</a:t>
            </a:r>
          </a:p>
        </p:txBody>
      </p:sp>
      <p:sp>
        <p:nvSpPr>
          <p:cNvPr id="45" name="">
            <a:extLst xmlns:a="http://schemas.openxmlformats.org/drawingml/2006/main">
              <a:ext uri="{FF2B5EF4-FFF2-40B4-BE49-F238E27FC236}">
                <a16:creationId xmlns:a16="http://schemas.microsoft.com/office/drawing/2014/main" id="{1360656F-37CD-4784-A1C5-F9040FEBC558}"/>
              </a:ext>
            </a:extLst>
          </p:cNvPr>
          <p:cNvSpPr>
            <a:spLocks xmlns:a="http://schemas.openxmlformats.org/drawingml/2006/main" noGrp="1"/>
          </p:cNvSpPr>
          <p:nvPr/>
        </p:nvSpPr>
        <p:spPr>
          <a:xfrm xmlns:a="http://schemas.openxmlformats.org/drawingml/2006/main">
            <a:off x="3286125" y="52292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338"/>
          </a:bodyPr>
          <a:lstStyle xmlns:a="http://schemas.openxmlformats.org/drawingml/2006/main"/>
          <a:p xmlns:a="http://schemas.openxmlformats.org/drawingml/2006/main">
            <a:pPr algn="l">
              <a:lnSpc>
                <a:spcPct val="105000"/>
              </a:lnSpc>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the floors, gates, and caps reproduce 12.4 / 18.9 / 28.0 months and 90% power.</a:t>
            </a:r>
          </a:p>
        </p:txBody>
      </p:sp>
      <p:sp>
        <p:nvSpPr>
          <p:cNvPr id="46" name="">
            <a:extLst xmlns:a="http://schemas.openxmlformats.org/drawingml/2006/main">
              <a:ext uri="{FF2B5EF4-FFF2-40B4-BE49-F238E27FC236}">
                <a16:creationId xmlns:a16="http://schemas.microsoft.com/office/drawing/2014/main" id="{7942801B-5FA3-48D1-B47C-1147F19CF7A4}"/>
              </a:ext>
            </a:extLst>
          </p:cNvPr>
          <p:cNvSpPr>
            <a:spLocks xmlns:a="http://schemas.openxmlformats.org/drawingml/2006/main" noGrp="1"/>
          </p:cNvSpPr>
          <p:nvPr/>
        </p:nvSpPr>
        <p:spPr>
          <a:xfrm xmlns:a="http://schemas.openxmlformats.org/drawingml/2006/main">
            <a:off x="400050" y="588645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The scenario examples change enrollment or failure rates while keeping this operational grammar fixed.</a:t>
            </a:r>
          </a:p>
        </p:txBody>
      </p:sp>
    </p:spTree>
    <p:extLst>
      <p:ext uri="{BB962C8B-B14F-4D97-AF65-F5344CB8AC3E}">
        <p14:creationId xmlns:p14="http://schemas.microsoft.com/office/powerpoint/2010/main" val="49029618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E4D486-9389-4E41-B447-D398CEEED13E}"/>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WORKED SCENARIO</a:t>
            </a:r>
          </a:p>
        </p:txBody>
      </p:sp>
      <p:sp>
        <p:nvSpPr>
          <p:cNvPr id="2" name="">
            <a:extLst xmlns:a="http://schemas.openxmlformats.org/drawingml/2006/main">
              <a:ext uri="{FF2B5EF4-FFF2-40B4-BE49-F238E27FC236}">
                <a16:creationId xmlns:a16="http://schemas.microsoft.com/office/drawing/2014/main" id="{FA55154B-29ED-462E-BC72-4814574B261B}"/>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Slower enrollment hits every cap</a:t>
            </a:r>
          </a:p>
        </p:txBody>
      </p:sp>
      <p:sp>
        <p:nvSpPr>
          <p:cNvPr id="3" name="">
            <a:extLst xmlns:a="http://schemas.openxmlformats.org/drawingml/2006/main">
              <a:ext uri="{FF2B5EF4-FFF2-40B4-BE49-F238E27FC236}">
                <a16:creationId xmlns:a16="http://schemas.microsoft.com/office/drawing/2014/main" id="{3DEBCEA8-7F27-41B5-B36A-265ABD9C89C3}"/>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20</a:t>
            </a:r>
          </a:p>
        </p:txBody>
      </p:sp>
      <p:graphicFrame>
        <p:nvGraphicFramePr>
          <p:cNvPr id="17" name="Chart"/>
          <p:cNvGraphicFramePr/>
          <p:nvPr/>
        </p:nvGraphicFramePr>
        <p:xfrm>
          <a:off xmlns:a="http://schemas.openxmlformats.org/drawingml/2006/main" x="400050" y="1571625"/>
          <a:ext xmlns:a="http://schemas.openxmlformats.org/drawingml/2006/main" cx="7334250" cy="4429125"/>
        </p:xfrm>
        <a:graphic xmlns:a="http://schemas.openxmlformats.org/drawingml/2006/main">
          <a:graphicData uri="http://schemas.openxmlformats.org/drawingml/2006/chart">
            <c:chart xmlns:r="http://schemas.openxmlformats.org/officeDocument/2006/relationships" xmlns:c="http://schemas.openxmlformats.org/drawingml/2006/chart" r:id="R440c2874fbff40d1"/>
          </a:graphicData>
        </a:graphic>
      </p:graphicFrame>
      <p:sp>
        <p:nvSpPr>
          <p:cNvPr id="5" name="">
            <a:extLst xmlns:a="http://schemas.openxmlformats.org/drawingml/2006/main">
              <a:ext uri="{FF2B5EF4-FFF2-40B4-BE49-F238E27FC236}">
                <a16:creationId xmlns:a16="http://schemas.microsoft.com/office/drawing/2014/main" id="{F232C128-79F4-4F23-B9AB-55349C7041D8}"/>
              </a:ext>
            </a:extLst>
          </p:cNvPr>
          <p:cNvSpPr>
            <a:spLocks xmlns:a="http://schemas.openxmlformats.org/drawingml/2006/main" noGrp="1"/>
          </p:cNvSpPr>
          <p:nvPr/>
        </p:nvSpPr>
        <p:spPr>
          <a:xfrm xmlns:a="http://schemas.openxmlformats.org/drawingml/2006/main">
            <a:off x="8143875" y="1762125"/>
            <a:ext cx="3333750" cy="1428750"/>
          </a:xfrm>
          <a:prstGeom xmlns:a="http://schemas.openxmlformats.org/drawingml/2006/main" prst="roundRect">
            <a:avLst>
              <a:gd name="adj" fmla="val 8000"/>
            </a:avLst>
          </a:prstGeom>
          <a:solidFill xmlns:a="http://schemas.openxmlformats.org/drawingml/2006/main">
            <a:srgbClr val="EAF6FC"/>
          </a:solidFill>
          <a:ln xmlns:a="http://schemas.openxmlformats.org/drawingml/2006/main" w="0">
            <a:solidFill>
              <a:srgbClr val="EAF6FC"/>
            </a:solidFill>
            <a:prstDash val="solid"/>
          </a:ln>
        </p:spPr>
      </p:sp>
      <p:sp>
        <p:nvSpPr>
          <p:cNvPr id="6" name="">
            <a:extLst xmlns:a="http://schemas.openxmlformats.org/drawingml/2006/main">
              <a:ext uri="{FF2B5EF4-FFF2-40B4-BE49-F238E27FC236}">
                <a16:creationId xmlns:a16="http://schemas.microsoft.com/office/drawing/2014/main" id="{0445947C-4D24-4F2A-872E-0CC7A2B5A4F6}"/>
              </a:ext>
            </a:extLst>
          </p:cNvPr>
          <p:cNvSpPr>
            <a:spLocks xmlns:a="http://schemas.openxmlformats.org/drawingml/2006/main" noGrp="1"/>
          </p:cNvSpPr>
          <p:nvPr/>
        </p:nvSpPr>
        <p:spPr>
          <a:xfrm xmlns:a="http://schemas.openxmlformats.org/drawingml/2006/main">
            <a:off x="8401050" y="1971675"/>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628"/>
          </a:bodyPr>
          <a:lstStyle xmlns:a="http://schemas.openxmlformats.org/drawingml/2006/main"/>
          <a:p xmlns:a="http://schemas.openxmlformats.org/drawingml/2006/main">
            <a:pPr algn="l">
              <a:lnSpc>
                <a:spcPct val="105000"/>
              </a:lnSpc>
              <a:buNone/>
              <a:defRPr sz="3900" b="1">
                <a:solidFill>
                  <a:srgbClr val="3D8DFF"/>
                </a:solidFill>
                <a:latin typeface="Helvetica Neue"/>
                <a:ea typeface="Helvetica Neue"/>
                <a:cs typeface="Helvetica Neue"/>
              </a:defRPr>
            </a:pPr>
            <a:r>
              <a:rPr sz="3900" b="1">
                <a:solidFill>
                  <a:srgbClr val="3D8DFF"/>
                </a:solidFill>
                <a:latin typeface="Helvetica Neue"/>
                <a:ea typeface="Helvetica Neue"/>
                <a:cs typeface="Helvetica Neue"/>
              </a:rPr>
              <a:t>74.3%</a:t>
            </a:r>
          </a:p>
        </p:txBody>
      </p:sp>
      <p:sp>
        <p:nvSpPr>
          <p:cNvPr id="7" name="">
            <a:extLst xmlns:a="http://schemas.openxmlformats.org/drawingml/2006/main">
              <a:ext uri="{FF2B5EF4-FFF2-40B4-BE49-F238E27FC236}">
                <a16:creationId xmlns:a16="http://schemas.microsoft.com/office/drawing/2014/main" id="{71F6B514-8FA0-4B46-9008-6EDF5378FA00}"/>
              </a:ext>
            </a:extLst>
          </p:cNvPr>
          <p:cNvSpPr>
            <a:spLocks xmlns:a="http://schemas.openxmlformats.org/drawingml/2006/main" noGrp="1"/>
          </p:cNvSpPr>
          <p:nvPr/>
        </p:nvSpPr>
        <p:spPr>
          <a:xfrm xmlns:a="http://schemas.openxmlformats.org/drawingml/2006/main">
            <a:off x="8401050" y="2619375"/>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power</a:t>
            </a:r>
          </a:p>
        </p:txBody>
      </p:sp>
      <p:sp>
        <p:nvSpPr>
          <p:cNvPr id="8" name="">
            <a:extLst xmlns:a="http://schemas.openxmlformats.org/drawingml/2006/main">
              <a:ext uri="{FF2B5EF4-FFF2-40B4-BE49-F238E27FC236}">
                <a16:creationId xmlns:a16="http://schemas.microsoft.com/office/drawing/2014/main" id="{9BC40BD6-6D0C-41CC-A45B-DDC5240C9307}"/>
              </a:ext>
            </a:extLst>
          </p:cNvPr>
          <p:cNvSpPr>
            <a:spLocks xmlns:a="http://schemas.openxmlformats.org/drawingml/2006/main" noGrp="1"/>
          </p:cNvSpPr>
          <p:nvPr/>
        </p:nvSpPr>
        <p:spPr>
          <a:xfrm xmlns:a="http://schemas.openxmlformats.org/drawingml/2006/main">
            <a:off x="8143875" y="3476625"/>
            <a:ext cx="3333750" cy="1428750"/>
          </a:xfrm>
          <a:prstGeom xmlns:a="http://schemas.openxmlformats.org/drawingml/2006/main" prst="roundRect">
            <a:avLst>
              <a:gd name="adj" fmla="val 8000"/>
            </a:avLst>
          </a:prstGeom>
          <a:solidFill xmlns:a="http://schemas.openxmlformats.org/drawingml/2006/main">
            <a:srgbClr val="F2F2F2"/>
          </a:solidFill>
          <a:ln xmlns:a="http://schemas.openxmlformats.org/drawingml/2006/main" w="0">
            <a:solidFill>
              <a:srgbClr val="F2F2F2"/>
            </a:solidFill>
            <a:prstDash val="solid"/>
          </a:ln>
        </p:spPr>
      </p:sp>
      <p:sp>
        <p:nvSpPr>
          <p:cNvPr id="9" name="">
            <a:extLst xmlns:a="http://schemas.openxmlformats.org/drawingml/2006/main">
              <a:ext uri="{FF2B5EF4-FFF2-40B4-BE49-F238E27FC236}">
                <a16:creationId xmlns:a16="http://schemas.microsoft.com/office/drawing/2014/main" id="{1CE2A922-E3CA-443C-9467-576F975A939A}"/>
              </a:ext>
            </a:extLst>
          </p:cNvPr>
          <p:cNvSpPr>
            <a:spLocks xmlns:a="http://schemas.openxmlformats.org/drawingml/2006/main" noGrp="1"/>
          </p:cNvSpPr>
          <p:nvPr/>
        </p:nvSpPr>
        <p:spPr>
          <a:xfrm xmlns:a="http://schemas.openxmlformats.org/drawingml/2006/main">
            <a:off x="8401050" y="3686175"/>
            <a:ext cx="276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225" b="1">
                <a:solidFill>
                  <a:srgbClr val="000000"/>
                </a:solidFill>
                <a:latin typeface="Helvetica Neue"/>
                <a:ea typeface="Helvetica Neue"/>
                <a:cs typeface="Helvetica Neue"/>
              </a:defRPr>
            </a:pPr>
            <a:r>
              <a:rPr sz="3225" b="1">
                <a:solidFill>
                  <a:srgbClr val="000000"/>
                </a:solidFill>
                <a:latin typeface="Helvetica Neue"/>
                <a:ea typeface="Helvetica Neue"/>
                <a:cs typeface="Helvetica Neue"/>
              </a:rPr>
              <a:t>234 / 353</a:t>
            </a:r>
          </a:p>
        </p:txBody>
      </p:sp>
      <p:sp>
        <p:nvSpPr>
          <p:cNvPr id="10" name="">
            <a:extLst xmlns:a="http://schemas.openxmlformats.org/drawingml/2006/main">
              <a:ext uri="{FF2B5EF4-FFF2-40B4-BE49-F238E27FC236}">
                <a16:creationId xmlns:a16="http://schemas.microsoft.com/office/drawing/2014/main" id="{AA3C4971-8D0A-4B32-952F-E18CE740BD7B}"/>
              </a:ext>
            </a:extLst>
          </p:cNvPr>
          <p:cNvSpPr>
            <a:spLocks xmlns:a="http://schemas.openxmlformats.org/drawingml/2006/main" noGrp="1"/>
          </p:cNvSpPr>
          <p:nvPr/>
        </p:nvSpPr>
        <p:spPr>
          <a:xfrm xmlns:a="http://schemas.openxmlformats.org/drawingml/2006/main">
            <a:off x="8401050" y="4324350"/>
            <a:ext cx="271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expected / targeted final events</a:t>
            </a:r>
          </a:p>
        </p:txBody>
      </p:sp>
      <p:sp>
        <p:nvSpPr>
          <p:cNvPr id="11" name="">
            <a:extLst xmlns:a="http://schemas.openxmlformats.org/drawingml/2006/main">
              <a:ext uri="{FF2B5EF4-FFF2-40B4-BE49-F238E27FC236}">
                <a16:creationId xmlns:a16="http://schemas.microsoft.com/office/drawing/2014/main" id="{8E73C645-5035-43A8-814C-854B83EA0B15}"/>
              </a:ext>
            </a:extLst>
          </p:cNvPr>
          <p:cNvSpPr>
            <a:spLocks xmlns:a="http://schemas.openxmlformats.org/drawingml/2006/main" noGrp="1"/>
          </p:cNvSpPr>
          <p:nvPr/>
        </p:nvSpPr>
        <p:spPr>
          <a:xfrm xmlns:a="http://schemas.openxmlformats.org/drawingml/2006/main">
            <a:off x="8143875" y="5238750"/>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189"/>
          </a:bodyPr>
          <a:lstStyle xmlns:a="http://schemas.openxmlformats.org/drawingml/2006/main"/>
          <a:p xmlns:a="http://schemas.openxmlformats.org/drawingml/2006/main">
            <a:pPr algn="l">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Each analysis stops at plannedCalendarTime + maxExtension.</a:t>
            </a:r>
          </a:p>
        </p:txBody>
      </p:sp>
    </p:spTree>
    <p:extLst>
      <p:ext uri="{BB962C8B-B14F-4D97-AF65-F5344CB8AC3E}">
        <p14:creationId xmlns:p14="http://schemas.microsoft.com/office/powerpoint/2010/main" val="66229480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3C6987A-EA1D-49C6-9D7A-5BA4316110A7}"/>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WORKED SCENARIO</a:t>
            </a:r>
          </a:p>
        </p:txBody>
      </p:sp>
      <p:sp>
        <p:nvSpPr>
          <p:cNvPr id="2" name="">
            <a:extLst xmlns:a="http://schemas.openxmlformats.org/drawingml/2006/main">
              <a:ext uri="{FF2B5EF4-FFF2-40B4-BE49-F238E27FC236}">
                <a16:creationId xmlns:a16="http://schemas.microsoft.com/office/drawing/2014/main" id="{9E52B62F-92A0-4510-83F6-3700ABC277AC}"/>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Faster failures overrun targets—and raise power</a:t>
            </a:r>
          </a:p>
        </p:txBody>
      </p:sp>
      <p:sp>
        <p:nvSpPr>
          <p:cNvPr id="3" name="">
            <a:extLst xmlns:a="http://schemas.openxmlformats.org/drawingml/2006/main">
              <a:ext uri="{FF2B5EF4-FFF2-40B4-BE49-F238E27FC236}">
                <a16:creationId xmlns:a16="http://schemas.microsoft.com/office/drawing/2014/main" id="{B6C0B09D-A524-49B0-B059-253D62C3A3C1}"/>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21</a:t>
            </a:r>
          </a:p>
        </p:txBody>
      </p:sp>
      <p:graphicFrame>
        <p:nvGraphicFramePr>
          <p:cNvPr id="16" name="Chart"/>
          <p:cNvGraphicFramePr/>
          <p:nvPr/>
        </p:nvGraphicFramePr>
        <p:xfrm>
          <a:off xmlns:a="http://schemas.openxmlformats.org/drawingml/2006/main" x="400050" y="1571625"/>
          <a:ext xmlns:a="http://schemas.openxmlformats.org/drawingml/2006/main" cx="7429500" cy="4429125"/>
        </p:xfrm>
        <a:graphic xmlns:a="http://schemas.openxmlformats.org/drawingml/2006/main">
          <a:graphicData uri="http://schemas.openxmlformats.org/drawingml/2006/chart">
            <c:chart xmlns:r="http://schemas.openxmlformats.org/officeDocument/2006/relationships" xmlns:c="http://schemas.openxmlformats.org/drawingml/2006/chart" r:id="R2a9c78c6f4704f9a"/>
          </a:graphicData>
        </a:graphic>
      </p:graphicFrame>
      <p:sp>
        <p:nvSpPr>
          <p:cNvPr id="5" name="">
            <a:extLst xmlns:a="http://schemas.openxmlformats.org/drawingml/2006/main">
              <a:ext uri="{FF2B5EF4-FFF2-40B4-BE49-F238E27FC236}">
                <a16:creationId xmlns:a16="http://schemas.microsoft.com/office/drawing/2014/main" id="{81D90839-1224-4F6A-A225-B3CF64C7F066}"/>
              </a:ext>
            </a:extLst>
          </p:cNvPr>
          <p:cNvSpPr>
            <a:spLocks xmlns:a="http://schemas.openxmlformats.org/drawingml/2006/main" noGrp="1"/>
          </p:cNvSpPr>
          <p:nvPr/>
        </p:nvSpPr>
        <p:spPr>
          <a:xfrm xmlns:a="http://schemas.openxmlformats.org/drawingml/2006/main">
            <a:off x="8239125" y="1809750"/>
            <a:ext cx="3238500" cy="1476375"/>
          </a:xfrm>
          <a:prstGeom xmlns:a="http://schemas.openxmlformats.org/drawingml/2006/main" prst="roundRect">
            <a:avLst>
              <a:gd name="adj" fmla="val 7742"/>
            </a:avLst>
          </a:prstGeom>
          <a:solidFill xmlns:a="http://schemas.openxmlformats.org/drawingml/2006/main">
            <a:srgbClr val="EAF6FC"/>
          </a:solidFill>
          <a:ln xmlns:a="http://schemas.openxmlformats.org/drawingml/2006/main" w="0">
            <a:solidFill>
              <a:srgbClr val="EAF6FC"/>
            </a:solidFill>
            <a:prstDash val="solid"/>
          </a:ln>
        </p:spPr>
      </p:sp>
      <p:sp>
        <p:nvSpPr>
          <p:cNvPr id="6" name="">
            <a:extLst xmlns:a="http://schemas.openxmlformats.org/drawingml/2006/main">
              <a:ext uri="{FF2B5EF4-FFF2-40B4-BE49-F238E27FC236}">
                <a16:creationId xmlns:a16="http://schemas.microsoft.com/office/drawing/2014/main" id="{B29B8530-BFA5-4F0D-96C9-954CDEA1C21A}"/>
              </a:ext>
            </a:extLst>
          </p:cNvPr>
          <p:cNvSpPr>
            <a:spLocks xmlns:a="http://schemas.openxmlformats.org/drawingml/2006/main" noGrp="1"/>
          </p:cNvSpPr>
          <p:nvPr/>
        </p:nvSpPr>
        <p:spPr>
          <a:xfrm xmlns:a="http://schemas.openxmlformats.org/drawingml/2006/main">
            <a:off x="8505825" y="2019300"/>
            <a:ext cx="2686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628"/>
          </a:bodyPr>
          <a:lstStyle xmlns:a="http://schemas.openxmlformats.org/drawingml/2006/main"/>
          <a:p xmlns:a="http://schemas.openxmlformats.org/drawingml/2006/main">
            <a:pPr algn="l">
              <a:lnSpc>
                <a:spcPct val="105000"/>
              </a:lnSpc>
              <a:buNone/>
              <a:defRPr sz="3900" b="1">
                <a:solidFill>
                  <a:srgbClr val="3D8DFF"/>
                </a:solidFill>
                <a:latin typeface="Helvetica Neue"/>
                <a:ea typeface="Helvetica Neue"/>
                <a:cs typeface="Helvetica Neue"/>
              </a:defRPr>
            </a:pPr>
            <a:r>
              <a:rPr sz="3900" b="1">
                <a:solidFill>
                  <a:srgbClr val="3D8DFF"/>
                </a:solidFill>
                <a:latin typeface="Helvetica Neue"/>
                <a:ea typeface="Helvetica Neue"/>
                <a:cs typeface="Helvetica Neue"/>
              </a:rPr>
              <a:t>94.9%</a:t>
            </a:r>
          </a:p>
        </p:txBody>
      </p:sp>
      <p:sp>
        <p:nvSpPr>
          <p:cNvPr id="7" name="">
            <a:extLst xmlns:a="http://schemas.openxmlformats.org/drawingml/2006/main">
              <a:ext uri="{FF2B5EF4-FFF2-40B4-BE49-F238E27FC236}">
                <a16:creationId xmlns:a16="http://schemas.microsoft.com/office/drawing/2014/main" id="{88C27E94-D508-468B-8AD6-95DD439C6C37}"/>
              </a:ext>
            </a:extLst>
          </p:cNvPr>
          <p:cNvSpPr>
            <a:spLocks xmlns:a="http://schemas.openxmlformats.org/drawingml/2006/main" noGrp="1"/>
          </p:cNvSpPr>
          <p:nvPr/>
        </p:nvSpPr>
        <p:spPr>
          <a:xfrm xmlns:a="http://schemas.openxmlformats.org/drawingml/2006/main">
            <a:off x="8505825" y="2667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power</a:t>
            </a:r>
          </a:p>
        </p:txBody>
      </p:sp>
      <p:sp>
        <p:nvSpPr>
          <p:cNvPr id="8" name="">
            <a:extLst xmlns:a="http://schemas.openxmlformats.org/drawingml/2006/main">
              <a:ext uri="{FF2B5EF4-FFF2-40B4-BE49-F238E27FC236}">
                <a16:creationId xmlns:a16="http://schemas.microsoft.com/office/drawing/2014/main" id="{B49D619B-3D0E-456D-8D78-D349CA668710}"/>
              </a:ext>
            </a:extLst>
          </p:cNvPr>
          <p:cNvSpPr>
            <a:spLocks xmlns:a="http://schemas.openxmlformats.org/drawingml/2006/main" noGrp="1"/>
          </p:cNvSpPr>
          <p:nvPr/>
        </p:nvSpPr>
        <p:spPr>
          <a:xfrm xmlns:a="http://schemas.openxmlformats.org/drawingml/2006/main">
            <a:off x="8239125" y="3762375"/>
            <a:ext cx="323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02"/>
          </a:bodyPr>
          <a:lstStyle xmlns:a="http://schemas.openxmlformats.org/drawingml/2006/main"/>
          <a:p xmlns:a="http://schemas.openxmlformats.org/drawingml/2006/main">
            <a:pPr algn="l">
              <a:lnSpc>
                <a:spcPct val="105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Calendar floors still determine the dates</a:t>
            </a:r>
          </a:p>
        </p:txBody>
      </p:sp>
      <p:sp>
        <p:nvSpPr>
          <p:cNvPr id="9" name="">
            <a:extLst xmlns:a="http://schemas.openxmlformats.org/drawingml/2006/main">
              <a:ext uri="{FF2B5EF4-FFF2-40B4-BE49-F238E27FC236}">
                <a16:creationId xmlns:a16="http://schemas.microsoft.com/office/drawing/2014/main" id="{287F1747-8DF5-43EB-9418-BBD35FD59CCE}"/>
              </a:ext>
            </a:extLst>
          </p:cNvPr>
          <p:cNvSpPr>
            <a:spLocks xmlns:a="http://schemas.openxmlformats.org/drawingml/2006/main" noGrp="1"/>
          </p:cNvSpPr>
          <p:nvPr/>
        </p:nvSpPr>
        <p:spPr>
          <a:xfrm xmlns:a="http://schemas.openxmlformats.org/drawingml/2006/main">
            <a:off x="8239125" y="4619625"/>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12.4  /  18.9  /  28.0 months</a:t>
            </a:r>
          </a:p>
        </p:txBody>
      </p:sp>
      <p:sp>
        <p:nvSpPr>
          <p:cNvPr id="10" name="">
            <a:extLst xmlns:a="http://schemas.openxmlformats.org/drawingml/2006/main">
              <a:ext uri="{FF2B5EF4-FFF2-40B4-BE49-F238E27FC236}">
                <a16:creationId xmlns:a16="http://schemas.microsoft.com/office/drawing/2014/main" id="{172B994A-9928-4E12-820D-D887EB583F79}"/>
              </a:ext>
            </a:extLst>
          </p:cNvPr>
          <p:cNvSpPr>
            <a:spLocks xmlns:a="http://schemas.openxmlformats.org/drawingml/2006/main" noGrp="1"/>
          </p:cNvSpPr>
          <p:nvPr/>
        </p:nvSpPr>
        <p:spPr>
          <a:xfrm xmlns:a="http://schemas.openxmlformats.org/drawingml/2006/main">
            <a:off x="8239125" y="5286375"/>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Faster control failures produce more information by those dates.</a:t>
            </a:r>
          </a:p>
        </p:txBody>
      </p:sp>
    </p:spTree>
    <p:extLst>
      <p:ext uri="{BB962C8B-B14F-4D97-AF65-F5344CB8AC3E}">
        <p14:creationId xmlns:p14="http://schemas.microsoft.com/office/powerpoint/2010/main" val="171593618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85B8670-C119-4C11-BD06-0AB63069EEF8}"/>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SPENDING</a:t>
            </a:r>
          </a:p>
        </p:txBody>
      </p:sp>
      <p:sp>
        <p:nvSpPr>
          <p:cNvPr id="2" name="">
            <a:extLst xmlns:a="http://schemas.openxmlformats.org/drawingml/2006/main">
              <a:ext uri="{FF2B5EF4-FFF2-40B4-BE49-F238E27FC236}">
                <a16:creationId xmlns:a16="http://schemas.microsoft.com/office/drawing/2014/main" id="{007DFF38-76E3-49F4-B826-43D81523F9ED}"/>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993"/>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Spending time chooses which clock the bounds follow</a:t>
            </a:r>
          </a:p>
        </p:txBody>
      </p:sp>
      <p:sp>
        <p:nvSpPr>
          <p:cNvPr id="3" name="">
            <a:extLst xmlns:a="http://schemas.openxmlformats.org/drawingml/2006/main">
              <a:ext uri="{FF2B5EF4-FFF2-40B4-BE49-F238E27FC236}">
                <a16:creationId xmlns:a16="http://schemas.microsoft.com/office/drawing/2014/main" id="{078A98E9-6607-4218-B572-63E00DB593DE}"/>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22</a:t>
            </a:r>
          </a:p>
        </p:txBody>
      </p:sp>
      <p:sp>
        <p:nvSpPr>
          <p:cNvPr id="4" name="">
            <a:extLst xmlns:a="http://schemas.openxmlformats.org/drawingml/2006/main">
              <a:ext uri="{FF2B5EF4-FFF2-40B4-BE49-F238E27FC236}">
                <a16:creationId xmlns:a16="http://schemas.microsoft.com/office/drawing/2014/main" id="{6BD2AC4D-29C7-4D34-B7A0-23E49B75E1CF}"/>
              </a:ext>
            </a:extLst>
          </p:cNvPr>
          <p:cNvSpPr>
            <a:spLocks xmlns:a="http://schemas.openxmlformats.org/drawingml/2006/main" noGrp="1"/>
          </p:cNvSpPr>
          <p:nvPr/>
        </p:nvSpPr>
        <p:spPr>
          <a:xfrm xmlns:a="http://schemas.openxmlformats.org/drawingml/2006/main">
            <a:off x="400050" y="1809750"/>
            <a:ext cx="3333750" cy="3333750"/>
          </a:xfrm>
          <a:prstGeom xmlns:a="http://schemas.openxmlformats.org/drawingml/2006/main" prst="roundRect">
            <a:avLst>
              <a:gd name="adj" fmla="val 3429"/>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900DB6D3-39CA-4F36-8613-F4B2E868F6BB}"/>
              </a:ext>
            </a:extLst>
          </p:cNvPr>
          <p:cNvSpPr>
            <a:spLocks xmlns:a="http://schemas.openxmlformats.org/drawingml/2006/main" noGrp="1"/>
          </p:cNvSpPr>
          <p:nvPr/>
        </p:nvSpPr>
        <p:spPr>
          <a:xfrm xmlns:a="http://schemas.openxmlformats.org/drawingml/2006/main">
            <a:off x="609600" y="2095500"/>
            <a:ext cx="2914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700" b="1">
                <a:solidFill>
                  <a:srgbClr val="000000"/>
                </a:solidFill>
                <a:latin typeface="Helvetica Neue"/>
                <a:ea typeface="Helvetica Neue"/>
                <a:cs typeface="Helvetica Neue"/>
              </a:defRPr>
            </a:pPr>
            <a:r>
              <a:rPr sz="2700" b="1">
                <a:solidFill>
                  <a:srgbClr val="000000"/>
                </a:solidFill>
                <a:latin typeface="Helvetica Neue"/>
                <a:ea typeface="Helvetica Neue"/>
                <a:cs typeface="Helvetica Neue"/>
              </a:rPr>
              <a:t>information</a:t>
            </a:r>
          </a:p>
        </p:txBody>
      </p:sp>
      <p:sp>
        <p:nvSpPr>
          <p:cNvPr id="6" name="">
            <a:extLst xmlns:a="http://schemas.openxmlformats.org/drawingml/2006/main">
              <a:ext uri="{FF2B5EF4-FFF2-40B4-BE49-F238E27FC236}">
                <a16:creationId xmlns:a16="http://schemas.microsoft.com/office/drawing/2014/main" id="{7A9E004E-00F1-40EB-8180-54F97B9908B3}"/>
              </a:ext>
            </a:extLst>
          </p:cNvPr>
          <p:cNvSpPr>
            <a:spLocks xmlns:a="http://schemas.openxmlformats.org/drawingml/2006/main" noGrp="1"/>
          </p:cNvSpPr>
          <p:nvPr/>
        </p:nvSpPr>
        <p:spPr>
          <a:xfrm xmlns:a="http://schemas.openxmlformats.org/drawingml/2006/main">
            <a:off x="609600" y="29146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0">
                <a:solidFill>
                  <a:srgbClr val="4B5563"/>
                </a:solidFill>
                <a:latin typeface="SF Mono"/>
                <a:ea typeface="SF Mono"/>
                <a:cs typeface="SF Mono"/>
              </a:defRPr>
            </a:pPr>
            <a:r>
              <a:rPr sz="1500" b="0">
                <a:solidFill>
                  <a:srgbClr val="4B5563"/>
                </a:solidFill>
                <a:latin typeface="SF Mono"/>
                <a:ea typeface="SF Mono"/>
                <a:cs typeface="SF Mono"/>
              </a:rPr>
              <a:t>n.I / max(n.I)</a:t>
            </a:r>
          </a:p>
        </p:txBody>
      </p:sp>
      <p:sp>
        <p:nvSpPr>
          <p:cNvPr id="7" name="">
            <a:extLst xmlns:a="http://schemas.openxmlformats.org/drawingml/2006/main">
              <a:ext uri="{FF2B5EF4-FFF2-40B4-BE49-F238E27FC236}">
                <a16:creationId xmlns:a16="http://schemas.microsoft.com/office/drawing/2014/main" id="{B41F8D06-9F9D-4C76-82BE-D9F1ED381E0D}"/>
              </a:ext>
            </a:extLst>
          </p:cNvPr>
          <p:cNvSpPr>
            <a:spLocks xmlns:a="http://schemas.openxmlformats.org/drawingml/2006/main" noGrp="1"/>
          </p:cNvSpPr>
          <p:nvPr/>
        </p:nvSpPr>
        <p:spPr>
          <a:xfrm xmlns:a="http://schemas.openxmlformats.org/drawingml/2006/main">
            <a:off x="609600" y="3743325"/>
            <a:ext cx="2914650" cy="0"/>
          </a:xfrm>
          <a:prstGeom xmlns:a="http://schemas.openxmlformats.org/drawingml/2006/main" prst="line">
            <a:avLst/>
          </a:prstGeom>
          <a:noFill xmlns:a="http://schemas.openxmlformats.org/drawingml/2006/main"/>
          <a:ln xmlns:a="http://schemas.openxmlformats.org/drawingml/2006/main" w="28575">
            <a:solidFill>
              <a:srgbClr val="C7CBD1"/>
            </a:solidFill>
            <a:prstDash val="solid"/>
          </a:ln>
        </p:spPr>
      </p:sp>
      <p:sp>
        <p:nvSpPr>
          <p:cNvPr id="8" name="">
            <a:extLst xmlns:a="http://schemas.openxmlformats.org/drawingml/2006/main">
              <a:ext uri="{FF2B5EF4-FFF2-40B4-BE49-F238E27FC236}">
                <a16:creationId xmlns:a16="http://schemas.microsoft.com/office/drawing/2014/main" id="{5F6C0E15-0DF3-4868-9026-18C8F26A0460}"/>
              </a:ext>
            </a:extLst>
          </p:cNvPr>
          <p:cNvSpPr>
            <a:spLocks xmlns:a="http://schemas.openxmlformats.org/drawingml/2006/main" noGrp="1"/>
          </p:cNvSpPr>
          <p:nvPr/>
        </p:nvSpPr>
        <p:spPr>
          <a:xfrm xmlns:a="http://schemas.openxmlformats.org/drawingml/2006/main">
            <a:off x="609600" y="3981450"/>
            <a:ext cx="2914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Default. Spend according to the scenario's realized expected information fractions.</a:t>
            </a:r>
          </a:p>
        </p:txBody>
      </p:sp>
      <p:sp>
        <p:nvSpPr>
          <p:cNvPr id="9" name="">
            <a:extLst xmlns:a="http://schemas.openxmlformats.org/drawingml/2006/main">
              <a:ext uri="{FF2B5EF4-FFF2-40B4-BE49-F238E27FC236}">
                <a16:creationId xmlns:a16="http://schemas.microsoft.com/office/drawing/2014/main" id="{67FDFE48-4D20-4572-811C-26E3EF8D3F49}"/>
              </a:ext>
            </a:extLst>
          </p:cNvPr>
          <p:cNvSpPr>
            <a:spLocks xmlns:a="http://schemas.openxmlformats.org/drawingml/2006/main" noGrp="1"/>
          </p:cNvSpPr>
          <p:nvPr/>
        </p:nvSpPr>
        <p:spPr>
          <a:xfrm xmlns:a="http://schemas.openxmlformats.org/drawingml/2006/main">
            <a:off x="4267200" y="1809750"/>
            <a:ext cx="3333750" cy="3333750"/>
          </a:xfrm>
          <a:prstGeom xmlns:a="http://schemas.openxmlformats.org/drawingml/2006/main" prst="roundRect">
            <a:avLst>
              <a:gd name="adj" fmla="val 3429"/>
            </a:avLst>
          </a:prstGeom>
          <a:solidFill xmlns:a="http://schemas.openxmlformats.org/drawingml/2006/main">
            <a:srgbClr val="EAF6FC"/>
          </a:solidFill>
          <a:ln xmlns:a="http://schemas.openxmlformats.org/drawingml/2006/main" w="0">
            <a:solidFill>
              <a:srgbClr val="EAF6FC"/>
            </a:solidFill>
            <a:prstDash val="solid"/>
          </a:ln>
        </p:spPr>
      </p:sp>
      <p:sp>
        <p:nvSpPr>
          <p:cNvPr id="10" name="">
            <a:extLst xmlns:a="http://schemas.openxmlformats.org/drawingml/2006/main">
              <a:ext uri="{FF2B5EF4-FFF2-40B4-BE49-F238E27FC236}">
                <a16:creationId xmlns:a16="http://schemas.microsoft.com/office/drawing/2014/main" id="{2D31AC3B-1AC0-4947-8A21-2CBC37454C4E}"/>
              </a:ext>
            </a:extLst>
          </p:cNvPr>
          <p:cNvSpPr>
            <a:spLocks xmlns:a="http://schemas.openxmlformats.org/drawingml/2006/main" noGrp="1"/>
          </p:cNvSpPr>
          <p:nvPr/>
        </p:nvSpPr>
        <p:spPr>
          <a:xfrm xmlns:a="http://schemas.openxmlformats.org/drawingml/2006/main">
            <a:off x="4476750" y="2095500"/>
            <a:ext cx="2914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700" b="1">
                <a:solidFill>
                  <a:srgbClr val="3D8DFF"/>
                </a:solidFill>
                <a:latin typeface="Helvetica Neue"/>
                <a:ea typeface="Helvetica Neue"/>
                <a:cs typeface="Helvetica Neue"/>
              </a:defRPr>
            </a:pPr>
            <a:r>
              <a:rPr sz="2700" b="1">
                <a:solidFill>
                  <a:srgbClr val="3D8DFF"/>
                </a:solidFill>
                <a:latin typeface="Helvetica Neue"/>
                <a:ea typeface="Helvetica Neue"/>
                <a:cs typeface="Helvetica Neue"/>
              </a:rPr>
              <a:t>calendar</a:t>
            </a:r>
          </a:p>
        </p:txBody>
      </p:sp>
      <p:sp>
        <p:nvSpPr>
          <p:cNvPr id="11" name="">
            <a:extLst xmlns:a="http://schemas.openxmlformats.org/drawingml/2006/main">
              <a:ext uri="{FF2B5EF4-FFF2-40B4-BE49-F238E27FC236}">
                <a16:creationId xmlns:a16="http://schemas.microsoft.com/office/drawing/2014/main" id="{7E4E3F5C-44CC-422C-B26A-AFAA4A12EC0C}"/>
              </a:ext>
            </a:extLst>
          </p:cNvPr>
          <p:cNvSpPr>
            <a:spLocks xmlns:a="http://schemas.openxmlformats.org/drawingml/2006/main" noGrp="1"/>
          </p:cNvSpPr>
          <p:nvPr/>
        </p:nvSpPr>
        <p:spPr>
          <a:xfrm xmlns:a="http://schemas.openxmlformats.org/drawingml/2006/main">
            <a:off x="4476750" y="29146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0">
                <a:solidFill>
                  <a:srgbClr val="4B5563"/>
                </a:solidFill>
                <a:latin typeface="SF Mono"/>
                <a:ea typeface="SF Mono"/>
                <a:cs typeface="SF Mono"/>
              </a:defRPr>
            </a:pPr>
            <a:r>
              <a:rPr sz="1500" b="0">
                <a:solidFill>
                  <a:srgbClr val="4B5563"/>
                </a:solidFill>
                <a:latin typeface="SF Mono"/>
                <a:ea typeface="SF Mono"/>
                <a:cs typeface="SF Mono"/>
              </a:rPr>
              <a:t>T / max(T)</a:t>
            </a:r>
          </a:p>
        </p:txBody>
      </p:sp>
      <p:sp>
        <p:nvSpPr>
          <p:cNvPr id="12" name="">
            <a:extLst xmlns:a="http://schemas.openxmlformats.org/drawingml/2006/main">
              <a:ext uri="{FF2B5EF4-FFF2-40B4-BE49-F238E27FC236}">
                <a16:creationId xmlns:a16="http://schemas.microsoft.com/office/drawing/2014/main" id="{7F437633-52E3-452C-97ED-B59C7732378C}"/>
              </a:ext>
            </a:extLst>
          </p:cNvPr>
          <p:cNvSpPr>
            <a:spLocks xmlns:a="http://schemas.openxmlformats.org/drawingml/2006/main" noGrp="1"/>
          </p:cNvSpPr>
          <p:nvPr/>
        </p:nvSpPr>
        <p:spPr>
          <a:xfrm xmlns:a="http://schemas.openxmlformats.org/drawingml/2006/main">
            <a:off x="4476750" y="3743325"/>
            <a:ext cx="2914650" cy="0"/>
          </a:xfrm>
          <a:prstGeom xmlns:a="http://schemas.openxmlformats.org/drawingml/2006/main" prst="line">
            <a:avLst/>
          </a:prstGeom>
          <a:noFill xmlns:a="http://schemas.openxmlformats.org/drawingml/2006/main"/>
          <a:ln xmlns:a="http://schemas.openxmlformats.org/drawingml/2006/main" w="28575">
            <a:solidFill>
              <a:srgbClr val="6DCBF4"/>
            </a:solidFill>
            <a:prstDash val="solid"/>
          </a:ln>
        </p:spPr>
      </p:sp>
      <p:sp>
        <p:nvSpPr>
          <p:cNvPr id="13" name="">
            <a:extLst xmlns:a="http://schemas.openxmlformats.org/drawingml/2006/main">
              <a:ext uri="{FF2B5EF4-FFF2-40B4-BE49-F238E27FC236}">
                <a16:creationId xmlns:a16="http://schemas.microsoft.com/office/drawing/2014/main" id="{33C79973-3B0C-4DBB-AE93-E9C742DA7B37}"/>
              </a:ext>
            </a:extLst>
          </p:cNvPr>
          <p:cNvSpPr>
            <a:spLocks xmlns:a="http://schemas.openxmlformats.org/drawingml/2006/main" noGrp="1"/>
          </p:cNvSpPr>
          <p:nvPr/>
        </p:nvSpPr>
        <p:spPr>
          <a:xfrm xmlns:a="http://schemas.openxmlformats.org/drawingml/2006/main">
            <a:off x="4476750" y="3981450"/>
            <a:ext cx="2914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Spend according to the realized expected calendar-time fractions.</a:t>
            </a:r>
          </a:p>
        </p:txBody>
      </p:sp>
      <p:sp>
        <p:nvSpPr>
          <p:cNvPr id="14" name="">
            <a:extLst xmlns:a="http://schemas.openxmlformats.org/drawingml/2006/main">
              <a:ext uri="{FF2B5EF4-FFF2-40B4-BE49-F238E27FC236}">
                <a16:creationId xmlns:a16="http://schemas.microsoft.com/office/drawing/2014/main" id="{D7D51F25-3C86-4015-AD9A-8738BDB98B50}"/>
              </a:ext>
            </a:extLst>
          </p:cNvPr>
          <p:cNvSpPr>
            <a:spLocks xmlns:a="http://schemas.openxmlformats.org/drawingml/2006/main" noGrp="1"/>
          </p:cNvSpPr>
          <p:nvPr/>
        </p:nvSpPr>
        <p:spPr>
          <a:xfrm xmlns:a="http://schemas.openxmlformats.org/drawingml/2006/main">
            <a:off x="8134350" y="1809750"/>
            <a:ext cx="3333750" cy="3333750"/>
          </a:xfrm>
          <a:prstGeom xmlns:a="http://schemas.openxmlformats.org/drawingml/2006/main" prst="roundRect">
            <a:avLst>
              <a:gd name="adj" fmla="val 3429"/>
            </a:avLst>
          </a:prstGeom>
          <a:solidFill xmlns:a="http://schemas.openxmlformats.org/drawingml/2006/main">
            <a:srgbClr val="F2F2F2"/>
          </a:solidFill>
          <a:ln xmlns:a="http://schemas.openxmlformats.org/drawingml/2006/main" w="0">
            <a:solidFill>
              <a:srgbClr val="F2F2F2"/>
            </a:solidFill>
            <a:prstDash val="solid"/>
          </a:ln>
        </p:spPr>
      </p:sp>
      <p:sp>
        <p:nvSpPr>
          <p:cNvPr id="15" name="">
            <a:extLst xmlns:a="http://schemas.openxmlformats.org/drawingml/2006/main">
              <a:ext uri="{FF2B5EF4-FFF2-40B4-BE49-F238E27FC236}">
                <a16:creationId xmlns:a16="http://schemas.microsoft.com/office/drawing/2014/main" id="{86EF05CA-F5FB-4932-BFFC-D42D33216D2D}"/>
              </a:ext>
            </a:extLst>
          </p:cNvPr>
          <p:cNvSpPr>
            <a:spLocks xmlns:a="http://schemas.openxmlformats.org/drawingml/2006/main" noGrp="1"/>
          </p:cNvSpPr>
          <p:nvPr/>
        </p:nvSpPr>
        <p:spPr>
          <a:xfrm xmlns:a="http://schemas.openxmlformats.org/drawingml/2006/main">
            <a:off x="8343900" y="2095500"/>
            <a:ext cx="2914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min_planned_actual</a:t>
            </a:r>
          </a:p>
        </p:txBody>
      </p:sp>
      <p:sp>
        <p:nvSpPr>
          <p:cNvPr id="16" name="">
            <a:extLst xmlns:a="http://schemas.openxmlformats.org/drawingml/2006/main">
              <a:ext uri="{FF2B5EF4-FFF2-40B4-BE49-F238E27FC236}">
                <a16:creationId xmlns:a16="http://schemas.microsoft.com/office/drawing/2014/main" id="{CA3A1B46-8AAF-44B8-8883-5E655D8564E7}"/>
              </a:ext>
            </a:extLst>
          </p:cNvPr>
          <p:cNvSpPr>
            <a:spLocks xmlns:a="http://schemas.openxmlformats.org/drawingml/2006/main" noGrp="1"/>
          </p:cNvSpPr>
          <p:nvPr/>
        </p:nvSpPr>
        <p:spPr>
          <a:xfrm xmlns:a="http://schemas.openxmlformats.org/drawingml/2006/main">
            <a:off x="8343900" y="29146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0">
                <a:solidFill>
                  <a:srgbClr val="4B5563"/>
                </a:solidFill>
                <a:latin typeface="SF Mono"/>
                <a:ea typeface="SF Mono"/>
                <a:cs typeface="SF Mono"/>
              </a:defRPr>
            </a:pPr>
            <a:r>
              <a:rPr sz="1500" b="0">
                <a:solidFill>
                  <a:srgbClr val="4B5563"/>
                </a:solidFill>
                <a:latin typeface="SF Mono"/>
                <a:ea typeface="SF Mono"/>
                <a:cs typeface="SF Mono"/>
              </a:rPr>
              <a:t>min(planned, actual) / planned final</a:t>
            </a:r>
          </a:p>
        </p:txBody>
      </p:sp>
      <p:sp>
        <p:nvSpPr>
          <p:cNvPr id="17" name="">
            <a:extLst xmlns:a="http://schemas.openxmlformats.org/drawingml/2006/main">
              <a:ext uri="{FF2B5EF4-FFF2-40B4-BE49-F238E27FC236}">
                <a16:creationId xmlns:a16="http://schemas.microsoft.com/office/drawing/2014/main" id="{9C79BEFB-47FB-41B2-8414-9A995573B06F}"/>
              </a:ext>
            </a:extLst>
          </p:cNvPr>
          <p:cNvSpPr>
            <a:spLocks xmlns:a="http://schemas.openxmlformats.org/drawingml/2006/main" noGrp="1"/>
          </p:cNvSpPr>
          <p:nvPr/>
        </p:nvSpPr>
        <p:spPr>
          <a:xfrm xmlns:a="http://schemas.openxmlformats.org/drawingml/2006/main">
            <a:off x="8343900" y="3743325"/>
            <a:ext cx="2914650" cy="0"/>
          </a:xfrm>
          <a:prstGeom xmlns:a="http://schemas.openxmlformats.org/drawingml/2006/main" prst="line">
            <a:avLst/>
          </a:prstGeom>
          <a:noFill xmlns:a="http://schemas.openxmlformats.org/drawingml/2006/main"/>
          <a:ln xmlns:a="http://schemas.openxmlformats.org/drawingml/2006/main" w="28575">
            <a:solidFill>
              <a:srgbClr val="C7CBD1"/>
            </a:solidFill>
            <a:prstDash val="solid"/>
          </a:ln>
        </p:spPr>
      </p:sp>
      <p:sp>
        <p:nvSpPr>
          <p:cNvPr id="18" name="">
            <a:extLst xmlns:a="http://schemas.openxmlformats.org/drawingml/2006/main">
              <a:ext uri="{FF2B5EF4-FFF2-40B4-BE49-F238E27FC236}">
                <a16:creationId xmlns:a16="http://schemas.microsoft.com/office/drawing/2014/main" id="{E3CF8FEB-104C-47D3-8A1D-F0A742BEC592}"/>
              </a:ext>
            </a:extLst>
          </p:cNvPr>
          <p:cNvSpPr>
            <a:spLocks xmlns:a="http://schemas.openxmlformats.org/drawingml/2006/main" noGrp="1"/>
          </p:cNvSpPr>
          <p:nvPr/>
        </p:nvSpPr>
        <p:spPr>
          <a:xfrm xmlns:a="http://schemas.openxmlformats.org/drawingml/2006/main">
            <a:off x="8343900" y="3981450"/>
            <a:ext cx="2914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With x, prevent spending ahead of either planned events or scenario events.</a:t>
            </a:r>
          </a:p>
        </p:txBody>
      </p:sp>
      <p:sp>
        <p:nvSpPr>
          <p:cNvPr id="19" name="">
            <a:extLst xmlns:a="http://schemas.openxmlformats.org/drawingml/2006/main">
              <a:ext uri="{FF2B5EF4-FFF2-40B4-BE49-F238E27FC236}">
                <a16:creationId xmlns:a16="http://schemas.microsoft.com/office/drawing/2014/main" id="{27414C7D-575E-40B8-848A-4624F721683A}"/>
              </a:ext>
            </a:extLst>
          </p:cNvPr>
          <p:cNvSpPr>
            <a:spLocks xmlns:a="http://schemas.openxmlformats.org/drawingml/2006/main" noGrp="1"/>
          </p:cNvSpPr>
          <p:nvPr/>
        </p:nvSpPr>
        <p:spPr>
          <a:xfrm xmlns:a="http://schemas.openxmlformats.org/drawingml/2006/main">
            <a:off x="400050" y="561975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The same selected effective spending-time vector is used for upper and lower bounds.</a:t>
            </a:r>
          </a:p>
        </p:txBody>
      </p:sp>
    </p:spTree>
    <p:extLst>
      <p:ext uri="{BB962C8B-B14F-4D97-AF65-F5344CB8AC3E}">
        <p14:creationId xmlns:p14="http://schemas.microsoft.com/office/powerpoint/2010/main" val="105605324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6E44042-7FDB-4FB3-84BE-EC60E9A977BD}"/>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SPENDING</a:t>
            </a:r>
          </a:p>
        </p:txBody>
      </p:sp>
      <p:sp>
        <p:nvSpPr>
          <p:cNvPr id="2" name="">
            <a:extLst xmlns:a="http://schemas.openxmlformats.org/drawingml/2006/main">
              <a:ext uri="{FF2B5EF4-FFF2-40B4-BE49-F238E27FC236}">
                <a16:creationId xmlns:a16="http://schemas.microsoft.com/office/drawing/2014/main" id="{00D2415D-C119-4D9D-A5DC-865B3C4A627F}"/>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Calendar spending moves interim decisions earlier</a:t>
            </a:r>
          </a:p>
        </p:txBody>
      </p:sp>
      <p:sp>
        <p:nvSpPr>
          <p:cNvPr id="3" name="">
            <a:extLst xmlns:a="http://schemas.openxmlformats.org/drawingml/2006/main">
              <a:ext uri="{FF2B5EF4-FFF2-40B4-BE49-F238E27FC236}">
                <a16:creationId xmlns:a16="http://schemas.microsoft.com/office/drawing/2014/main" id="{2D2AB3F6-3BBE-454D-B7A7-E045EFA588F9}"/>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23</a:t>
            </a:r>
          </a:p>
        </p:txBody>
      </p:sp>
      <p:graphicFrame>
        <p:nvGraphicFramePr>
          <p:cNvPr id="18" name="Chart"/>
          <p:cNvGraphicFramePr/>
          <p:nvPr/>
        </p:nvGraphicFramePr>
        <p:xfrm>
          <a:off xmlns:a="http://schemas.openxmlformats.org/drawingml/2006/main" x="400050" y="1571625"/>
          <a:ext xmlns:a="http://schemas.openxmlformats.org/drawingml/2006/main" cx="6477000" cy="4095750"/>
        </p:xfrm>
        <a:graphic xmlns:a="http://schemas.openxmlformats.org/drawingml/2006/main">
          <a:graphicData uri="http://schemas.openxmlformats.org/drawingml/2006/chart">
            <c:chart xmlns:r="http://schemas.openxmlformats.org/officeDocument/2006/relationships" xmlns:c="http://schemas.openxmlformats.org/drawingml/2006/chart" r:id="R0af0457ab20c4893"/>
          </a:graphicData>
        </a:graphic>
      </p:graphicFrame>
      <p:sp>
        <p:nvSpPr>
          <p:cNvPr id="5" name="">
            <a:extLst xmlns:a="http://schemas.openxmlformats.org/drawingml/2006/main">
              <a:ext uri="{FF2B5EF4-FFF2-40B4-BE49-F238E27FC236}">
                <a16:creationId xmlns:a16="http://schemas.microsoft.com/office/drawing/2014/main" id="{D02C99F4-F421-45D9-ABBF-CE464E577820}"/>
              </a:ext>
            </a:extLst>
          </p:cNvPr>
          <p:cNvSpPr>
            <a:spLocks xmlns:a="http://schemas.openxmlformats.org/drawingml/2006/main" noGrp="1"/>
          </p:cNvSpPr>
          <p:nvPr/>
        </p:nvSpPr>
        <p:spPr>
          <a:xfrm xmlns:a="http://schemas.openxmlformats.org/drawingml/2006/main">
            <a:off x="7381875" y="17145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3D8DFF"/>
                </a:solidFill>
                <a:latin typeface="Helvetica Neue"/>
                <a:ea typeface="Helvetica Neue"/>
                <a:cs typeface="Helvetica Neue"/>
              </a:defRPr>
            </a:pPr>
            <a:r>
              <a:rPr sz="1725" b="1">
                <a:solidFill>
                  <a:srgbClr val="3D8DFF"/>
                </a:solidFill>
                <a:latin typeface="Helvetica Neue"/>
                <a:ea typeface="Helvetica Neue"/>
                <a:cs typeface="Helvetica Neue"/>
              </a:rPr>
              <a:t>At IA1</a:t>
            </a:r>
          </a:p>
        </p:txBody>
      </p:sp>
      <p:sp>
        <p:nvSpPr>
          <p:cNvPr id="6" name="">
            <a:extLst xmlns:a="http://schemas.openxmlformats.org/drawingml/2006/main">
              <a:ext uri="{FF2B5EF4-FFF2-40B4-BE49-F238E27FC236}">
                <a16:creationId xmlns:a16="http://schemas.microsoft.com/office/drawing/2014/main" id="{0B8C6E58-CF6B-4EE7-A653-E5ACC3F35056}"/>
              </a:ext>
            </a:extLst>
          </p:cNvPr>
          <p:cNvSpPr>
            <a:spLocks xmlns:a="http://schemas.openxmlformats.org/drawingml/2006/main" noGrp="1"/>
          </p:cNvSpPr>
          <p:nvPr/>
        </p:nvSpPr>
        <p:spPr>
          <a:xfrm xmlns:a="http://schemas.openxmlformats.org/drawingml/2006/main">
            <a:off x="7381875" y="2190750"/>
            <a:ext cx="4095750" cy="1219200"/>
          </a:xfrm>
          <a:prstGeom xmlns:a="http://schemas.openxmlformats.org/drawingml/2006/main" prst="roundRect">
            <a:avLst>
              <a:gd name="adj" fmla="val 9375"/>
            </a:avLst>
          </a:prstGeom>
          <a:solidFill xmlns:a="http://schemas.openxmlformats.org/drawingml/2006/main">
            <a:srgbClr val="F2F2F2"/>
          </a:solidFill>
          <a:ln xmlns:a="http://schemas.openxmlformats.org/drawingml/2006/main" w="0">
            <a:solidFill>
              <a:srgbClr val="F2F2F2"/>
            </a:solidFill>
            <a:prstDash val="solid"/>
          </a:ln>
        </p:spPr>
      </p:sp>
      <p:sp>
        <p:nvSpPr>
          <p:cNvPr id="7" name="">
            <a:extLst xmlns:a="http://schemas.openxmlformats.org/drawingml/2006/main">
              <a:ext uri="{FF2B5EF4-FFF2-40B4-BE49-F238E27FC236}">
                <a16:creationId xmlns:a16="http://schemas.microsoft.com/office/drawing/2014/main" id="{B65E1075-2F74-41BF-8085-7F4EB9F56B95}"/>
              </a:ext>
            </a:extLst>
          </p:cNvPr>
          <p:cNvSpPr>
            <a:spLocks xmlns:a="http://schemas.openxmlformats.org/drawingml/2006/main" noGrp="1"/>
          </p:cNvSpPr>
          <p:nvPr/>
        </p:nvSpPr>
        <p:spPr>
          <a:xfrm xmlns:a="http://schemas.openxmlformats.org/drawingml/2006/main">
            <a:off x="7620000" y="24098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Efficacy</a:t>
            </a:r>
          </a:p>
        </p:txBody>
      </p:sp>
      <p:sp>
        <p:nvSpPr>
          <p:cNvPr id="8" name="">
            <a:extLst xmlns:a="http://schemas.openxmlformats.org/drawingml/2006/main">
              <a:ext uri="{FF2B5EF4-FFF2-40B4-BE49-F238E27FC236}">
                <a16:creationId xmlns:a16="http://schemas.microsoft.com/office/drawing/2014/main" id="{45085D28-E355-44EE-8E40-9D91438BE6B7}"/>
              </a:ext>
            </a:extLst>
          </p:cNvPr>
          <p:cNvSpPr>
            <a:spLocks xmlns:a="http://schemas.openxmlformats.org/drawingml/2006/main" noGrp="1"/>
          </p:cNvSpPr>
          <p:nvPr/>
        </p:nvSpPr>
        <p:spPr>
          <a:xfrm xmlns:a="http://schemas.openxmlformats.org/drawingml/2006/main">
            <a:off x="7620000" y="277177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475" b="1">
                <a:solidFill>
                  <a:srgbClr val="000000"/>
                </a:solidFill>
                <a:latin typeface="Helvetica Neue"/>
                <a:ea typeface="Helvetica Neue"/>
                <a:cs typeface="Helvetica Neue"/>
              </a:defRPr>
            </a:pPr>
            <a:r>
              <a:rPr sz="2475" b="1">
                <a:solidFill>
                  <a:srgbClr val="000000"/>
                </a:solidFill>
                <a:latin typeface="Helvetica Neue"/>
                <a:ea typeface="Helvetica Neue"/>
                <a:cs typeface="Helvetica Neue"/>
              </a:rPr>
              <a:t>3.01  →  2.84</a:t>
            </a:r>
          </a:p>
        </p:txBody>
      </p:sp>
      <p:sp>
        <p:nvSpPr>
          <p:cNvPr id="9" name="">
            <a:extLst xmlns:a="http://schemas.openxmlformats.org/drawingml/2006/main">
              <a:ext uri="{FF2B5EF4-FFF2-40B4-BE49-F238E27FC236}">
                <a16:creationId xmlns:a16="http://schemas.microsoft.com/office/drawing/2014/main" id="{D197E39C-8D3F-4C86-B60F-1679311DB04E}"/>
              </a:ext>
            </a:extLst>
          </p:cNvPr>
          <p:cNvSpPr>
            <a:spLocks xmlns:a="http://schemas.openxmlformats.org/drawingml/2006/main" noGrp="1"/>
          </p:cNvSpPr>
          <p:nvPr/>
        </p:nvSpPr>
        <p:spPr>
          <a:xfrm xmlns:a="http://schemas.openxmlformats.org/drawingml/2006/main">
            <a:off x="7381875" y="3638550"/>
            <a:ext cx="4095750" cy="1219200"/>
          </a:xfrm>
          <a:prstGeom xmlns:a="http://schemas.openxmlformats.org/drawingml/2006/main" prst="roundRect">
            <a:avLst>
              <a:gd name="adj" fmla="val 9375"/>
            </a:avLst>
          </a:prstGeom>
          <a:solidFill xmlns:a="http://schemas.openxmlformats.org/drawingml/2006/main">
            <a:srgbClr val="EAF6FC"/>
          </a:solidFill>
          <a:ln xmlns:a="http://schemas.openxmlformats.org/drawingml/2006/main" w="0">
            <a:solidFill>
              <a:srgbClr val="EAF6FC"/>
            </a:solidFill>
            <a:prstDash val="solid"/>
          </a:ln>
        </p:spPr>
      </p:sp>
      <p:sp>
        <p:nvSpPr>
          <p:cNvPr id="10" name="">
            <a:extLst xmlns:a="http://schemas.openxmlformats.org/drawingml/2006/main">
              <a:ext uri="{FF2B5EF4-FFF2-40B4-BE49-F238E27FC236}">
                <a16:creationId xmlns:a16="http://schemas.microsoft.com/office/drawing/2014/main" id="{9AD3ED4A-626A-4509-960F-AE1770EF8441}"/>
              </a:ext>
            </a:extLst>
          </p:cNvPr>
          <p:cNvSpPr>
            <a:spLocks xmlns:a="http://schemas.openxmlformats.org/drawingml/2006/main" noGrp="1"/>
          </p:cNvSpPr>
          <p:nvPr/>
        </p:nvSpPr>
        <p:spPr>
          <a:xfrm xmlns:a="http://schemas.openxmlformats.org/drawingml/2006/main">
            <a:off x="7620000" y="38576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Futility</a:t>
            </a:r>
          </a:p>
        </p:txBody>
      </p:sp>
      <p:sp>
        <p:nvSpPr>
          <p:cNvPr id="11" name="">
            <a:extLst xmlns:a="http://schemas.openxmlformats.org/drawingml/2006/main">
              <a:ext uri="{FF2B5EF4-FFF2-40B4-BE49-F238E27FC236}">
                <a16:creationId xmlns:a16="http://schemas.microsoft.com/office/drawing/2014/main" id="{43EC66F5-3D0C-4CA4-AB2D-5454F12FCC73}"/>
              </a:ext>
            </a:extLst>
          </p:cNvPr>
          <p:cNvSpPr>
            <a:spLocks xmlns:a="http://schemas.openxmlformats.org/drawingml/2006/main" noGrp="1"/>
          </p:cNvSpPr>
          <p:nvPr/>
        </p:nvSpPr>
        <p:spPr>
          <a:xfrm xmlns:a="http://schemas.openxmlformats.org/drawingml/2006/main">
            <a:off x="7620000" y="421957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475" b="1">
                <a:solidFill>
                  <a:srgbClr val="000000"/>
                </a:solidFill>
                <a:latin typeface="Helvetica Neue"/>
                <a:ea typeface="Helvetica Neue"/>
                <a:cs typeface="Helvetica Neue"/>
              </a:defRPr>
            </a:pPr>
            <a:r>
              <a:rPr sz="2475" b="1">
                <a:solidFill>
                  <a:srgbClr val="000000"/>
                </a:solidFill>
                <a:latin typeface="Helvetica Neue"/>
                <a:ea typeface="Helvetica Neue"/>
                <a:cs typeface="Helvetica Neue"/>
              </a:rPr>
              <a:t>−0.24  →  −0.06</a:t>
            </a:r>
          </a:p>
        </p:txBody>
      </p:sp>
      <p:sp>
        <p:nvSpPr>
          <p:cNvPr id="12" name="">
            <a:extLst xmlns:a="http://schemas.openxmlformats.org/drawingml/2006/main">
              <a:ext uri="{FF2B5EF4-FFF2-40B4-BE49-F238E27FC236}">
                <a16:creationId xmlns:a16="http://schemas.microsoft.com/office/drawing/2014/main" id="{142BE993-E834-4376-878D-F42AE6CD6CCC}"/>
              </a:ext>
            </a:extLst>
          </p:cNvPr>
          <p:cNvSpPr>
            <a:spLocks xmlns:a="http://schemas.openxmlformats.org/drawingml/2006/main" noGrp="1"/>
          </p:cNvSpPr>
          <p:nvPr/>
        </p:nvSpPr>
        <p:spPr>
          <a:xfrm xmlns:a="http://schemas.openxmlformats.org/drawingml/2006/main">
            <a:off x="7381875" y="521970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More calendar than information has elapsed, so more alpha and beta are spent early.</a:t>
            </a:r>
          </a:p>
        </p:txBody>
      </p:sp>
    </p:spTree>
    <p:extLst>
      <p:ext uri="{BB962C8B-B14F-4D97-AF65-F5344CB8AC3E}">
        <p14:creationId xmlns:p14="http://schemas.microsoft.com/office/powerpoint/2010/main" val="179545687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1E5088-4FF5-4E6D-A6E9-B14B2E407D01}"/>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SPENDING</a:t>
            </a:r>
          </a:p>
        </p:txBody>
      </p:sp>
      <p:sp>
        <p:nvSpPr>
          <p:cNvPr id="2" name="">
            <a:extLst xmlns:a="http://schemas.openxmlformats.org/drawingml/2006/main">
              <a:ext uri="{FF2B5EF4-FFF2-40B4-BE49-F238E27FC236}">
                <a16:creationId xmlns:a16="http://schemas.microsoft.com/office/drawing/2014/main" id="{DEA703EF-5A2F-455A-9E79-BD3B09327B4B}"/>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036"/>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min_planned_actual can preserve unspent alpha and beta</a:t>
            </a:r>
          </a:p>
        </p:txBody>
      </p:sp>
      <p:sp>
        <p:nvSpPr>
          <p:cNvPr id="3" name="">
            <a:extLst xmlns:a="http://schemas.openxmlformats.org/drawingml/2006/main">
              <a:ext uri="{FF2B5EF4-FFF2-40B4-BE49-F238E27FC236}">
                <a16:creationId xmlns:a16="http://schemas.microsoft.com/office/drawing/2014/main" id="{66A74A6A-3330-40D7-B74D-E9F47E0D26E0}"/>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24</a:t>
            </a:r>
          </a:p>
        </p:txBody>
      </p:sp>
      <p:graphicFrame>
        <p:nvGraphicFramePr>
          <p:cNvPr id="16" name="Chart"/>
          <p:cNvGraphicFramePr/>
          <p:nvPr/>
        </p:nvGraphicFramePr>
        <p:xfrm>
          <a:off xmlns:a="http://schemas.openxmlformats.org/drawingml/2006/main" x="400050" y="1571625"/>
          <a:ext xmlns:a="http://schemas.openxmlformats.org/drawingml/2006/main" cx="7239000" cy="4238625"/>
        </p:xfrm>
        <a:graphic xmlns:a="http://schemas.openxmlformats.org/drawingml/2006/main">
          <a:graphicData uri="http://schemas.openxmlformats.org/drawingml/2006/chart">
            <c:chart xmlns:r="http://schemas.openxmlformats.org/officeDocument/2006/relationships" xmlns:c="http://schemas.openxmlformats.org/drawingml/2006/chart" r:id="R4366d3a71e43437f"/>
          </a:graphicData>
        </a:graphic>
      </p:graphicFrame>
      <p:sp>
        <p:nvSpPr>
          <p:cNvPr id="5" name="">
            <a:extLst xmlns:a="http://schemas.openxmlformats.org/drawingml/2006/main">
              <a:ext uri="{FF2B5EF4-FFF2-40B4-BE49-F238E27FC236}">
                <a16:creationId xmlns:a16="http://schemas.microsoft.com/office/drawing/2014/main" id="{04BEF72E-F579-404C-8CFD-FCC6DE97A4F4}"/>
              </a:ext>
            </a:extLst>
          </p:cNvPr>
          <p:cNvSpPr>
            <a:spLocks xmlns:a="http://schemas.openxmlformats.org/drawingml/2006/main" noGrp="1"/>
          </p:cNvSpPr>
          <p:nvPr/>
        </p:nvSpPr>
        <p:spPr>
          <a:xfrm xmlns:a="http://schemas.openxmlformats.org/drawingml/2006/main">
            <a:off x="8143875" y="1781175"/>
            <a:ext cx="3333750" cy="1524000"/>
          </a:xfrm>
          <a:prstGeom xmlns:a="http://schemas.openxmlformats.org/drawingml/2006/main" prst="roundRect">
            <a:avLst>
              <a:gd name="adj" fmla="val 7500"/>
            </a:avLst>
          </a:prstGeom>
          <a:solidFill xmlns:a="http://schemas.openxmlformats.org/drawingml/2006/main">
            <a:srgbClr val="EAF6FC"/>
          </a:solidFill>
          <a:ln xmlns:a="http://schemas.openxmlformats.org/drawingml/2006/main" w="0">
            <a:solidFill>
              <a:srgbClr val="EAF6FC"/>
            </a:solidFill>
            <a:prstDash val="solid"/>
          </a:ln>
        </p:spPr>
      </p:sp>
      <p:sp>
        <p:nvSpPr>
          <p:cNvPr id="6" name="">
            <a:extLst xmlns:a="http://schemas.openxmlformats.org/drawingml/2006/main">
              <a:ext uri="{FF2B5EF4-FFF2-40B4-BE49-F238E27FC236}">
                <a16:creationId xmlns:a16="http://schemas.microsoft.com/office/drawing/2014/main" id="{01F87CD9-936B-449F-8508-C24C8763114F}"/>
              </a:ext>
            </a:extLst>
          </p:cNvPr>
          <p:cNvSpPr>
            <a:spLocks xmlns:a="http://schemas.openxmlformats.org/drawingml/2006/main" noGrp="1"/>
          </p:cNvSpPr>
          <p:nvPr/>
        </p:nvSpPr>
        <p:spPr>
          <a:xfrm xmlns:a="http://schemas.openxmlformats.org/drawingml/2006/main">
            <a:off x="8401050" y="2000250"/>
            <a:ext cx="2781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5000"/>
              </a:lnSpc>
              <a:buNone/>
              <a:defRPr sz="3750" b="1">
                <a:solidFill>
                  <a:srgbClr val="3D8DFF"/>
                </a:solidFill>
                <a:latin typeface="Helvetica Neue"/>
                <a:ea typeface="Helvetica Neue"/>
                <a:cs typeface="Helvetica Neue"/>
              </a:defRPr>
            </a:pPr>
            <a:r>
              <a:rPr sz="3750" b="1">
                <a:solidFill>
                  <a:srgbClr val="3D8DFF"/>
                </a:solidFill>
                <a:latin typeface="Helvetica Neue"/>
                <a:ea typeface="Helvetica Neue"/>
                <a:cs typeface="Helvetica Neue"/>
              </a:rPr>
              <a:t>52.8%</a:t>
            </a:r>
          </a:p>
        </p:txBody>
      </p:sp>
      <p:sp>
        <p:nvSpPr>
          <p:cNvPr id="7" name="">
            <a:extLst xmlns:a="http://schemas.openxmlformats.org/drawingml/2006/main">
              <a:ext uri="{FF2B5EF4-FFF2-40B4-BE49-F238E27FC236}">
                <a16:creationId xmlns:a16="http://schemas.microsoft.com/office/drawing/2014/main" id="{1E2BDFD6-7274-47B8-9899-B1A2B94BE31C}"/>
              </a:ext>
            </a:extLst>
          </p:cNvPr>
          <p:cNvSpPr>
            <a:spLocks xmlns:a="http://schemas.openxmlformats.org/drawingml/2006/main" noGrp="1"/>
          </p:cNvSpPr>
          <p:nvPr/>
        </p:nvSpPr>
        <p:spPr>
          <a:xfrm xmlns:a="http://schemas.openxmlformats.org/drawingml/2006/main">
            <a:off x="8401050" y="2657475"/>
            <a:ext cx="276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power with incomplete final spending</a:t>
            </a:r>
          </a:p>
        </p:txBody>
      </p:sp>
      <p:sp>
        <p:nvSpPr>
          <p:cNvPr id="8" name="">
            <a:extLst xmlns:a="http://schemas.openxmlformats.org/drawingml/2006/main">
              <a:ext uri="{FF2B5EF4-FFF2-40B4-BE49-F238E27FC236}">
                <a16:creationId xmlns:a16="http://schemas.microsoft.com/office/drawing/2014/main" id="{668BF4E0-79EE-42F2-B4EF-AAEA4255A03E}"/>
              </a:ext>
            </a:extLst>
          </p:cNvPr>
          <p:cNvSpPr>
            <a:spLocks xmlns:a="http://schemas.openxmlformats.org/drawingml/2006/main" noGrp="1"/>
          </p:cNvSpPr>
          <p:nvPr/>
        </p:nvSpPr>
        <p:spPr>
          <a:xfrm xmlns:a="http://schemas.openxmlformats.org/drawingml/2006/main">
            <a:off x="8143875" y="3762375"/>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Why so conservative?</a:t>
            </a:r>
          </a:p>
        </p:txBody>
      </p:sp>
      <p:sp>
        <p:nvSpPr>
          <p:cNvPr id="9" name="">
            <a:extLst xmlns:a="http://schemas.openxmlformats.org/drawingml/2006/main">
              <a:ext uri="{FF2B5EF4-FFF2-40B4-BE49-F238E27FC236}">
                <a16:creationId xmlns:a16="http://schemas.microsoft.com/office/drawing/2014/main" id="{F5A12D86-016D-4E25-824B-80FEE68467A7}"/>
              </a:ext>
            </a:extLst>
          </p:cNvPr>
          <p:cNvSpPr>
            <a:spLocks xmlns:a="http://schemas.openxmlformats.org/drawingml/2006/main" noGrp="1"/>
          </p:cNvSpPr>
          <p:nvPr/>
        </p:nvSpPr>
        <p:spPr>
          <a:xfrm xmlns:a="http://schemas.openxmlformats.org/drawingml/2006/main">
            <a:off x="8143875" y="423862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Only 66.1% of the planned final-event information is available, so spending is not forced to 1.</a:t>
            </a:r>
          </a:p>
        </p:txBody>
      </p:sp>
      <p:sp>
        <p:nvSpPr>
          <p:cNvPr id="10" name="">
            <a:extLst xmlns:a="http://schemas.openxmlformats.org/drawingml/2006/main">
              <a:ext uri="{FF2B5EF4-FFF2-40B4-BE49-F238E27FC236}">
                <a16:creationId xmlns:a16="http://schemas.microsoft.com/office/drawing/2014/main" id="{FAF49145-2352-422B-BA98-576B0EC8C750}"/>
              </a:ext>
            </a:extLst>
          </p:cNvPr>
          <p:cNvSpPr>
            <a:spLocks xmlns:a="http://schemas.openxmlformats.org/drawingml/2006/main" noGrp="1"/>
          </p:cNvSpPr>
          <p:nvPr/>
        </p:nvSpPr>
        <p:spPr>
          <a:xfrm xmlns:a="http://schemas.openxmlformats.org/drawingml/2006/main">
            <a:off x="8143875" y="5381625"/>
            <a:ext cx="333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45"/>
          </a:bodyPr>
          <a:lstStyle xmlns:a="http://schemas.openxmlformats.org/drawingml/2006/main"/>
          <a:p xmlns:a="http://schemas.openxmlformats.org/drawingml/2006/main">
            <a:pPr algn="l">
              <a:lnSpc>
                <a:spcPct val="105000"/>
              </a:lnSpc>
              <a:buNone/>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Use fullSpendingAtFinal = TRUE when full final spending is the intended rule.</a:t>
            </a:r>
          </a:p>
        </p:txBody>
      </p:sp>
    </p:spTree>
    <p:extLst>
      <p:ext uri="{BB962C8B-B14F-4D97-AF65-F5344CB8AC3E}">
        <p14:creationId xmlns:p14="http://schemas.microsoft.com/office/powerpoint/2010/main" val="179198809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3043D145-E76E-452D-A2F2-44C6B312B771}"/>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SPENDING</a:t>
            </a:r>
          </a:p>
        </p:txBody>
      </p:sp>
      <p:sp>
        <p:nvSpPr>
          <p:cNvPr id="2" name="">
            <a:extLst xmlns:a="http://schemas.openxmlformats.org/drawingml/2006/main">
              <a:ext uri="{FF2B5EF4-FFF2-40B4-BE49-F238E27FC236}">
                <a16:creationId xmlns:a16="http://schemas.microsoft.com/office/drawing/2014/main" id="{967DE9A3-6E08-4281-B0ED-425E9789E2FF}"/>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informationRates sets explicit spending-time caps</a:t>
            </a:r>
          </a:p>
        </p:txBody>
      </p:sp>
      <p:sp>
        <p:nvSpPr>
          <p:cNvPr id="3" name="">
            <a:extLst xmlns:a="http://schemas.openxmlformats.org/drawingml/2006/main">
              <a:ext uri="{FF2B5EF4-FFF2-40B4-BE49-F238E27FC236}">
                <a16:creationId xmlns:a16="http://schemas.microsoft.com/office/drawing/2014/main" id="{30AEA2D8-567C-40D0-854C-9DC73C136CE0}"/>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25</a:t>
            </a:r>
          </a:p>
        </p:txBody>
      </p:sp>
      <p:sp>
        <p:nvSpPr>
          <p:cNvPr id="4" name="">
            <a:extLst xmlns:a="http://schemas.openxmlformats.org/drawingml/2006/main">
              <a:ext uri="{FF2B5EF4-FFF2-40B4-BE49-F238E27FC236}">
                <a16:creationId xmlns:a16="http://schemas.microsoft.com/office/drawing/2014/main" id="{D44D8AF9-E8FE-4E62-A7D1-B91321ECFCDE}"/>
              </a:ext>
            </a:extLst>
          </p:cNvPr>
          <p:cNvSpPr>
            <a:spLocks xmlns:a="http://schemas.openxmlformats.org/drawingml/2006/main" noGrp="1"/>
          </p:cNvSpPr>
          <p:nvPr/>
        </p:nvSpPr>
        <p:spPr>
          <a:xfrm xmlns:a="http://schemas.openxmlformats.org/drawingml/2006/main">
            <a:off x="400050" y="1524000"/>
            <a:ext cx="590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700" b="1">
                <a:solidFill>
                  <a:srgbClr val="3D8DFF"/>
                </a:solidFill>
                <a:latin typeface="Helvetica Neue"/>
                <a:ea typeface="Helvetica Neue"/>
                <a:cs typeface="Helvetica Neue"/>
              </a:defRPr>
            </a:pPr>
            <a:r>
              <a:rPr sz="2700" b="1">
                <a:solidFill>
                  <a:srgbClr val="3D8DFF"/>
                </a:solidFill>
                <a:latin typeface="Helvetica Neue"/>
                <a:ea typeface="Helvetica Neue"/>
                <a:cs typeface="Helvetica Neue"/>
              </a:rPr>
              <a:t>Think: planned spending time</a:t>
            </a:r>
          </a:p>
        </p:txBody>
      </p:sp>
      <p:sp>
        <p:nvSpPr>
          <p:cNvPr id="5" name="">
            <a:extLst xmlns:a="http://schemas.openxmlformats.org/drawingml/2006/main">
              <a:ext uri="{FF2B5EF4-FFF2-40B4-BE49-F238E27FC236}">
                <a16:creationId xmlns:a16="http://schemas.microsoft.com/office/drawing/2014/main" id="{089B5924-A7BA-484E-B7C4-6311EA11EE0B}"/>
              </a:ext>
            </a:extLst>
          </p:cNvPr>
          <p:cNvSpPr>
            <a:spLocks xmlns:a="http://schemas.openxmlformats.org/drawingml/2006/main" noGrp="1"/>
          </p:cNvSpPr>
          <p:nvPr/>
        </p:nvSpPr>
        <p:spPr>
          <a:xfrm xmlns:a="http://schemas.openxmlformats.org/drawingml/2006/main">
            <a:off x="400050" y="2190750"/>
            <a:ext cx="666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a:solidFill>
                  <a:srgbClr val="4B5563"/>
                </a:solidFill>
                <a:latin typeface="SF Mono"/>
                <a:ea typeface="SF Mono"/>
                <a:cs typeface="SF Mono"/>
              </a:defRPr>
            </a:pPr>
            <a:r>
              <a:rPr sz="1875" b="0">
                <a:solidFill>
                  <a:srgbClr val="4B5563"/>
                </a:solidFill>
                <a:latin typeface="SF Mono"/>
                <a:ea typeface="SF Mono"/>
                <a:cs typeface="SF Mono"/>
              </a:rPr>
              <a:t>effective time = min(planned cap, actual information)</a:t>
            </a:r>
          </a:p>
        </p:txBody>
      </p:sp>
      <p:sp>
        <p:nvSpPr>
          <p:cNvPr id="6" name="">
            <a:extLst xmlns:a="http://schemas.openxmlformats.org/drawingml/2006/main">
              <a:ext uri="{FF2B5EF4-FFF2-40B4-BE49-F238E27FC236}">
                <a16:creationId xmlns:a16="http://schemas.microsoft.com/office/drawing/2014/main" id="{37BDD850-D7B4-4F39-B543-6DCEB48CE35C}"/>
              </a:ext>
            </a:extLst>
          </p:cNvPr>
          <p:cNvSpPr>
            <a:spLocks xmlns:a="http://schemas.openxmlformats.org/drawingml/2006/main" noGrp="1"/>
          </p:cNvSpPr>
          <p:nvPr/>
        </p:nvSpPr>
        <p:spPr>
          <a:xfrm xmlns:a="http://schemas.openxmlformats.org/drawingml/2006/main">
            <a:off x="400050" y="2952750"/>
            <a:ext cx="1714500" cy="581025"/>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7" name="">
            <a:extLst xmlns:a="http://schemas.openxmlformats.org/drawingml/2006/main">
              <a:ext uri="{FF2B5EF4-FFF2-40B4-BE49-F238E27FC236}">
                <a16:creationId xmlns:a16="http://schemas.microsoft.com/office/drawing/2014/main" id="{5E309F40-B589-4FDD-9126-455E2F98AF55}"/>
              </a:ext>
            </a:extLst>
          </p:cNvPr>
          <p:cNvSpPr>
            <a:spLocks xmlns:a="http://schemas.openxmlformats.org/drawingml/2006/main" noGrp="1"/>
          </p:cNvSpPr>
          <p:nvPr/>
        </p:nvSpPr>
        <p:spPr>
          <a:xfrm xmlns:a="http://schemas.openxmlformats.org/drawingml/2006/main">
            <a:off x="495300" y="3019425"/>
            <a:ext cx="1524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Look</a:t>
            </a:r>
          </a:p>
        </p:txBody>
      </p:sp>
      <p:sp>
        <p:nvSpPr>
          <p:cNvPr id="8" name="">
            <a:extLst xmlns:a="http://schemas.openxmlformats.org/drawingml/2006/main">
              <a:ext uri="{FF2B5EF4-FFF2-40B4-BE49-F238E27FC236}">
                <a16:creationId xmlns:a16="http://schemas.microsoft.com/office/drawing/2014/main" id="{8FF62AA1-F5D3-4DD2-8467-E8637D7E94D2}"/>
              </a:ext>
            </a:extLst>
          </p:cNvPr>
          <p:cNvSpPr>
            <a:spLocks xmlns:a="http://schemas.openxmlformats.org/drawingml/2006/main" noGrp="1"/>
          </p:cNvSpPr>
          <p:nvPr/>
        </p:nvSpPr>
        <p:spPr>
          <a:xfrm xmlns:a="http://schemas.openxmlformats.org/drawingml/2006/main">
            <a:off x="2114550" y="2952750"/>
            <a:ext cx="2286000" cy="581025"/>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9" name="">
            <a:extLst xmlns:a="http://schemas.openxmlformats.org/drawingml/2006/main">
              <a:ext uri="{FF2B5EF4-FFF2-40B4-BE49-F238E27FC236}">
                <a16:creationId xmlns:a16="http://schemas.microsoft.com/office/drawing/2014/main" id="{46C589E3-148C-4575-8F59-ADDD620560CF}"/>
              </a:ext>
            </a:extLst>
          </p:cNvPr>
          <p:cNvSpPr>
            <a:spLocks xmlns:a="http://schemas.openxmlformats.org/drawingml/2006/main" noGrp="1"/>
          </p:cNvSpPr>
          <p:nvPr/>
        </p:nvSpPr>
        <p:spPr>
          <a:xfrm xmlns:a="http://schemas.openxmlformats.org/drawingml/2006/main">
            <a:off x="2209800" y="3019425"/>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Actual info</a:t>
            </a:r>
          </a:p>
        </p:txBody>
      </p:sp>
      <p:sp>
        <p:nvSpPr>
          <p:cNvPr id="10" name="">
            <a:extLst xmlns:a="http://schemas.openxmlformats.org/drawingml/2006/main">
              <a:ext uri="{FF2B5EF4-FFF2-40B4-BE49-F238E27FC236}">
                <a16:creationId xmlns:a16="http://schemas.microsoft.com/office/drawing/2014/main" id="{071155B2-2DDA-4996-85A9-9ECC3A01ED71}"/>
              </a:ext>
            </a:extLst>
          </p:cNvPr>
          <p:cNvSpPr>
            <a:spLocks xmlns:a="http://schemas.openxmlformats.org/drawingml/2006/main" noGrp="1"/>
          </p:cNvSpPr>
          <p:nvPr/>
        </p:nvSpPr>
        <p:spPr>
          <a:xfrm xmlns:a="http://schemas.openxmlformats.org/drawingml/2006/main">
            <a:off x="4400550" y="2952750"/>
            <a:ext cx="2286000" cy="581025"/>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1" name="">
            <a:extLst xmlns:a="http://schemas.openxmlformats.org/drawingml/2006/main">
              <a:ext uri="{FF2B5EF4-FFF2-40B4-BE49-F238E27FC236}">
                <a16:creationId xmlns:a16="http://schemas.microsoft.com/office/drawing/2014/main" id="{6FB1357E-9379-4330-86E5-3AC06C9CCD8C}"/>
              </a:ext>
            </a:extLst>
          </p:cNvPr>
          <p:cNvSpPr>
            <a:spLocks xmlns:a="http://schemas.openxmlformats.org/drawingml/2006/main" noGrp="1"/>
          </p:cNvSpPr>
          <p:nvPr/>
        </p:nvSpPr>
        <p:spPr>
          <a:xfrm xmlns:a="http://schemas.openxmlformats.org/drawingml/2006/main">
            <a:off x="4495800" y="3019425"/>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Planned cap</a:t>
            </a:r>
          </a:p>
        </p:txBody>
      </p:sp>
      <p:sp>
        <p:nvSpPr>
          <p:cNvPr id="12" name="">
            <a:extLst xmlns:a="http://schemas.openxmlformats.org/drawingml/2006/main">
              <a:ext uri="{FF2B5EF4-FFF2-40B4-BE49-F238E27FC236}">
                <a16:creationId xmlns:a16="http://schemas.microsoft.com/office/drawing/2014/main" id="{E5522BF7-46F4-4D55-9A58-0DC0BBAC2A60}"/>
              </a:ext>
            </a:extLst>
          </p:cNvPr>
          <p:cNvSpPr>
            <a:spLocks xmlns:a="http://schemas.openxmlformats.org/drawingml/2006/main" noGrp="1"/>
          </p:cNvSpPr>
          <p:nvPr/>
        </p:nvSpPr>
        <p:spPr>
          <a:xfrm xmlns:a="http://schemas.openxmlformats.org/drawingml/2006/main">
            <a:off x="6686550" y="2952750"/>
            <a:ext cx="2524125" cy="581025"/>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3" name="">
            <a:extLst xmlns:a="http://schemas.openxmlformats.org/drawingml/2006/main">
              <a:ext uri="{FF2B5EF4-FFF2-40B4-BE49-F238E27FC236}">
                <a16:creationId xmlns:a16="http://schemas.microsoft.com/office/drawing/2014/main" id="{DE071ABD-CEC7-4B0D-91D1-6DC0F9C18E39}"/>
              </a:ext>
            </a:extLst>
          </p:cNvPr>
          <p:cNvSpPr>
            <a:spLocks xmlns:a="http://schemas.openxmlformats.org/drawingml/2006/main" noGrp="1"/>
          </p:cNvSpPr>
          <p:nvPr/>
        </p:nvSpPr>
        <p:spPr>
          <a:xfrm xmlns:a="http://schemas.openxmlformats.org/drawingml/2006/main">
            <a:off x="6781800" y="3019425"/>
            <a:ext cx="23336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Effective time</a:t>
            </a:r>
          </a:p>
        </p:txBody>
      </p:sp>
      <p:sp>
        <p:nvSpPr>
          <p:cNvPr id="14" name="">
            <a:extLst xmlns:a="http://schemas.openxmlformats.org/drawingml/2006/main">
              <a:ext uri="{FF2B5EF4-FFF2-40B4-BE49-F238E27FC236}">
                <a16:creationId xmlns:a16="http://schemas.microsoft.com/office/drawing/2014/main" id="{9D48AEA5-DAC8-4C3C-88E1-99DC738563BB}"/>
              </a:ext>
            </a:extLst>
          </p:cNvPr>
          <p:cNvSpPr>
            <a:spLocks xmlns:a="http://schemas.openxmlformats.org/drawingml/2006/main" noGrp="1"/>
          </p:cNvSpPr>
          <p:nvPr/>
        </p:nvSpPr>
        <p:spPr>
          <a:xfrm xmlns:a="http://schemas.openxmlformats.org/drawingml/2006/main">
            <a:off x="400050" y="3533775"/>
            <a:ext cx="1714500"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5" name="">
            <a:extLst xmlns:a="http://schemas.openxmlformats.org/drawingml/2006/main">
              <a:ext uri="{FF2B5EF4-FFF2-40B4-BE49-F238E27FC236}">
                <a16:creationId xmlns:a16="http://schemas.microsoft.com/office/drawing/2014/main" id="{D4472DD5-D929-4A04-B402-59DE241E8CC7}"/>
              </a:ext>
            </a:extLst>
          </p:cNvPr>
          <p:cNvSpPr>
            <a:spLocks xmlns:a="http://schemas.openxmlformats.org/drawingml/2006/main" noGrp="1"/>
          </p:cNvSpPr>
          <p:nvPr/>
        </p:nvSpPr>
        <p:spPr>
          <a:xfrm xmlns:a="http://schemas.openxmlformats.org/drawingml/2006/main">
            <a:off x="495300" y="3600450"/>
            <a:ext cx="1524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IA1</a:t>
            </a:r>
          </a:p>
        </p:txBody>
      </p:sp>
      <p:sp>
        <p:nvSpPr>
          <p:cNvPr id="16" name="">
            <a:extLst xmlns:a="http://schemas.openxmlformats.org/drawingml/2006/main">
              <a:ext uri="{FF2B5EF4-FFF2-40B4-BE49-F238E27FC236}">
                <a16:creationId xmlns:a16="http://schemas.microsoft.com/office/drawing/2014/main" id="{BEC2B474-756A-4D49-809E-9710451A98FA}"/>
              </a:ext>
            </a:extLst>
          </p:cNvPr>
          <p:cNvSpPr>
            <a:spLocks xmlns:a="http://schemas.openxmlformats.org/drawingml/2006/main" noGrp="1"/>
          </p:cNvSpPr>
          <p:nvPr/>
        </p:nvSpPr>
        <p:spPr>
          <a:xfrm xmlns:a="http://schemas.openxmlformats.org/drawingml/2006/main">
            <a:off x="2114550" y="3533775"/>
            <a:ext cx="2286000"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7" name="">
            <a:extLst xmlns:a="http://schemas.openxmlformats.org/drawingml/2006/main">
              <a:ext uri="{FF2B5EF4-FFF2-40B4-BE49-F238E27FC236}">
                <a16:creationId xmlns:a16="http://schemas.microsoft.com/office/drawing/2014/main" id="{010B0327-3A01-4BC8-8158-359D3389F1C9}"/>
              </a:ext>
            </a:extLst>
          </p:cNvPr>
          <p:cNvSpPr>
            <a:spLocks xmlns:a="http://schemas.openxmlformats.org/drawingml/2006/main" noGrp="1"/>
          </p:cNvSpPr>
          <p:nvPr/>
        </p:nvSpPr>
        <p:spPr>
          <a:xfrm xmlns:a="http://schemas.openxmlformats.org/drawingml/2006/main">
            <a:off x="2209800" y="3600450"/>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0.369</a:t>
            </a:r>
          </a:p>
        </p:txBody>
      </p:sp>
      <p:sp>
        <p:nvSpPr>
          <p:cNvPr id="18" name="">
            <a:extLst xmlns:a="http://schemas.openxmlformats.org/drawingml/2006/main">
              <a:ext uri="{FF2B5EF4-FFF2-40B4-BE49-F238E27FC236}">
                <a16:creationId xmlns:a16="http://schemas.microsoft.com/office/drawing/2014/main" id="{EE6F9D53-7B4B-4BF3-9DB4-04A033B9B966}"/>
              </a:ext>
            </a:extLst>
          </p:cNvPr>
          <p:cNvSpPr>
            <a:spLocks xmlns:a="http://schemas.openxmlformats.org/drawingml/2006/main" noGrp="1"/>
          </p:cNvSpPr>
          <p:nvPr/>
        </p:nvSpPr>
        <p:spPr>
          <a:xfrm xmlns:a="http://schemas.openxmlformats.org/drawingml/2006/main">
            <a:off x="4400550" y="3533775"/>
            <a:ext cx="2286000"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9" name="">
            <a:extLst xmlns:a="http://schemas.openxmlformats.org/drawingml/2006/main">
              <a:ext uri="{FF2B5EF4-FFF2-40B4-BE49-F238E27FC236}">
                <a16:creationId xmlns:a16="http://schemas.microsoft.com/office/drawing/2014/main" id="{7E2D86C9-2BC9-43F3-92D7-576FEB68D8A4}"/>
              </a:ext>
            </a:extLst>
          </p:cNvPr>
          <p:cNvSpPr>
            <a:spLocks xmlns:a="http://schemas.openxmlformats.org/drawingml/2006/main" noGrp="1"/>
          </p:cNvSpPr>
          <p:nvPr/>
        </p:nvSpPr>
        <p:spPr>
          <a:xfrm xmlns:a="http://schemas.openxmlformats.org/drawingml/2006/main">
            <a:off x="4495800" y="3600450"/>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0.333</a:t>
            </a:r>
          </a:p>
        </p:txBody>
      </p:sp>
      <p:sp>
        <p:nvSpPr>
          <p:cNvPr id="20" name="">
            <a:extLst xmlns:a="http://schemas.openxmlformats.org/drawingml/2006/main">
              <a:ext uri="{FF2B5EF4-FFF2-40B4-BE49-F238E27FC236}">
                <a16:creationId xmlns:a16="http://schemas.microsoft.com/office/drawing/2014/main" id="{D4913653-228C-4505-999E-FF765356A7CE}"/>
              </a:ext>
            </a:extLst>
          </p:cNvPr>
          <p:cNvSpPr>
            <a:spLocks xmlns:a="http://schemas.openxmlformats.org/drawingml/2006/main" noGrp="1"/>
          </p:cNvSpPr>
          <p:nvPr/>
        </p:nvSpPr>
        <p:spPr>
          <a:xfrm xmlns:a="http://schemas.openxmlformats.org/drawingml/2006/main">
            <a:off x="6686550" y="3533775"/>
            <a:ext cx="25241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21" name="">
            <a:extLst xmlns:a="http://schemas.openxmlformats.org/drawingml/2006/main">
              <a:ext uri="{FF2B5EF4-FFF2-40B4-BE49-F238E27FC236}">
                <a16:creationId xmlns:a16="http://schemas.microsoft.com/office/drawing/2014/main" id="{82BB800B-AC3B-4B3F-BCA7-375DFFEFBBDE}"/>
              </a:ext>
            </a:extLst>
          </p:cNvPr>
          <p:cNvSpPr>
            <a:spLocks xmlns:a="http://schemas.openxmlformats.org/drawingml/2006/main" noGrp="1"/>
          </p:cNvSpPr>
          <p:nvPr/>
        </p:nvSpPr>
        <p:spPr>
          <a:xfrm xmlns:a="http://schemas.openxmlformats.org/drawingml/2006/main">
            <a:off x="6781800" y="3600450"/>
            <a:ext cx="23336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0.333</a:t>
            </a:r>
          </a:p>
        </p:txBody>
      </p:sp>
      <p:sp>
        <p:nvSpPr>
          <p:cNvPr id="22" name="">
            <a:extLst xmlns:a="http://schemas.openxmlformats.org/drawingml/2006/main">
              <a:ext uri="{FF2B5EF4-FFF2-40B4-BE49-F238E27FC236}">
                <a16:creationId xmlns:a16="http://schemas.microsoft.com/office/drawing/2014/main" id="{41FEB0F9-C260-480A-B5B0-2F27DADCEE66}"/>
              </a:ext>
            </a:extLst>
          </p:cNvPr>
          <p:cNvSpPr>
            <a:spLocks xmlns:a="http://schemas.openxmlformats.org/drawingml/2006/main" noGrp="1"/>
          </p:cNvSpPr>
          <p:nvPr/>
        </p:nvSpPr>
        <p:spPr>
          <a:xfrm xmlns:a="http://schemas.openxmlformats.org/drawingml/2006/main">
            <a:off x="400050" y="4114800"/>
            <a:ext cx="1714500" cy="581025"/>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3" name="">
            <a:extLst xmlns:a="http://schemas.openxmlformats.org/drawingml/2006/main">
              <a:ext uri="{FF2B5EF4-FFF2-40B4-BE49-F238E27FC236}">
                <a16:creationId xmlns:a16="http://schemas.microsoft.com/office/drawing/2014/main" id="{DD5C496F-7403-4200-868E-6AF357F7CF6B}"/>
              </a:ext>
            </a:extLst>
          </p:cNvPr>
          <p:cNvSpPr>
            <a:spLocks xmlns:a="http://schemas.openxmlformats.org/drawingml/2006/main" noGrp="1"/>
          </p:cNvSpPr>
          <p:nvPr/>
        </p:nvSpPr>
        <p:spPr>
          <a:xfrm xmlns:a="http://schemas.openxmlformats.org/drawingml/2006/main">
            <a:off x="495300" y="4181475"/>
            <a:ext cx="1524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IA2</a:t>
            </a:r>
          </a:p>
        </p:txBody>
      </p:sp>
      <p:sp>
        <p:nvSpPr>
          <p:cNvPr id="24" name="">
            <a:extLst xmlns:a="http://schemas.openxmlformats.org/drawingml/2006/main">
              <a:ext uri="{FF2B5EF4-FFF2-40B4-BE49-F238E27FC236}">
                <a16:creationId xmlns:a16="http://schemas.microsoft.com/office/drawing/2014/main" id="{C3ECA4DC-FBAE-4841-84C8-EEC2576281C1}"/>
              </a:ext>
            </a:extLst>
          </p:cNvPr>
          <p:cNvSpPr>
            <a:spLocks xmlns:a="http://schemas.openxmlformats.org/drawingml/2006/main" noGrp="1"/>
          </p:cNvSpPr>
          <p:nvPr/>
        </p:nvSpPr>
        <p:spPr>
          <a:xfrm xmlns:a="http://schemas.openxmlformats.org/drawingml/2006/main">
            <a:off x="2114550" y="4114800"/>
            <a:ext cx="2286000" cy="581025"/>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5" name="">
            <a:extLst xmlns:a="http://schemas.openxmlformats.org/drawingml/2006/main">
              <a:ext uri="{FF2B5EF4-FFF2-40B4-BE49-F238E27FC236}">
                <a16:creationId xmlns:a16="http://schemas.microsoft.com/office/drawing/2014/main" id="{47BBE784-BECE-4BA1-BD0A-AA55055A55F9}"/>
              </a:ext>
            </a:extLst>
          </p:cNvPr>
          <p:cNvSpPr>
            <a:spLocks xmlns:a="http://schemas.openxmlformats.org/drawingml/2006/main" noGrp="1"/>
          </p:cNvSpPr>
          <p:nvPr/>
        </p:nvSpPr>
        <p:spPr>
          <a:xfrm xmlns:a="http://schemas.openxmlformats.org/drawingml/2006/main">
            <a:off x="2209800" y="4181475"/>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0.811</a:t>
            </a:r>
          </a:p>
        </p:txBody>
      </p:sp>
      <p:sp>
        <p:nvSpPr>
          <p:cNvPr id="26" name="">
            <a:extLst xmlns:a="http://schemas.openxmlformats.org/drawingml/2006/main">
              <a:ext uri="{FF2B5EF4-FFF2-40B4-BE49-F238E27FC236}">
                <a16:creationId xmlns:a16="http://schemas.microsoft.com/office/drawing/2014/main" id="{1FADA687-E03F-42E5-9B34-4A1F018FF0D1}"/>
              </a:ext>
            </a:extLst>
          </p:cNvPr>
          <p:cNvSpPr>
            <a:spLocks xmlns:a="http://schemas.openxmlformats.org/drawingml/2006/main" noGrp="1"/>
          </p:cNvSpPr>
          <p:nvPr/>
        </p:nvSpPr>
        <p:spPr>
          <a:xfrm xmlns:a="http://schemas.openxmlformats.org/drawingml/2006/main">
            <a:off x="4400550" y="4114800"/>
            <a:ext cx="2286000" cy="581025"/>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7" name="">
            <a:extLst xmlns:a="http://schemas.openxmlformats.org/drawingml/2006/main">
              <a:ext uri="{FF2B5EF4-FFF2-40B4-BE49-F238E27FC236}">
                <a16:creationId xmlns:a16="http://schemas.microsoft.com/office/drawing/2014/main" id="{26A4EF8E-59A7-4235-BAD2-58CDADB129B5}"/>
              </a:ext>
            </a:extLst>
          </p:cNvPr>
          <p:cNvSpPr>
            <a:spLocks xmlns:a="http://schemas.openxmlformats.org/drawingml/2006/main" noGrp="1"/>
          </p:cNvSpPr>
          <p:nvPr/>
        </p:nvSpPr>
        <p:spPr>
          <a:xfrm xmlns:a="http://schemas.openxmlformats.org/drawingml/2006/main">
            <a:off x="4495800" y="4181475"/>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0.667</a:t>
            </a:r>
          </a:p>
        </p:txBody>
      </p:sp>
      <p:sp>
        <p:nvSpPr>
          <p:cNvPr id="28" name="">
            <a:extLst xmlns:a="http://schemas.openxmlformats.org/drawingml/2006/main">
              <a:ext uri="{FF2B5EF4-FFF2-40B4-BE49-F238E27FC236}">
                <a16:creationId xmlns:a16="http://schemas.microsoft.com/office/drawing/2014/main" id="{F938BAEB-39F5-46CC-8EC0-BF57333AB779}"/>
              </a:ext>
            </a:extLst>
          </p:cNvPr>
          <p:cNvSpPr>
            <a:spLocks xmlns:a="http://schemas.openxmlformats.org/drawingml/2006/main" noGrp="1"/>
          </p:cNvSpPr>
          <p:nvPr/>
        </p:nvSpPr>
        <p:spPr>
          <a:xfrm xmlns:a="http://schemas.openxmlformats.org/drawingml/2006/main">
            <a:off x="6686550" y="4114800"/>
            <a:ext cx="2524125" cy="581025"/>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9" name="">
            <a:extLst xmlns:a="http://schemas.openxmlformats.org/drawingml/2006/main">
              <a:ext uri="{FF2B5EF4-FFF2-40B4-BE49-F238E27FC236}">
                <a16:creationId xmlns:a16="http://schemas.microsoft.com/office/drawing/2014/main" id="{B699C62B-A5AF-468B-B2C1-E82130F2213D}"/>
              </a:ext>
            </a:extLst>
          </p:cNvPr>
          <p:cNvSpPr>
            <a:spLocks xmlns:a="http://schemas.openxmlformats.org/drawingml/2006/main" noGrp="1"/>
          </p:cNvSpPr>
          <p:nvPr/>
        </p:nvSpPr>
        <p:spPr>
          <a:xfrm xmlns:a="http://schemas.openxmlformats.org/drawingml/2006/main">
            <a:off x="6781800" y="4181475"/>
            <a:ext cx="23336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0.667</a:t>
            </a:r>
          </a:p>
        </p:txBody>
      </p:sp>
      <p:sp>
        <p:nvSpPr>
          <p:cNvPr id="30" name="">
            <a:extLst xmlns:a="http://schemas.openxmlformats.org/drawingml/2006/main">
              <a:ext uri="{FF2B5EF4-FFF2-40B4-BE49-F238E27FC236}">
                <a16:creationId xmlns:a16="http://schemas.microsoft.com/office/drawing/2014/main" id="{7F92E473-38CD-4F73-8480-E5D9297318ED}"/>
              </a:ext>
            </a:extLst>
          </p:cNvPr>
          <p:cNvSpPr>
            <a:spLocks xmlns:a="http://schemas.openxmlformats.org/drawingml/2006/main" noGrp="1"/>
          </p:cNvSpPr>
          <p:nvPr/>
        </p:nvSpPr>
        <p:spPr>
          <a:xfrm xmlns:a="http://schemas.openxmlformats.org/drawingml/2006/main">
            <a:off x="400050" y="4695825"/>
            <a:ext cx="1714500"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1" name="">
            <a:extLst xmlns:a="http://schemas.openxmlformats.org/drawingml/2006/main">
              <a:ext uri="{FF2B5EF4-FFF2-40B4-BE49-F238E27FC236}">
                <a16:creationId xmlns:a16="http://schemas.microsoft.com/office/drawing/2014/main" id="{ECBC6A67-4C98-4221-99DE-5623EC323617}"/>
              </a:ext>
            </a:extLst>
          </p:cNvPr>
          <p:cNvSpPr>
            <a:spLocks xmlns:a="http://schemas.openxmlformats.org/drawingml/2006/main" noGrp="1"/>
          </p:cNvSpPr>
          <p:nvPr/>
        </p:nvSpPr>
        <p:spPr>
          <a:xfrm xmlns:a="http://schemas.openxmlformats.org/drawingml/2006/main">
            <a:off x="495300" y="4762500"/>
            <a:ext cx="1524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Final</a:t>
            </a:r>
          </a:p>
        </p:txBody>
      </p:sp>
      <p:sp>
        <p:nvSpPr>
          <p:cNvPr id="32" name="">
            <a:extLst xmlns:a="http://schemas.openxmlformats.org/drawingml/2006/main">
              <a:ext uri="{FF2B5EF4-FFF2-40B4-BE49-F238E27FC236}">
                <a16:creationId xmlns:a16="http://schemas.microsoft.com/office/drawing/2014/main" id="{41293AED-7186-413B-99BB-88CACF546B18}"/>
              </a:ext>
            </a:extLst>
          </p:cNvPr>
          <p:cNvSpPr>
            <a:spLocks xmlns:a="http://schemas.openxmlformats.org/drawingml/2006/main" noGrp="1"/>
          </p:cNvSpPr>
          <p:nvPr/>
        </p:nvSpPr>
        <p:spPr>
          <a:xfrm xmlns:a="http://schemas.openxmlformats.org/drawingml/2006/main">
            <a:off x="2114550" y="4695825"/>
            <a:ext cx="2286000"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3" name="">
            <a:extLst xmlns:a="http://schemas.openxmlformats.org/drawingml/2006/main">
              <a:ext uri="{FF2B5EF4-FFF2-40B4-BE49-F238E27FC236}">
                <a16:creationId xmlns:a16="http://schemas.microsoft.com/office/drawing/2014/main" id="{CEFA7373-340D-4CB9-BCC3-8DA5AD7D5F7A}"/>
              </a:ext>
            </a:extLst>
          </p:cNvPr>
          <p:cNvSpPr>
            <a:spLocks xmlns:a="http://schemas.openxmlformats.org/drawingml/2006/main" noGrp="1"/>
          </p:cNvSpPr>
          <p:nvPr/>
        </p:nvSpPr>
        <p:spPr>
          <a:xfrm xmlns:a="http://schemas.openxmlformats.org/drawingml/2006/main">
            <a:off x="2209800" y="4762500"/>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1.000</a:t>
            </a:r>
          </a:p>
        </p:txBody>
      </p:sp>
      <p:sp>
        <p:nvSpPr>
          <p:cNvPr id="34" name="">
            <a:extLst xmlns:a="http://schemas.openxmlformats.org/drawingml/2006/main">
              <a:ext uri="{FF2B5EF4-FFF2-40B4-BE49-F238E27FC236}">
                <a16:creationId xmlns:a16="http://schemas.microsoft.com/office/drawing/2014/main" id="{89C73D25-7DCE-4858-BA0C-1520538B334A}"/>
              </a:ext>
            </a:extLst>
          </p:cNvPr>
          <p:cNvSpPr>
            <a:spLocks xmlns:a="http://schemas.openxmlformats.org/drawingml/2006/main" noGrp="1"/>
          </p:cNvSpPr>
          <p:nvPr/>
        </p:nvSpPr>
        <p:spPr>
          <a:xfrm xmlns:a="http://schemas.openxmlformats.org/drawingml/2006/main">
            <a:off x="4400550" y="4695825"/>
            <a:ext cx="2286000"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5" name="">
            <a:extLst xmlns:a="http://schemas.openxmlformats.org/drawingml/2006/main">
              <a:ext uri="{FF2B5EF4-FFF2-40B4-BE49-F238E27FC236}">
                <a16:creationId xmlns:a16="http://schemas.microsoft.com/office/drawing/2014/main" id="{7D6F110E-434C-46CF-B9F5-66CE54CDF9AF}"/>
              </a:ext>
            </a:extLst>
          </p:cNvPr>
          <p:cNvSpPr>
            <a:spLocks xmlns:a="http://schemas.openxmlformats.org/drawingml/2006/main" noGrp="1"/>
          </p:cNvSpPr>
          <p:nvPr/>
        </p:nvSpPr>
        <p:spPr>
          <a:xfrm xmlns:a="http://schemas.openxmlformats.org/drawingml/2006/main">
            <a:off x="4495800" y="4762500"/>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0.950</a:t>
            </a:r>
          </a:p>
        </p:txBody>
      </p:sp>
      <p:sp>
        <p:nvSpPr>
          <p:cNvPr id="36" name="">
            <a:extLst xmlns:a="http://schemas.openxmlformats.org/drawingml/2006/main">
              <a:ext uri="{FF2B5EF4-FFF2-40B4-BE49-F238E27FC236}">
                <a16:creationId xmlns:a16="http://schemas.microsoft.com/office/drawing/2014/main" id="{087F4291-31F0-41A9-A47A-F0B5C71EEB80}"/>
              </a:ext>
            </a:extLst>
          </p:cNvPr>
          <p:cNvSpPr>
            <a:spLocks xmlns:a="http://schemas.openxmlformats.org/drawingml/2006/main" noGrp="1"/>
          </p:cNvSpPr>
          <p:nvPr/>
        </p:nvSpPr>
        <p:spPr>
          <a:xfrm xmlns:a="http://schemas.openxmlformats.org/drawingml/2006/main">
            <a:off x="6686550" y="4695825"/>
            <a:ext cx="25241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7" name="">
            <a:extLst xmlns:a="http://schemas.openxmlformats.org/drawingml/2006/main">
              <a:ext uri="{FF2B5EF4-FFF2-40B4-BE49-F238E27FC236}">
                <a16:creationId xmlns:a16="http://schemas.microsoft.com/office/drawing/2014/main" id="{C176EDAB-565F-4BEE-8028-F55E5D4CCB44}"/>
              </a:ext>
            </a:extLst>
          </p:cNvPr>
          <p:cNvSpPr>
            <a:spLocks xmlns:a="http://schemas.openxmlformats.org/drawingml/2006/main" noGrp="1"/>
          </p:cNvSpPr>
          <p:nvPr/>
        </p:nvSpPr>
        <p:spPr>
          <a:xfrm xmlns:a="http://schemas.openxmlformats.org/drawingml/2006/main">
            <a:off x="6781800" y="4762500"/>
            <a:ext cx="23336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1.000*</a:t>
            </a:r>
          </a:p>
        </p:txBody>
      </p:sp>
      <p:sp>
        <p:nvSpPr>
          <p:cNvPr id="38" name="">
            <a:extLst xmlns:a="http://schemas.openxmlformats.org/drawingml/2006/main">
              <a:ext uri="{FF2B5EF4-FFF2-40B4-BE49-F238E27FC236}">
                <a16:creationId xmlns:a16="http://schemas.microsoft.com/office/drawing/2014/main" id="{7B0012A7-DDA5-486F-A07D-C700D8A863E1}"/>
              </a:ext>
            </a:extLst>
          </p:cNvPr>
          <p:cNvSpPr>
            <a:spLocks xmlns:a="http://schemas.openxmlformats.org/drawingml/2006/main" noGrp="1"/>
          </p:cNvSpPr>
          <p:nvPr/>
        </p:nvSpPr>
        <p:spPr>
          <a:xfrm xmlns:a="http://schemas.openxmlformats.org/drawingml/2006/main">
            <a:off x="9620250" y="2952750"/>
            <a:ext cx="1809750" cy="2324100"/>
          </a:xfrm>
          <a:prstGeom xmlns:a="http://schemas.openxmlformats.org/drawingml/2006/main" prst="roundRect">
            <a:avLst>
              <a:gd name="adj" fmla="val 6316"/>
            </a:avLst>
          </a:prstGeom>
          <a:solidFill xmlns:a="http://schemas.openxmlformats.org/drawingml/2006/main">
            <a:srgbClr val="EAF6FC"/>
          </a:solidFill>
          <a:ln xmlns:a="http://schemas.openxmlformats.org/drawingml/2006/main" w="0">
            <a:solidFill>
              <a:srgbClr val="EAF6FC"/>
            </a:solidFill>
            <a:prstDash val="solid"/>
          </a:ln>
        </p:spPr>
      </p:sp>
      <p:sp>
        <p:nvSpPr>
          <p:cNvPr id="39" name="">
            <a:extLst xmlns:a="http://schemas.openxmlformats.org/drawingml/2006/main">
              <a:ext uri="{FF2B5EF4-FFF2-40B4-BE49-F238E27FC236}">
                <a16:creationId xmlns:a16="http://schemas.microsoft.com/office/drawing/2014/main" id="{C92B0CA7-7B8D-42CA-A707-5742C3F6D526}"/>
              </a:ext>
            </a:extLst>
          </p:cNvPr>
          <p:cNvSpPr>
            <a:spLocks xmlns:a="http://schemas.openxmlformats.org/drawingml/2006/main" noGrp="1"/>
          </p:cNvSpPr>
          <p:nvPr/>
        </p:nvSpPr>
        <p:spPr>
          <a:xfrm xmlns:a="http://schemas.openxmlformats.org/drawingml/2006/main">
            <a:off x="9810750" y="3333750"/>
            <a:ext cx="142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3300" b="1">
                <a:solidFill>
                  <a:srgbClr val="3D8DFF"/>
                </a:solidFill>
                <a:latin typeface="Helvetica Neue"/>
                <a:ea typeface="Helvetica Neue"/>
                <a:cs typeface="Helvetica Neue"/>
              </a:defRPr>
            </a:pPr>
            <a:r>
              <a:rPr sz="3300" b="1">
                <a:solidFill>
                  <a:srgbClr val="3D8DFF"/>
                </a:solidFill>
                <a:latin typeface="Helvetica Neue"/>
                <a:ea typeface="Helvetica Neue"/>
                <a:cs typeface="Helvetica Neue"/>
              </a:rPr>
              <a:t>76.2%</a:t>
            </a:r>
          </a:p>
        </p:txBody>
      </p:sp>
      <p:sp>
        <p:nvSpPr>
          <p:cNvPr id="40" name="">
            <a:extLst xmlns:a="http://schemas.openxmlformats.org/drawingml/2006/main">
              <a:ext uri="{FF2B5EF4-FFF2-40B4-BE49-F238E27FC236}">
                <a16:creationId xmlns:a16="http://schemas.microsoft.com/office/drawing/2014/main" id="{60E430B8-B2CF-48DB-9D51-FF58A7EC6DDA}"/>
              </a:ext>
            </a:extLst>
          </p:cNvPr>
          <p:cNvSpPr>
            <a:spLocks xmlns:a="http://schemas.openxmlformats.org/drawingml/2006/main" noGrp="1"/>
          </p:cNvSpPr>
          <p:nvPr/>
        </p:nvSpPr>
        <p:spPr>
          <a:xfrm xmlns:a="http://schemas.openxmlformats.org/drawingml/2006/main">
            <a:off x="9810750" y="39719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power</a:t>
            </a:r>
          </a:p>
        </p:txBody>
      </p:sp>
      <p:sp>
        <p:nvSpPr>
          <p:cNvPr id="41" name="">
            <a:extLst xmlns:a="http://schemas.openxmlformats.org/drawingml/2006/main">
              <a:ext uri="{FF2B5EF4-FFF2-40B4-BE49-F238E27FC236}">
                <a16:creationId xmlns:a16="http://schemas.microsoft.com/office/drawing/2014/main" id="{10301BBD-5912-44A6-8010-221E00ED1AC8}"/>
              </a:ext>
            </a:extLst>
          </p:cNvPr>
          <p:cNvSpPr>
            <a:spLocks xmlns:a="http://schemas.openxmlformats.org/drawingml/2006/main" noGrp="1"/>
          </p:cNvSpPr>
          <p:nvPr/>
        </p:nvSpPr>
        <p:spPr>
          <a:xfrm xmlns:a="http://schemas.openxmlformats.org/drawingml/2006/main">
            <a:off x="9810750" y="4457700"/>
            <a:ext cx="142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653"/>
          </a:bodyPr>
          <a:lstStyle xmlns:a="http://schemas.openxmlformats.org/drawingml/2006/main"/>
          <a:p xmlns:a="http://schemas.openxmlformats.org/drawingml/2006/main">
            <a:pPr algn="ctr">
              <a:lnSpc>
                <a:spcPct val="105000"/>
              </a:lnSpc>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 fullSpendingAtFinal = TRUE forces the final value to 1</a:t>
            </a:r>
          </a:p>
        </p:txBody>
      </p:sp>
      <p:sp>
        <p:nvSpPr>
          <p:cNvPr id="42" name="">
            <a:extLst xmlns:a="http://schemas.openxmlformats.org/drawingml/2006/main">
              <a:ext uri="{FF2B5EF4-FFF2-40B4-BE49-F238E27FC236}">
                <a16:creationId xmlns:a16="http://schemas.microsoft.com/office/drawing/2014/main" id="{BEDA5AB8-450B-4B4E-ADAD-8DD3B404458E}"/>
              </a:ext>
            </a:extLst>
          </p:cNvPr>
          <p:cNvSpPr>
            <a:spLocks xmlns:a="http://schemas.openxmlformats.org/drawingml/2006/main" noGrp="1"/>
          </p:cNvSpPr>
          <p:nvPr/>
        </p:nvSpPr>
        <p:spPr>
          <a:xfrm xmlns:a="http://schemas.openxmlformats.org/drawingml/2006/main">
            <a:off x="400050" y="5715000"/>
            <a:ext cx="904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970"/>
          </a:bodyPr>
          <a:lstStyle xmlns:a="http://schemas.openxmlformats.org/drawingml/2006/main"/>
          <a:p xmlns:a="http://schemas.openxmlformats.org/drawingml/2006/main">
            <a:pPr algn="l">
              <a:lnSpc>
                <a:spcPct val="105000"/>
              </a:lnSpc>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No NA: informationRates is complete and overrides spending, usTime, and lsTime.</a:t>
            </a:r>
          </a:p>
        </p:txBody>
      </p:sp>
    </p:spTree>
    <p:extLst>
      <p:ext uri="{BB962C8B-B14F-4D97-AF65-F5344CB8AC3E}">
        <p14:creationId xmlns:p14="http://schemas.microsoft.com/office/powerpoint/2010/main" val="38482155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AF14CF2D-44C6-45B3-AE27-0D0FE5F9A3DD}"/>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STRATIFIED TIMING</a:t>
            </a:r>
          </a:p>
        </p:txBody>
      </p:sp>
      <p:sp>
        <p:nvSpPr>
          <p:cNvPr id="2" name="">
            <a:extLst xmlns:a="http://schemas.openxmlformats.org/drawingml/2006/main">
              <a:ext uri="{FF2B5EF4-FFF2-40B4-BE49-F238E27FC236}">
                <a16:creationId xmlns:a16="http://schemas.microsoft.com/office/drawing/2014/main" id="{C32AF618-FE97-4A4F-BEF9-B639EE88FD76}"/>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Stratified event targets are conjunctive</a:t>
            </a:r>
          </a:p>
        </p:txBody>
      </p:sp>
      <p:sp>
        <p:nvSpPr>
          <p:cNvPr id="3" name="">
            <a:extLst xmlns:a="http://schemas.openxmlformats.org/drawingml/2006/main">
              <a:ext uri="{FF2B5EF4-FFF2-40B4-BE49-F238E27FC236}">
                <a16:creationId xmlns:a16="http://schemas.microsoft.com/office/drawing/2014/main" id="{EAC5A0F5-B609-4B37-853E-4F3DBC87D53B}"/>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26</a:t>
            </a:r>
          </a:p>
        </p:txBody>
      </p:sp>
      <p:sp>
        <p:nvSpPr>
          <p:cNvPr id="4" name="">
            <a:extLst xmlns:a="http://schemas.openxmlformats.org/drawingml/2006/main">
              <a:ext uri="{FF2B5EF4-FFF2-40B4-BE49-F238E27FC236}">
                <a16:creationId xmlns:a16="http://schemas.microsoft.com/office/drawing/2014/main" id="{B5213028-3072-4AED-AE01-FA98D4BF851B}"/>
              </a:ext>
            </a:extLst>
          </p:cNvPr>
          <p:cNvSpPr>
            <a:spLocks xmlns:a="http://schemas.openxmlformats.org/drawingml/2006/main" noGrp="1"/>
          </p:cNvSpPr>
          <p:nvPr/>
        </p:nvSpPr>
        <p:spPr>
          <a:xfrm xmlns:a="http://schemas.openxmlformats.org/drawingml/2006/main">
            <a:off x="400050" y="15240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75" b="1">
                <a:solidFill>
                  <a:srgbClr val="000000"/>
                </a:solidFill>
                <a:latin typeface="SF Mono"/>
                <a:ea typeface="SF Mono"/>
                <a:cs typeface="SF Mono"/>
              </a:defRPr>
            </a:pPr>
            <a:r>
              <a:rPr sz="2175" b="1">
                <a:solidFill>
                  <a:srgbClr val="000000"/>
                </a:solidFill>
                <a:latin typeface="SF Mono"/>
                <a:ea typeface="SF Mono"/>
                <a:cs typeface="SF Mono"/>
              </a:rPr>
              <a:t>targetEventsPerStratum</a:t>
            </a:r>
          </a:p>
        </p:txBody>
      </p:sp>
      <p:sp>
        <p:nvSpPr>
          <p:cNvPr id="5" name="">
            <a:extLst xmlns:a="http://schemas.openxmlformats.org/drawingml/2006/main">
              <a:ext uri="{FF2B5EF4-FFF2-40B4-BE49-F238E27FC236}">
                <a16:creationId xmlns:a16="http://schemas.microsoft.com/office/drawing/2014/main" id="{C53505BE-6282-422C-B080-31492A0469D7}"/>
              </a:ext>
            </a:extLst>
          </p:cNvPr>
          <p:cNvSpPr>
            <a:spLocks xmlns:a="http://schemas.openxmlformats.org/drawingml/2006/main" noGrp="1"/>
          </p:cNvSpPr>
          <p:nvPr/>
        </p:nvSpPr>
        <p:spPr>
          <a:xfrm xmlns:a="http://schemas.openxmlformats.org/drawingml/2006/main">
            <a:off x="400050" y="2143125"/>
            <a:ext cx="1619250" cy="6477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6" name="">
            <a:extLst xmlns:a="http://schemas.openxmlformats.org/drawingml/2006/main">
              <a:ext uri="{FF2B5EF4-FFF2-40B4-BE49-F238E27FC236}">
                <a16:creationId xmlns:a16="http://schemas.microsoft.com/office/drawing/2014/main" id="{23531F0E-880E-48B9-A9C3-5CDF2CF9C2B0}"/>
              </a:ext>
            </a:extLst>
          </p:cNvPr>
          <p:cNvSpPr>
            <a:spLocks xmlns:a="http://schemas.openxmlformats.org/drawingml/2006/main" noGrp="1"/>
          </p:cNvSpPr>
          <p:nvPr/>
        </p:nvSpPr>
        <p:spPr>
          <a:xfrm xmlns:a="http://schemas.openxmlformats.org/drawingml/2006/main">
            <a:off x="495300" y="22098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Look</a:t>
            </a:r>
          </a:p>
        </p:txBody>
      </p:sp>
      <p:sp>
        <p:nvSpPr>
          <p:cNvPr id="7" name="">
            <a:extLst xmlns:a="http://schemas.openxmlformats.org/drawingml/2006/main">
              <a:ext uri="{FF2B5EF4-FFF2-40B4-BE49-F238E27FC236}">
                <a16:creationId xmlns:a16="http://schemas.microsoft.com/office/drawing/2014/main" id="{4E285AAB-6507-4B01-983E-91DCC8CD1A13}"/>
              </a:ext>
            </a:extLst>
          </p:cNvPr>
          <p:cNvSpPr>
            <a:spLocks xmlns:a="http://schemas.openxmlformats.org/drawingml/2006/main" noGrp="1"/>
          </p:cNvSpPr>
          <p:nvPr/>
        </p:nvSpPr>
        <p:spPr>
          <a:xfrm xmlns:a="http://schemas.openxmlformats.org/drawingml/2006/main">
            <a:off x="2019300" y="2143125"/>
            <a:ext cx="1762125" cy="6477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6FD769FC-4EB1-447F-BB7B-6E1961B3E529}"/>
              </a:ext>
            </a:extLst>
          </p:cNvPr>
          <p:cNvSpPr>
            <a:spLocks xmlns:a="http://schemas.openxmlformats.org/drawingml/2006/main" noGrp="1"/>
          </p:cNvSpPr>
          <p:nvPr/>
        </p:nvSpPr>
        <p:spPr>
          <a:xfrm xmlns:a="http://schemas.openxmlformats.org/drawingml/2006/main">
            <a:off x="2114550" y="2209800"/>
            <a:ext cx="1571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Stratum 1</a:t>
            </a:r>
          </a:p>
        </p:txBody>
      </p:sp>
      <p:sp>
        <p:nvSpPr>
          <p:cNvPr id="9" name="">
            <a:extLst xmlns:a="http://schemas.openxmlformats.org/drawingml/2006/main">
              <a:ext uri="{FF2B5EF4-FFF2-40B4-BE49-F238E27FC236}">
                <a16:creationId xmlns:a16="http://schemas.microsoft.com/office/drawing/2014/main" id="{4A845C38-0888-4C20-ABCD-D9322D8D636B}"/>
              </a:ext>
            </a:extLst>
          </p:cNvPr>
          <p:cNvSpPr>
            <a:spLocks xmlns:a="http://schemas.openxmlformats.org/drawingml/2006/main" noGrp="1"/>
          </p:cNvSpPr>
          <p:nvPr/>
        </p:nvSpPr>
        <p:spPr>
          <a:xfrm xmlns:a="http://schemas.openxmlformats.org/drawingml/2006/main">
            <a:off x="3781425" y="2143125"/>
            <a:ext cx="1762125" cy="6477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0" name="">
            <a:extLst xmlns:a="http://schemas.openxmlformats.org/drawingml/2006/main">
              <a:ext uri="{FF2B5EF4-FFF2-40B4-BE49-F238E27FC236}">
                <a16:creationId xmlns:a16="http://schemas.microsoft.com/office/drawing/2014/main" id="{278F96E4-749C-49AA-A6BD-5E7600076726}"/>
              </a:ext>
            </a:extLst>
          </p:cNvPr>
          <p:cNvSpPr>
            <a:spLocks xmlns:a="http://schemas.openxmlformats.org/drawingml/2006/main" noGrp="1"/>
          </p:cNvSpPr>
          <p:nvPr/>
        </p:nvSpPr>
        <p:spPr>
          <a:xfrm xmlns:a="http://schemas.openxmlformats.org/drawingml/2006/main">
            <a:off x="3876675" y="2209800"/>
            <a:ext cx="1571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Stratum 2</a:t>
            </a:r>
          </a:p>
        </p:txBody>
      </p:sp>
      <p:sp>
        <p:nvSpPr>
          <p:cNvPr id="11" name="">
            <a:extLst xmlns:a="http://schemas.openxmlformats.org/drawingml/2006/main">
              <a:ext uri="{FF2B5EF4-FFF2-40B4-BE49-F238E27FC236}">
                <a16:creationId xmlns:a16="http://schemas.microsoft.com/office/drawing/2014/main" id="{B1635333-7ED7-49F6-A743-FD7DEA3AB311}"/>
              </a:ext>
            </a:extLst>
          </p:cNvPr>
          <p:cNvSpPr>
            <a:spLocks xmlns:a="http://schemas.openxmlformats.org/drawingml/2006/main" noGrp="1"/>
          </p:cNvSpPr>
          <p:nvPr/>
        </p:nvSpPr>
        <p:spPr>
          <a:xfrm xmlns:a="http://schemas.openxmlformats.org/drawingml/2006/main">
            <a:off x="400050" y="2790825"/>
            <a:ext cx="16192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2" name="">
            <a:extLst xmlns:a="http://schemas.openxmlformats.org/drawingml/2006/main">
              <a:ext uri="{FF2B5EF4-FFF2-40B4-BE49-F238E27FC236}">
                <a16:creationId xmlns:a16="http://schemas.microsoft.com/office/drawing/2014/main" id="{0F9D0808-CE22-492D-BCF8-2719F77B2022}"/>
              </a:ext>
            </a:extLst>
          </p:cNvPr>
          <p:cNvSpPr>
            <a:spLocks xmlns:a="http://schemas.openxmlformats.org/drawingml/2006/main" noGrp="1"/>
          </p:cNvSpPr>
          <p:nvPr/>
        </p:nvSpPr>
        <p:spPr>
          <a:xfrm xmlns:a="http://schemas.openxmlformats.org/drawingml/2006/main">
            <a:off x="495300" y="28575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Interim</a:t>
            </a:r>
          </a:p>
        </p:txBody>
      </p:sp>
      <p:sp>
        <p:nvSpPr>
          <p:cNvPr id="13" name="">
            <a:extLst xmlns:a="http://schemas.openxmlformats.org/drawingml/2006/main">
              <a:ext uri="{FF2B5EF4-FFF2-40B4-BE49-F238E27FC236}">
                <a16:creationId xmlns:a16="http://schemas.microsoft.com/office/drawing/2014/main" id="{B45AFD16-20FB-4F87-8527-C7E94669EDF6}"/>
              </a:ext>
            </a:extLst>
          </p:cNvPr>
          <p:cNvSpPr>
            <a:spLocks xmlns:a="http://schemas.openxmlformats.org/drawingml/2006/main" noGrp="1"/>
          </p:cNvSpPr>
          <p:nvPr/>
        </p:nvSpPr>
        <p:spPr>
          <a:xfrm xmlns:a="http://schemas.openxmlformats.org/drawingml/2006/main">
            <a:off x="2019300" y="2790825"/>
            <a:ext cx="176212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4" name="">
            <a:extLst xmlns:a="http://schemas.openxmlformats.org/drawingml/2006/main">
              <a:ext uri="{FF2B5EF4-FFF2-40B4-BE49-F238E27FC236}">
                <a16:creationId xmlns:a16="http://schemas.microsoft.com/office/drawing/2014/main" id="{FBEED6E7-325A-4197-842E-D00247D72B8B}"/>
              </a:ext>
            </a:extLst>
          </p:cNvPr>
          <p:cNvSpPr>
            <a:spLocks xmlns:a="http://schemas.openxmlformats.org/drawingml/2006/main" noGrp="1"/>
          </p:cNvSpPr>
          <p:nvPr/>
        </p:nvSpPr>
        <p:spPr>
          <a:xfrm xmlns:a="http://schemas.openxmlformats.org/drawingml/2006/main">
            <a:off x="2114550" y="2857500"/>
            <a:ext cx="1571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20</a:t>
            </a:r>
          </a:p>
        </p:txBody>
      </p:sp>
      <p:sp>
        <p:nvSpPr>
          <p:cNvPr id="15" name="">
            <a:extLst xmlns:a="http://schemas.openxmlformats.org/drawingml/2006/main">
              <a:ext uri="{FF2B5EF4-FFF2-40B4-BE49-F238E27FC236}">
                <a16:creationId xmlns:a16="http://schemas.microsoft.com/office/drawing/2014/main" id="{574298B3-C2F2-40A9-B3E9-53CB28748E30}"/>
              </a:ext>
            </a:extLst>
          </p:cNvPr>
          <p:cNvSpPr>
            <a:spLocks xmlns:a="http://schemas.openxmlformats.org/drawingml/2006/main" noGrp="1"/>
          </p:cNvSpPr>
          <p:nvPr/>
        </p:nvSpPr>
        <p:spPr>
          <a:xfrm xmlns:a="http://schemas.openxmlformats.org/drawingml/2006/main">
            <a:off x="3781425" y="2790825"/>
            <a:ext cx="176212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6" name="">
            <a:extLst xmlns:a="http://schemas.openxmlformats.org/drawingml/2006/main">
              <a:ext uri="{FF2B5EF4-FFF2-40B4-BE49-F238E27FC236}">
                <a16:creationId xmlns:a16="http://schemas.microsoft.com/office/drawing/2014/main" id="{762D428F-882B-4525-AEE3-69E5B8C2D3E5}"/>
              </a:ext>
            </a:extLst>
          </p:cNvPr>
          <p:cNvSpPr>
            <a:spLocks xmlns:a="http://schemas.openxmlformats.org/drawingml/2006/main" noGrp="1"/>
          </p:cNvSpPr>
          <p:nvPr/>
        </p:nvSpPr>
        <p:spPr>
          <a:xfrm xmlns:a="http://schemas.openxmlformats.org/drawingml/2006/main">
            <a:off x="3876675" y="2857500"/>
            <a:ext cx="1571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10</a:t>
            </a:r>
          </a:p>
        </p:txBody>
      </p:sp>
      <p:sp>
        <p:nvSpPr>
          <p:cNvPr id="17" name="">
            <a:extLst xmlns:a="http://schemas.openxmlformats.org/drawingml/2006/main">
              <a:ext uri="{FF2B5EF4-FFF2-40B4-BE49-F238E27FC236}">
                <a16:creationId xmlns:a16="http://schemas.microsoft.com/office/drawing/2014/main" id="{80C7834D-D55F-4CA2-918C-5DEB79865172}"/>
              </a:ext>
            </a:extLst>
          </p:cNvPr>
          <p:cNvSpPr>
            <a:spLocks xmlns:a="http://schemas.openxmlformats.org/drawingml/2006/main" noGrp="1"/>
          </p:cNvSpPr>
          <p:nvPr/>
        </p:nvSpPr>
        <p:spPr>
          <a:xfrm xmlns:a="http://schemas.openxmlformats.org/drawingml/2006/main">
            <a:off x="400050" y="3438525"/>
            <a:ext cx="1619250" cy="64770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18" name="">
            <a:extLst xmlns:a="http://schemas.openxmlformats.org/drawingml/2006/main">
              <a:ext uri="{FF2B5EF4-FFF2-40B4-BE49-F238E27FC236}">
                <a16:creationId xmlns:a16="http://schemas.microsoft.com/office/drawing/2014/main" id="{D678A509-0A90-4343-978D-014C16616474}"/>
              </a:ext>
            </a:extLst>
          </p:cNvPr>
          <p:cNvSpPr>
            <a:spLocks xmlns:a="http://schemas.openxmlformats.org/drawingml/2006/main" noGrp="1"/>
          </p:cNvSpPr>
          <p:nvPr/>
        </p:nvSpPr>
        <p:spPr>
          <a:xfrm xmlns:a="http://schemas.openxmlformats.org/drawingml/2006/main">
            <a:off x="495300" y="35052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Final</a:t>
            </a:r>
          </a:p>
        </p:txBody>
      </p:sp>
      <p:sp>
        <p:nvSpPr>
          <p:cNvPr id="19" name="">
            <a:extLst xmlns:a="http://schemas.openxmlformats.org/drawingml/2006/main">
              <a:ext uri="{FF2B5EF4-FFF2-40B4-BE49-F238E27FC236}">
                <a16:creationId xmlns:a16="http://schemas.microsoft.com/office/drawing/2014/main" id="{B978AA8C-C11D-4DB1-8445-4CEB39F249C3}"/>
              </a:ext>
            </a:extLst>
          </p:cNvPr>
          <p:cNvSpPr>
            <a:spLocks xmlns:a="http://schemas.openxmlformats.org/drawingml/2006/main" noGrp="1"/>
          </p:cNvSpPr>
          <p:nvPr/>
        </p:nvSpPr>
        <p:spPr>
          <a:xfrm xmlns:a="http://schemas.openxmlformats.org/drawingml/2006/main">
            <a:off x="2019300" y="3438525"/>
            <a:ext cx="1762125" cy="64770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0" name="">
            <a:extLst xmlns:a="http://schemas.openxmlformats.org/drawingml/2006/main">
              <a:ext uri="{FF2B5EF4-FFF2-40B4-BE49-F238E27FC236}">
                <a16:creationId xmlns:a16="http://schemas.microsoft.com/office/drawing/2014/main" id="{0B64E45B-0662-469F-80BB-3FFAF72F9B14}"/>
              </a:ext>
            </a:extLst>
          </p:cNvPr>
          <p:cNvSpPr>
            <a:spLocks xmlns:a="http://schemas.openxmlformats.org/drawingml/2006/main" noGrp="1"/>
          </p:cNvSpPr>
          <p:nvPr/>
        </p:nvSpPr>
        <p:spPr>
          <a:xfrm xmlns:a="http://schemas.openxmlformats.org/drawingml/2006/main">
            <a:off x="2114550" y="3505200"/>
            <a:ext cx="1571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40</a:t>
            </a:r>
          </a:p>
        </p:txBody>
      </p:sp>
      <p:sp>
        <p:nvSpPr>
          <p:cNvPr id="21" name="">
            <a:extLst xmlns:a="http://schemas.openxmlformats.org/drawingml/2006/main">
              <a:ext uri="{FF2B5EF4-FFF2-40B4-BE49-F238E27FC236}">
                <a16:creationId xmlns:a16="http://schemas.microsoft.com/office/drawing/2014/main" id="{B8444825-AB71-4435-B9C4-4D4A2AC4C648}"/>
              </a:ext>
            </a:extLst>
          </p:cNvPr>
          <p:cNvSpPr>
            <a:spLocks xmlns:a="http://schemas.openxmlformats.org/drawingml/2006/main" noGrp="1"/>
          </p:cNvSpPr>
          <p:nvPr/>
        </p:nvSpPr>
        <p:spPr>
          <a:xfrm xmlns:a="http://schemas.openxmlformats.org/drawingml/2006/main">
            <a:off x="3781425" y="3438525"/>
            <a:ext cx="1762125" cy="64770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2" name="">
            <a:extLst xmlns:a="http://schemas.openxmlformats.org/drawingml/2006/main">
              <a:ext uri="{FF2B5EF4-FFF2-40B4-BE49-F238E27FC236}">
                <a16:creationId xmlns:a16="http://schemas.microsoft.com/office/drawing/2014/main" id="{2EE2E170-7F5A-4368-ABD2-0F391E113E56}"/>
              </a:ext>
            </a:extLst>
          </p:cNvPr>
          <p:cNvSpPr>
            <a:spLocks xmlns:a="http://schemas.openxmlformats.org/drawingml/2006/main" noGrp="1"/>
          </p:cNvSpPr>
          <p:nvPr/>
        </p:nvSpPr>
        <p:spPr>
          <a:xfrm xmlns:a="http://schemas.openxmlformats.org/drawingml/2006/main">
            <a:off x="3876675" y="3505200"/>
            <a:ext cx="1571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20</a:t>
            </a:r>
          </a:p>
        </p:txBody>
      </p:sp>
      <p:sp>
        <p:nvSpPr>
          <p:cNvPr id="23" name="">
            <a:extLst xmlns:a="http://schemas.openxmlformats.org/drawingml/2006/main">
              <a:ext uri="{FF2B5EF4-FFF2-40B4-BE49-F238E27FC236}">
                <a16:creationId xmlns:a16="http://schemas.microsoft.com/office/drawing/2014/main" id="{BEADC5B3-6818-444F-95D9-F6ABE7E8545F}"/>
              </a:ext>
            </a:extLst>
          </p:cNvPr>
          <p:cNvSpPr>
            <a:spLocks xmlns:a="http://schemas.openxmlformats.org/drawingml/2006/main" noGrp="1"/>
          </p:cNvSpPr>
          <p:nvPr/>
        </p:nvSpPr>
        <p:spPr>
          <a:xfrm xmlns:a="http://schemas.openxmlformats.org/drawingml/2006/main">
            <a:off x="5667375" y="28956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requires</a:t>
            </a:r>
          </a:p>
        </p:txBody>
      </p:sp>
      <p:sp>
        <p:nvSpPr>
          <p:cNvPr id="24" name="">
            <a:extLst xmlns:a="http://schemas.openxmlformats.org/drawingml/2006/main">
              <a:ext uri="{FF2B5EF4-FFF2-40B4-BE49-F238E27FC236}">
                <a16:creationId xmlns:a16="http://schemas.microsoft.com/office/drawing/2014/main" id="{5829FCC5-EC9E-4627-921F-DF66A3DB3595}"/>
              </a:ext>
            </a:extLst>
          </p:cNvPr>
          <p:cNvSpPr>
            <a:spLocks xmlns:a="http://schemas.openxmlformats.org/drawingml/2006/main" noGrp="1"/>
          </p:cNvSpPr>
          <p:nvPr/>
        </p:nvSpPr>
        <p:spPr>
          <a:xfrm xmlns:a="http://schemas.openxmlformats.org/drawingml/2006/main">
            <a:off x="5715000" y="3371850"/>
            <a:ext cx="104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3225" b="1">
                <a:solidFill>
                  <a:srgbClr val="3D8DFF"/>
                </a:solidFill>
                <a:latin typeface="Helvetica Neue"/>
                <a:ea typeface="Helvetica Neue"/>
                <a:cs typeface="Helvetica Neue"/>
              </a:defRPr>
            </a:pPr>
            <a:r>
              <a:rPr sz="3225" b="1">
                <a:solidFill>
                  <a:srgbClr val="3D8DFF"/>
                </a:solidFill>
                <a:latin typeface="Helvetica Neue"/>
                <a:ea typeface="Helvetica Neue"/>
                <a:cs typeface="Helvetica Neue"/>
              </a:rPr>
              <a:t>AND</a:t>
            </a:r>
          </a:p>
        </p:txBody>
      </p:sp>
      <p:sp>
        <p:nvSpPr>
          <p:cNvPr id="25" name="">
            <a:extLst xmlns:a="http://schemas.openxmlformats.org/drawingml/2006/main">
              <a:ext uri="{FF2B5EF4-FFF2-40B4-BE49-F238E27FC236}">
                <a16:creationId xmlns:a16="http://schemas.microsoft.com/office/drawing/2014/main" id="{831C4092-A482-4893-86A1-5D8912955CEB}"/>
              </a:ext>
            </a:extLst>
          </p:cNvPr>
          <p:cNvSpPr>
            <a:spLocks xmlns:a="http://schemas.openxmlformats.org/drawingml/2006/main" noGrp="1"/>
          </p:cNvSpPr>
          <p:nvPr/>
        </p:nvSpPr>
        <p:spPr>
          <a:xfrm xmlns:a="http://schemas.openxmlformats.org/drawingml/2006/main">
            <a:off x="7191375" y="2143125"/>
            <a:ext cx="904875" cy="6477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26" name="">
            <a:extLst xmlns:a="http://schemas.openxmlformats.org/drawingml/2006/main">
              <a:ext uri="{FF2B5EF4-FFF2-40B4-BE49-F238E27FC236}">
                <a16:creationId xmlns:a16="http://schemas.microsoft.com/office/drawing/2014/main" id="{1BE645D5-C547-411C-BC70-FF518E912B2C}"/>
              </a:ext>
            </a:extLst>
          </p:cNvPr>
          <p:cNvSpPr>
            <a:spLocks xmlns:a="http://schemas.openxmlformats.org/drawingml/2006/main" noGrp="1"/>
          </p:cNvSpPr>
          <p:nvPr/>
        </p:nvSpPr>
        <p:spPr>
          <a:xfrm xmlns:a="http://schemas.openxmlformats.org/drawingml/2006/main">
            <a:off x="7286625" y="2209800"/>
            <a:ext cx="714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Look</a:t>
            </a:r>
          </a:p>
        </p:txBody>
      </p:sp>
      <p:sp>
        <p:nvSpPr>
          <p:cNvPr id="27" name="">
            <a:extLst xmlns:a="http://schemas.openxmlformats.org/drawingml/2006/main">
              <a:ext uri="{FF2B5EF4-FFF2-40B4-BE49-F238E27FC236}">
                <a16:creationId xmlns:a16="http://schemas.microsoft.com/office/drawing/2014/main" id="{11DD894E-B28F-4CAF-A100-E46FC9160927}"/>
              </a:ext>
            </a:extLst>
          </p:cNvPr>
          <p:cNvSpPr>
            <a:spLocks xmlns:a="http://schemas.openxmlformats.org/drawingml/2006/main" noGrp="1"/>
          </p:cNvSpPr>
          <p:nvPr/>
        </p:nvSpPr>
        <p:spPr>
          <a:xfrm xmlns:a="http://schemas.openxmlformats.org/drawingml/2006/main">
            <a:off x="8096250" y="2143125"/>
            <a:ext cx="1190625" cy="6477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28" name="">
            <a:extLst xmlns:a="http://schemas.openxmlformats.org/drawingml/2006/main">
              <a:ext uri="{FF2B5EF4-FFF2-40B4-BE49-F238E27FC236}">
                <a16:creationId xmlns:a16="http://schemas.microsoft.com/office/drawing/2014/main" id="{CC804939-C155-4336-89C7-71809C0CDA25}"/>
              </a:ext>
            </a:extLst>
          </p:cNvPr>
          <p:cNvSpPr>
            <a:spLocks xmlns:a="http://schemas.openxmlformats.org/drawingml/2006/main" noGrp="1"/>
          </p:cNvSpPr>
          <p:nvPr/>
        </p:nvSpPr>
        <p:spPr>
          <a:xfrm xmlns:a="http://schemas.openxmlformats.org/drawingml/2006/main">
            <a:off x="8191500" y="2209800"/>
            <a:ext cx="1000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Expected S1</a:t>
            </a:r>
          </a:p>
        </p:txBody>
      </p:sp>
      <p:sp>
        <p:nvSpPr>
          <p:cNvPr id="29" name="">
            <a:extLst xmlns:a="http://schemas.openxmlformats.org/drawingml/2006/main">
              <a:ext uri="{FF2B5EF4-FFF2-40B4-BE49-F238E27FC236}">
                <a16:creationId xmlns:a16="http://schemas.microsoft.com/office/drawing/2014/main" id="{1593CD5C-3A1B-497C-BB34-A999170C4AB4}"/>
              </a:ext>
            </a:extLst>
          </p:cNvPr>
          <p:cNvSpPr>
            <a:spLocks xmlns:a="http://schemas.openxmlformats.org/drawingml/2006/main" noGrp="1"/>
          </p:cNvSpPr>
          <p:nvPr/>
        </p:nvSpPr>
        <p:spPr>
          <a:xfrm xmlns:a="http://schemas.openxmlformats.org/drawingml/2006/main">
            <a:off x="9286875" y="2143125"/>
            <a:ext cx="1190625" cy="6477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30" name="">
            <a:extLst xmlns:a="http://schemas.openxmlformats.org/drawingml/2006/main">
              <a:ext uri="{FF2B5EF4-FFF2-40B4-BE49-F238E27FC236}">
                <a16:creationId xmlns:a16="http://schemas.microsoft.com/office/drawing/2014/main" id="{FFB712B3-1AAD-4936-86B8-3FADB6D32264}"/>
              </a:ext>
            </a:extLst>
          </p:cNvPr>
          <p:cNvSpPr>
            <a:spLocks xmlns:a="http://schemas.openxmlformats.org/drawingml/2006/main" noGrp="1"/>
          </p:cNvSpPr>
          <p:nvPr/>
        </p:nvSpPr>
        <p:spPr>
          <a:xfrm xmlns:a="http://schemas.openxmlformats.org/drawingml/2006/main">
            <a:off x="9382125" y="2209800"/>
            <a:ext cx="1000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Expected S2</a:t>
            </a:r>
          </a:p>
        </p:txBody>
      </p:sp>
      <p:sp>
        <p:nvSpPr>
          <p:cNvPr id="31" name="">
            <a:extLst xmlns:a="http://schemas.openxmlformats.org/drawingml/2006/main">
              <a:ext uri="{FF2B5EF4-FFF2-40B4-BE49-F238E27FC236}">
                <a16:creationId xmlns:a16="http://schemas.microsoft.com/office/drawing/2014/main" id="{26F768F3-5056-4A64-81A6-8363FCC45FB7}"/>
              </a:ext>
            </a:extLst>
          </p:cNvPr>
          <p:cNvSpPr>
            <a:spLocks xmlns:a="http://schemas.openxmlformats.org/drawingml/2006/main" noGrp="1"/>
          </p:cNvSpPr>
          <p:nvPr/>
        </p:nvSpPr>
        <p:spPr>
          <a:xfrm xmlns:a="http://schemas.openxmlformats.org/drawingml/2006/main">
            <a:off x="10477500" y="2143125"/>
            <a:ext cx="1314450" cy="6477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32" name="">
            <a:extLst xmlns:a="http://schemas.openxmlformats.org/drawingml/2006/main">
              <a:ext uri="{FF2B5EF4-FFF2-40B4-BE49-F238E27FC236}">
                <a16:creationId xmlns:a16="http://schemas.microsoft.com/office/drawing/2014/main" id="{A2EA9809-B89F-455F-92AE-F12B1EACAD97}"/>
              </a:ext>
            </a:extLst>
          </p:cNvPr>
          <p:cNvSpPr>
            <a:spLocks xmlns:a="http://schemas.openxmlformats.org/drawingml/2006/main" noGrp="1"/>
          </p:cNvSpPr>
          <p:nvPr/>
        </p:nvSpPr>
        <p:spPr>
          <a:xfrm xmlns:a="http://schemas.openxmlformats.org/drawingml/2006/main">
            <a:off x="10572750" y="2209800"/>
            <a:ext cx="1123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Total</a:t>
            </a:r>
          </a:p>
        </p:txBody>
      </p:sp>
      <p:sp>
        <p:nvSpPr>
          <p:cNvPr id="33" name="">
            <a:extLst xmlns:a="http://schemas.openxmlformats.org/drawingml/2006/main">
              <a:ext uri="{FF2B5EF4-FFF2-40B4-BE49-F238E27FC236}">
                <a16:creationId xmlns:a16="http://schemas.microsoft.com/office/drawing/2014/main" id="{7E88D085-9031-4D71-A697-1361B440C925}"/>
              </a:ext>
            </a:extLst>
          </p:cNvPr>
          <p:cNvSpPr>
            <a:spLocks xmlns:a="http://schemas.openxmlformats.org/drawingml/2006/main" noGrp="1"/>
          </p:cNvSpPr>
          <p:nvPr/>
        </p:nvSpPr>
        <p:spPr>
          <a:xfrm xmlns:a="http://schemas.openxmlformats.org/drawingml/2006/main">
            <a:off x="7191375" y="2790825"/>
            <a:ext cx="90487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4" name="">
            <a:extLst xmlns:a="http://schemas.openxmlformats.org/drawingml/2006/main">
              <a:ext uri="{FF2B5EF4-FFF2-40B4-BE49-F238E27FC236}">
                <a16:creationId xmlns:a16="http://schemas.microsoft.com/office/drawing/2014/main" id="{62EDE540-F24F-446A-A000-3DEE41F3A28E}"/>
              </a:ext>
            </a:extLst>
          </p:cNvPr>
          <p:cNvSpPr>
            <a:spLocks xmlns:a="http://schemas.openxmlformats.org/drawingml/2006/main" noGrp="1"/>
          </p:cNvSpPr>
          <p:nvPr/>
        </p:nvSpPr>
        <p:spPr>
          <a:xfrm xmlns:a="http://schemas.openxmlformats.org/drawingml/2006/main">
            <a:off x="7286625" y="2857500"/>
            <a:ext cx="714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Interim</a:t>
            </a:r>
          </a:p>
        </p:txBody>
      </p:sp>
      <p:sp>
        <p:nvSpPr>
          <p:cNvPr id="35" name="">
            <a:extLst xmlns:a="http://schemas.openxmlformats.org/drawingml/2006/main">
              <a:ext uri="{FF2B5EF4-FFF2-40B4-BE49-F238E27FC236}">
                <a16:creationId xmlns:a16="http://schemas.microsoft.com/office/drawing/2014/main" id="{4B670E4B-8BDF-4BD8-A8A2-974DFFE98A90}"/>
              </a:ext>
            </a:extLst>
          </p:cNvPr>
          <p:cNvSpPr>
            <a:spLocks xmlns:a="http://schemas.openxmlformats.org/drawingml/2006/main" noGrp="1"/>
          </p:cNvSpPr>
          <p:nvPr/>
        </p:nvSpPr>
        <p:spPr>
          <a:xfrm xmlns:a="http://schemas.openxmlformats.org/drawingml/2006/main">
            <a:off x="8096250" y="2790825"/>
            <a:ext cx="119062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6" name="">
            <a:extLst xmlns:a="http://schemas.openxmlformats.org/drawingml/2006/main">
              <a:ext uri="{FF2B5EF4-FFF2-40B4-BE49-F238E27FC236}">
                <a16:creationId xmlns:a16="http://schemas.microsoft.com/office/drawing/2014/main" id="{C11ED089-21F4-4BDA-8195-2D4FB7BC15D5}"/>
              </a:ext>
            </a:extLst>
          </p:cNvPr>
          <p:cNvSpPr>
            <a:spLocks xmlns:a="http://schemas.openxmlformats.org/drawingml/2006/main" noGrp="1"/>
          </p:cNvSpPr>
          <p:nvPr/>
        </p:nvSpPr>
        <p:spPr>
          <a:xfrm xmlns:a="http://schemas.openxmlformats.org/drawingml/2006/main">
            <a:off x="8191500" y="2857500"/>
            <a:ext cx="1000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20.0</a:t>
            </a:r>
          </a:p>
        </p:txBody>
      </p:sp>
      <p:sp>
        <p:nvSpPr>
          <p:cNvPr id="37" name="">
            <a:extLst xmlns:a="http://schemas.openxmlformats.org/drawingml/2006/main">
              <a:ext uri="{FF2B5EF4-FFF2-40B4-BE49-F238E27FC236}">
                <a16:creationId xmlns:a16="http://schemas.microsoft.com/office/drawing/2014/main" id="{554307DB-821E-43F1-B511-8F10311E83FF}"/>
              </a:ext>
            </a:extLst>
          </p:cNvPr>
          <p:cNvSpPr>
            <a:spLocks xmlns:a="http://schemas.openxmlformats.org/drawingml/2006/main" noGrp="1"/>
          </p:cNvSpPr>
          <p:nvPr/>
        </p:nvSpPr>
        <p:spPr>
          <a:xfrm xmlns:a="http://schemas.openxmlformats.org/drawingml/2006/main">
            <a:off x="9286875" y="2790825"/>
            <a:ext cx="119062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8" name="">
            <a:extLst xmlns:a="http://schemas.openxmlformats.org/drawingml/2006/main">
              <a:ext uri="{FF2B5EF4-FFF2-40B4-BE49-F238E27FC236}">
                <a16:creationId xmlns:a16="http://schemas.microsoft.com/office/drawing/2014/main" id="{F272BB9D-4406-43EB-9DB1-744E3E74AB0E}"/>
              </a:ext>
            </a:extLst>
          </p:cNvPr>
          <p:cNvSpPr>
            <a:spLocks xmlns:a="http://schemas.openxmlformats.org/drawingml/2006/main" noGrp="1"/>
          </p:cNvSpPr>
          <p:nvPr/>
        </p:nvSpPr>
        <p:spPr>
          <a:xfrm xmlns:a="http://schemas.openxmlformats.org/drawingml/2006/main">
            <a:off x="9382125" y="2857500"/>
            <a:ext cx="1000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11.7</a:t>
            </a:r>
          </a:p>
        </p:txBody>
      </p:sp>
      <p:sp>
        <p:nvSpPr>
          <p:cNvPr id="39" name="">
            <a:extLst xmlns:a="http://schemas.openxmlformats.org/drawingml/2006/main">
              <a:ext uri="{FF2B5EF4-FFF2-40B4-BE49-F238E27FC236}">
                <a16:creationId xmlns:a16="http://schemas.microsoft.com/office/drawing/2014/main" id="{B141110C-A9E1-40A8-8D24-EF4D31CB544C}"/>
              </a:ext>
            </a:extLst>
          </p:cNvPr>
          <p:cNvSpPr>
            <a:spLocks xmlns:a="http://schemas.openxmlformats.org/drawingml/2006/main" noGrp="1"/>
          </p:cNvSpPr>
          <p:nvPr/>
        </p:nvSpPr>
        <p:spPr>
          <a:xfrm xmlns:a="http://schemas.openxmlformats.org/drawingml/2006/main">
            <a:off x="10477500" y="2790825"/>
            <a:ext cx="13144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40" name="">
            <a:extLst xmlns:a="http://schemas.openxmlformats.org/drawingml/2006/main">
              <a:ext uri="{FF2B5EF4-FFF2-40B4-BE49-F238E27FC236}">
                <a16:creationId xmlns:a16="http://schemas.microsoft.com/office/drawing/2014/main" id="{29BDD22E-A141-41F5-BFD8-8958ACDCB03C}"/>
              </a:ext>
            </a:extLst>
          </p:cNvPr>
          <p:cNvSpPr>
            <a:spLocks xmlns:a="http://schemas.openxmlformats.org/drawingml/2006/main" noGrp="1"/>
          </p:cNvSpPr>
          <p:nvPr/>
        </p:nvSpPr>
        <p:spPr>
          <a:xfrm xmlns:a="http://schemas.openxmlformats.org/drawingml/2006/main">
            <a:off x="10572750" y="2857500"/>
            <a:ext cx="1123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31.7</a:t>
            </a:r>
          </a:p>
        </p:txBody>
      </p:sp>
      <p:sp>
        <p:nvSpPr>
          <p:cNvPr id="41" name="">
            <a:extLst xmlns:a="http://schemas.openxmlformats.org/drawingml/2006/main">
              <a:ext uri="{FF2B5EF4-FFF2-40B4-BE49-F238E27FC236}">
                <a16:creationId xmlns:a16="http://schemas.microsoft.com/office/drawing/2014/main" id="{3F9AC444-4822-4E71-9367-5BC847029912}"/>
              </a:ext>
            </a:extLst>
          </p:cNvPr>
          <p:cNvSpPr>
            <a:spLocks xmlns:a="http://schemas.openxmlformats.org/drawingml/2006/main" noGrp="1"/>
          </p:cNvSpPr>
          <p:nvPr/>
        </p:nvSpPr>
        <p:spPr>
          <a:xfrm xmlns:a="http://schemas.openxmlformats.org/drawingml/2006/main">
            <a:off x="7191375" y="3438525"/>
            <a:ext cx="904875" cy="64770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42" name="">
            <a:extLst xmlns:a="http://schemas.openxmlformats.org/drawingml/2006/main">
              <a:ext uri="{FF2B5EF4-FFF2-40B4-BE49-F238E27FC236}">
                <a16:creationId xmlns:a16="http://schemas.microsoft.com/office/drawing/2014/main" id="{2658C94A-CF08-429C-BAA0-CFD89DCBE1C6}"/>
              </a:ext>
            </a:extLst>
          </p:cNvPr>
          <p:cNvSpPr>
            <a:spLocks xmlns:a="http://schemas.openxmlformats.org/drawingml/2006/main" noGrp="1"/>
          </p:cNvSpPr>
          <p:nvPr/>
        </p:nvSpPr>
        <p:spPr>
          <a:xfrm xmlns:a="http://schemas.openxmlformats.org/drawingml/2006/main">
            <a:off x="7286625" y="3505200"/>
            <a:ext cx="714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Final</a:t>
            </a:r>
          </a:p>
        </p:txBody>
      </p:sp>
      <p:sp>
        <p:nvSpPr>
          <p:cNvPr id="43" name="">
            <a:extLst xmlns:a="http://schemas.openxmlformats.org/drawingml/2006/main">
              <a:ext uri="{FF2B5EF4-FFF2-40B4-BE49-F238E27FC236}">
                <a16:creationId xmlns:a16="http://schemas.microsoft.com/office/drawing/2014/main" id="{7F1D789D-D181-406B-9884-E57FA9341C87}"/>
              </a:ext>
            </a:extLst>
          </p:cNvPr>
          <p:cNvSpPr>
            <a:spLocks xmlns:a="http://schemas.openxmlformats.org/drawingml/2006/main" noGrp="1"/>
          </p:cNvSpPr>
          <p:nvPr/>
        </p:nvSpPr>
        <p:spPr>
          <a:xfrm xmlns:a="http://schemas.openxmlformats.org/drawingml/2006/main">
            <a:off x="8096250" y="3438525"/>
            <a:ext cx="1190625" cy="64770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44" name="">
            <a:extLst xmlns:a="http://schemas.openxmlformats.org/drawingml/2006/main">
              <a:ext uri="{FF2B5EF4-FFF2-40B4-BE49-F238E27FC236}">
                <a16:creationId xmlns:a16="http://schemas.microsoft.com/office/drawing/2014/main" id="{4051F629-239E-4C28-A4C9-E71747DC9BAF}"/>
              </a:ext>
            </a:extLst>
          </p:cNvPr>
          <p:cNvSpPr>
            <a:spLocks xmlns:a="http://schemas.openxmlformats.org/drawingml/2006/main" noGrp="1"/>
          </p:cNvSpPr>
          <p:nvPr/>
        </p:nvSpPr>
        <p:spPr>
          <a:xfrm xmlns:a="http://schemas.openxmlformats.org/drawingml/2006/main">
            <a:off x="8191500" y="3505200"/>
            <a:ext cx="1000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40.0</a:t>
            </a:r>
          </a:p>
        </p:txBody>
      </p:sp>
      <p:sp>
        <p:nvSpPr>
          <p:cNvPr id="45" name="">
            <a:extLst xmlns:a="http://schemas.openxmlformats.org/drawingml/2006/main">
              <a:ext uri="{FF2B5EF4-FFF2-40B4-BE49-F238E27FC236}">
                <a16:creationId xmlns:a16="http://schemas.microsoft.com/office/drawing/2014/main" id="{93211005-8BBB-42F1-83CA-E8833F543F73}"/>
              </a:ext>
            </a:extLst>
          </p:cNvPr>
          <p:cNvSpPr>
            <a:spLocks xmlns:a="http://schemas.openxmlformats.org/drawingml/2006/main" noGrp="1"/>
          </p:cNvSpPr>
          <p:nvPr/>
        </p:nvSpPr>
        <p:spPr>
          <a:xfrm xmlns:a="http://schemas.openxmlformats.org/drawingml/2006/main">
            <a:off x="9286875" y="3438525"/>
            <a:ext cx="1190625" cy="64770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46" name="">
            <a:extLst xmlns:a="http://schemas.openxmlformats.org/drawingml/2006/main">
              <a:ext uri="{FF2B5EF4-FFF2-40B4-BE49-F238E27FC236}">
                <a16:creationId xmlns:a16="http://schemas.microsoft.com/office/drawing/2014/main" id="{6487DD64-7BE2-42C7-8986-EFB55272F23B}"/>
              </a:ext>
            </a:extLst>
          </p:cNvPr>
          <p:cNvSpPr>
            <a:spLocks xmlns:a="http://schemas.openxmlformats.org/drawingml/2006/main" noGrp="1"/>
          </p:cNvSpPr>
          <p:nvPr/>
        </p:nvSpPr>
        <p:spPr>
          <a:xfrm xmlns:a="http://schemas.openxmlformats.org/drawingml/2006/main">
            <a:off x="9382125" y="3505200"/>
            <a:ext cx="1000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26.3</a:t>
            </a:r>
          </a:p>
        </p:txBody>
      </p:sp>
      <p:sp>
        <p:nvSpPr>
          <p:cNvPr id="47" name="">
            <a:extLst xmlns:a="http://schemas.openxmlformats.org/drawingml/2006/main">
              <a:ext uri="{FF2B5EF4-FFF2-40B4-BE49-F238E27FC236}">
                <a16:creationId xmlns:a16="http://schemas.microsoft.com/office/drawing/2014/main" id="{CED80535-A069-4943-9B11-C7941EE6EA07}"/>
              </a:ext>
            </a:extLst>
          </p:cNvPr>
          <p:cNvSpPr>
            <a:spLocks xmlns:a="http://schemas.openxmlformats.org/drawingml/2006/main" noGrp="1"/>
          </p:cNvSpPr>
          <p:nvPr/>
        </p:nvSpPr>
        <p:spPr>
          <a:xfrm xmlns:a="http://schemas.openxmlformats.org/drawingml/2006/main">
            <a:off x="10477500" y="3438525"/>
            <a:ext cx="1314450" cy="64770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48" name="">
            <a:extLst xmlns:a="http://schemas.openxmlformats.org/drawingml/2006/main">
              <a:ext uri="{FF2B5EF4-FFF2-40B4-BE49-F238E27FC236}">
                <a16:creationId xmlns:a16="http://schemas.microsoft.com/office/drawing/2014/main" id="{9BF453CA-933A-44A8-82AB-38C5EF099D42}"/>
              </a:ext>
            </a:extLst>
          </p:cNvPr>
          <p:cNvSpPr>
            <a:spLocks xmlns:a="http://schemas.openxmlformats.org/drawingml/2006/main" noGrp="1"/>
          </p:cNvSpPr>
          <p:nvPr/>
        </p:nvSpPr>
        <p:spPr>
          <a:xfrm xmlns:a="http://schemas.openxmlformats.org/drawingml/2006/main">
            <a:off x="10572750" y="3505200"/>
            <a:ext cx="1123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66.3</a:t>
            </a:r>
          </a:p>
        </p:txBody>
      </p:sp>
      <p:sp>
        <p:nvSpPr>
          <p:cNvPr id="49" name="">
            <a:extLst xmlns:a="http://schemas.openxmlformats.org/drawingml/2006/main">
              <a:ext uri="{FF2B5EF4-FFF2-40B4-BE49-F238E27FC236}">
                <a16:creationId xmlns:a16="http://schemas.microsoft.com/office/drawing/2014/main" id="{0664EC20-1162-4910-9A48-12B188851632}"/>
              </a:ext>
            </a:extLst>
          </p:cNvPr>
          <p:cNvSpPr>
            <a:spLocks xmlns:a="http://schemas.openxmlformats.org/drawingml/2006/main" noGrp="1"/>
          </p:cNvSpPr>
          <p:nvPr/>
        </p:nvSpPr>
        <p:spPr>
          <a:xfrm xmlns:a="http://schemas.openxmlformats.org/drawingml/2006/main">
            <a:off x="400050" y="4714875"/>
            <a:ext cx="11391900" cy="1047750"/>
          </a:xfrm>
          <a:prstGeom xmlns:a="http://schemas.openxmlformats.org/drawingml/2006/main" prst="roundRect">
            <a:avLst>
              <a:gd name="adj" fmla="val 10909"/>
            </a:avLst>
          </a:prstGeom>
          <a:solidFill xmlns:a="http://schemas.openxmlformats.org/drawingml/2006/main">
            <a:srgbClr val="EAF6FC"/>
          </a:solidFill>
          <a:ln xmlns:a="http://schemas.openxmlformats.org/drawingml/2006/main" w="0">
            <a:solidFill>
              <a:srgbClr val="EAF6FC"/>
            </a:solidFill>
            <a:prstDash val="solid"/>
          </a:ln>
        </p:spPr>
      </p:sp>
      <p:sp>
        <p:nvSpPr>
          <p:cNvPr id="50" name="">
            <a:extLst xmlns:a="http://schemas.openxmlformats.org/drawingml/2006/main">
              <a:ext uri="{FF2B5EF4-FFF2-40B4-BE49-F238E27FC236}">
                <a16:creationId xmlns:a16="http://schemas.microsoft.com/office/drawing/2014/main" id="{BDED3216-0D3B-4BF1-A655-00D343B8EB41}"/>
              </a:ext>
            </a:extLst>
          </p:cNvPr>
          <p:cNvSpPr>
            <a:spLocks xmlns:a="http://schemas.openxmlformats.org/drawingml/2006/main" noGrp="1"/>
          </p:cNvSpPr>
          <p:nvPr/>
        </p:nvSpPr>
        <p:spPr>
          <a:xfrm xmlns:a="http://schemas.openxmlformats.org/drawingml/2006/main">
            <a:off x="685800" y="495300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13"/>
          </a:bodyPr>
          <a:lstStyle xmlns:a="http://schemas.openxmlformats.org/drawingml/2006/main"/>
          <a:p xmlns:a="http://schemas.openxmlformats.org/drawingml/2006/main">
            <a:pPr algn="l">
              <a:lnSpc>
                <a:spcPct val="105000"/>
              </a:lnSpc>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The faster stratum can exceed its requirement while the slower stratum catches up—so total events need not equal the row sum.</a:t>
            </a:r>
          </a:p>
        </p:txBody>
      </p:sp>
      <p:sp>
        <p:nvSpPr>
          <p:cNvPr id="51" name="">
            <a:extLst xmlns:a="http://schemas.openxmlformats.org/drawingml/2006/main">
              <a:ext uri="{FF2B5EF4-FFF2-40B4-BE49-F238E27FC236}">
                <a16:creationId xmlns:a16="http://schemas.microsoft.com/office/drawing/2014/main" id="{1CAECFBF-C4FC-4B0C-B5A2-24E6A20420EE}"/>
              </a:ext>
            </a:extLst>
          </p:cNvPr>
          <p:cNvSpPr>
            <a:spLocks xmlns:a="http://schemas.openxmlformats.org/drawingml/2006/main" noGrp="1"/>
          </p:cNvSpPr>
          <p:nvPr/>
        </p:nvSpPr>
        <p:spPr>
          <a:xfrm xmlns:a="http://schemas.openxmlformats.org/drawingml/2006/main">
            <a:off x="400050" y="6048375"/>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Rows = analyses  •  columns = strata  •  NA = inactive requirement</a:t>
            </a:r>
          </a:p>
        </p:txBody>
      </p:sp>
    </p:spTree>
    <p:extLst>
      <p:ext uri="{BB962C8B-B14F-4D97-AF65-F5344CB8AC3E}">
        <p14:creationId xmlns:p14="http://schemas.microsoft.com/office/powerpoint/2010/main" val="53280736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D8E80B7-E942-4527-AED1-3CE1C3C98A24}"/>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MULTIPLE HYPOTHESES</a:t>
            </a:r>
          </a:p>
        </p:txBody>
      </p:sp>
      <p:sp>
        <p:nvSpPr>
          <p:cNvPr id="2" name="">
            <a:extLst xmlns:a="http://schemas.openxmlformats.org/drawingml/2006/main">
              <a:ext uri="{FF2B5EF4-FFF2-40B4-BE49-F238E27FC236}">
                <a16:creationId xmlns:a16="http://schemas.microsoft.com/office/drawing/2014/main" id="{BDAF19F9-BD09-4D76-9155-00549CF30368}"/>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One operating plan can support several hypotheses</a:t>
            </a:r>
          </a:p>
        </p:txBody>
      </p:sp>
      <p:sp>
        <p:nvSpPr>
          <p:cNvPr id="3" name="">
            <a:extLst xmlns:a="http://schemas.openxmlformats.org/drawingml/2006/main">
              <a:ext uri="{FF2B5EF4-FFF2-40B4-BE49-F238E27FC236}">
                <a16:creationId xmlns:a16="http://schemas.microsoft.com/office/drawing/2014/main" id="{80B10003-54BE-495A-881D-48819B43E26F}"/>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27</a:t>
            </a:r>
          </a:p>
        </p:txBody>
      </p:sp>
      <p:sp>
        <p:nvSpPr>
          <p:cNvPr id="4" name="">
            <a:extLst xmlns:a="http://schemas.openxmlformats.org/drawingml/2006/main">
              <a:ext uri="{FF2B5EF4-FFF2-40B4-BE49-F238E27FC236}">
                <a16:creationId xmlns:a16="http://schemas.microsoft.com/office/drawing/2014/main" id="{7130538C-4771-4AAC-8428-B5F1E25F176E}"/>
              </a:ext>
            </a:extLst>
          </p:cNvPr>
          <p:cNvSpPr>
            <a:spLocks xmlns:a="http://schemas.openxmlformats.org/drawingml/2006/main" noGrp="1"/>
          </p:cNvSpPr>
          <p:nvPr/>
        </p:nvSpPr>
        <p:spPr>
          <a:xfrm xmlns:a="http://schemas.openxmlformats.org/drawingml/2006/main">
            <a:off x="400050" y="1714500"/>
            <a:ext cx="4953000" cy="3667125"/>
          </a:xfrm>
          <a:prstGeom xmlns:a="http://schemas.openxmlformats.org/drawingml/2006/main" prst="roundRect">
            <a:avLst>
              <a:gd name="adj" fmla="val 3117"/>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61F2216B-2DA4-4CF7-9ED5-63AFC4430399}"/>
              </a:ext>
            </a:extLst>
          </p:cNvPr>
          <p:cNvSpPr>
            <a:spLocks xmlns:a="http://schemas.openxmlformats.org/drawingml/2006/main" noGrp="1"/>
          </p:cNvSpPr>
          <p:nvPr/>
        </p:nvSpPr>
        <p:spPr>
          <a:xfrm xmlns:a="http://schemas.openxmlformats.org/drawingml/2006/main">
            <a:off x="628650" y="1905000"/>
            <a:ext cx="449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POWER</a:t>
            </a:r>
          </a:p>
        </p:txBody>
      </p:sp>
      <p:sp>
        <p:nvSpPr>
          <p:cNvPr id="6" name="">
            <a:extLst xmlns:a="http://schemas.openxmlformats.org/drawingml/2006/main">
              <a:ext uri="{FF2B5EF4-FFF2-40B4-BE49-F238E27FC236}">
                <a16:creationId xmlns:a16="http://schemas.microsoft.com/office/drawing/2014/main" id="{77DE0743-4953-4CA4-BDCF-3EB4755F732D}"/>
              </a:ext>
            </a:extLst>
          </p:cNvPr>
          <p:cNvSpPr>
            <a:spLocks xmlns:a="http://schemas.openxmlformats.org/drawingml/2006/main" noGrp="1"/>
          </p:cNvSpPr>
          <p:nvPr/>
        </p:nvSpPr>
        <p:spPr>
          <a:xfrm xmlns:a="http://schemas.openxmlformats.org/drawingml/2006/main">
            <a:off x="628650" y="2305050"/>
            <a:ext cx="449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Priority hypothesis</a:t>
            </a:r>
          </a:p>
        </p:txBody>
      </p:sp>
      <p:sp>
        <p:nvSpPr>
          <p:cNvPr id="7" name="">
            <a:extLst xmlns:a="http://schemas.openxmlformats.org/drawingml/2006/main">
              <a:ext uri="{FF2B5EF4-FFF2-40B4-BE49-F238E27FC236}">
                <a16:creationId xmlns:a16="http://schemas.microsoft.com/office/drawing/2014/main" id="{4F1B1F09-ECE7-4B15-BE7C-209BAA6387F1}"/>
              </a:ext>
            </a:extLst>
          </p:cNvPr>
          <p:cNvSpPr>
            <a:spLocks xmlns:a="http://schemas.openxmlformats.org/drawingml/2006/main" noGrp="1"/>
          </p:cNvSpPr>
          <p:nvPr/>
        </p:nvSpPr>
        <p:spPr>
          <a:xfrm xmlns:a="http://schemas.openxmlformats.org/drawingml/2006/main">
            <a:off x="628650" y="3067050"/>
            <a:ext cx="4495800" cy="2085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HR 0.65</a:t>
            </a:r>
          </a:p>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60% prevalence</a:t>
            </a:r>
          </a:p>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449 patients</a:t>
            </a:r>
          </a:p>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285 final expected events</a:t>
            </a:r>
          </a:p>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90.0% power</a:t>
            </a:r>
          </a:p>
        </p:txBody>
      </p:sp>
      <p:sp>
        <p:nvSpPr>
          <p:cNvPr id="8" name="">
            <a:extLst xmlns:a="http://schemas.openxmlformats.org/drawingml/2006/main">
              <a:ext uri="{FF2B5EF4-FFF2-40B4-BE49-F238E27FC236}">
                <a16:creationId xmlns:a16="http://schemas.microsoft.com/office/drawing/2014/main" id="{52EBB898-17DE-4A04-AB6F-B6999077A599}"/>
              </a:ext>
            </a:extLst>
          </p:cNvPr>
          <p:cNvSpPr>
            <a:spLocks xmlns:a="http://schemas.openxmlformats.org/drawingml/2006/main" noGrp="1"/>
          </p:cNvSpPr>
          <p:nvPr/>
        </p:nvSpPr>
        <p:spPr>
          <a:xfrm xmlns:a="http://schemas.openxmlformats.org/drawingml/2006/main">
            <a:off x="5572125" y="3095625"/>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785"/>
          </a:bodyPr>
          <a:lstStyle xmlns:a="http://schemas.openxmlformats.org/drawingml/2006/main"/>
          <a:p xmlns:a="http://schemas.openxmlformats.org/drawingml/2006/main">
            <a:pPr algn="ctr">
              <a:lnSpc>
                <a:spcPct val="105000"/>
              </a:lnSpc>
              <a:buNone/>
              <a:defRPr sz="4350" b="1">
                <a:solidFill>
                  <a:srgbClr val="3D8DFF"/>
                </a:solidFill>
                <a:latin typeface="Helvetica Neue"/>
                <a:ea typeface="Helvetica Neue"/>
                <a:cs typeface="Helvetica Neue"/>
              </a:defRPr>
            </a:pPr>
            <a:r>
              <a:rPr sz="4350" b="1">
                <a:solidFill>
                  <a:srgbClr val="3D8DFF"/>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3E9F2B87-6DE2-43EE-9163-FA0D9404D1DE}"/>
              </a:ext>
            </a:extLst>
          </p:cNvPr>
          <p:cNvSpPr>
            <a:spLocks xmlns:a="http://schemas.openxmlformats.org/drawingml/2006/main" noGrp="1"/>
          </p:cNvSpPr>
          <p:nvPr/>
        </p:nvSpPr>
        <p:spPr>
          <a:xfrm xmlns:a="http://schemas.openxmlformats.org/drawingml/2006/main">
            <a:off x="6667500" y="1714500"/>
            <a:ext cx="5124450" cy="3667125"/>
          </a:xfrm>
          <a:prstGeom xmlns:a="http://schemas.openxmlformats.org/drawingml/2006/main" prst="roundRect">
            <a:avLst>
              <a:gd name="adj" fmla="val 3117"/>
            </a:avLst>
          </a:prstGeom>
          <a:solidFill xmlns:a="http://schemas.openxmlformats.org/drawingml/2006/main">
            <a:srgbClr val="EAF6FC"/>
          </a:solidFill>
          <a:ln xmlns:a="http://schemas.openxmlformats.org/drawingml/2006/main" w="0">
            <a:solidFill>
              <a:srgbClr val="EAF6FC"/>
            </a:solidFill>
            <a:prstDash val="solid"/>
          </a:ln>
        </p:spPr>
      </p:sp>
      <p:sp>
        <p:nvSpPr>
          <p:cNvPr id="10" name="">
            <a:extLst xmlns:a="http://schemas.openxmlformats.org/drawingml/2006/main">
              <a:ext uri="{FF2B5EF4-FFF2-40B4-BE49-F238E27FC236}">
                <a16:creationId xmlns:a16="http://schemas.microsoft.com/office/drawing/2014/main" id="{242C54F0-D5D0-4EBC-A446-C64C3BAE7B43}"/>
              </a:ext>
            </a:extLst>
          </p:cNvPr>
          <p:cNvSpPr>
            <a:spLocks xmlns:a="http://schemas.openxmlformats.org/drawingml/2006/main" noGrp="1"/>
          </p:cNvSpPr>
          <p:nvPr/>
        </p:nvSpPr>
        <p:spPr>
          <a:xfrm xmlns:a="http://schemas.openxmlformats.org/drawingml/2006/main">
            <a:off x="6896100" y="1905000"/>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DERIVE</a:t>
            </a:r>
          </a:p>
        </p:txBody>
      </p:sp>
      <p:sp>
        <p:nvSpPr>
          <p:cNvPr id="11" name="">
            <a:extLst xmlns:a="http://schemas.openxmlformats.org/drawingml/2006/main">
              <a:ext uri="{FF2B5EF4-FFF2-40B4-BE49-F238E27FC236}">
                <a16:creationId xmlns:a16="http://schemas.microsoft.com/office/drawing/2014/main" id="{3C659CD2-EA48-4C17-9D4E-D652BA25FECE}"/>
              </a:ext>
            </a:extLst>
          </p:cNvPr>
          <p:cNvSpPr>
            <a:spLocks xmlns:a="http://schemas.openxmlformats.org/drawingml/2006/main" noGrp="1"/>
          </p:cNvSpPr>
          <p:nvPr/>
        </p:nvSpPr>
        <p:spPr>
          <a:xfrm xmlns:a="http://schemas.openxmlformats.org/drawingml/2006/main">
            <a:off x="6896100" y="2305050"/>
            <a:ext cx="466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Additional hypotheses</a:t>
            </a:r>
          </a:p>
        </p:txBody>
      </p:sp>
      <p:sp>
        <p:nvSpPr>
          <p:cNvPr id="12" name="">
            <a:extLst xmlns:a="http://schemas.openxmlformats.org/drawingml/2006/main">
              <a:ext uri="{FF2B5EF4-FFF2-40B4-BE49-F238E27FC236}">
                <a16:creationId xmlns:a16="http://schemas.microsoft.com/office/drawing/2014/main" id="{699B4BEA-6BD5-4B57-9BF3-11E16D5CE02D}"/>
              </a:ext>
            </a:extLst>
          </p:cNvPr>
          <p:cNvSpPr>
            <a:spLocks xmlns:a="http://schemas.openxmlformats.org/drawingml/2006/main" noGrp="1"/>
          </p:cNvSpPr>
          <p:nvPr/>
        </p:nvSpPr>
        <p:spPr>
          <a:xfrm xmlns:a="http://schemas.openxmlformats.org/drawingml/2006/main">
            <a:off x="6896100" y="3067050"/>
            <a:ext cx="4667250" cy="2085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HR 0.75</a:t>
            </a:r>
          </a:p>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biomarker + / − strata</a:t>
            </a:r>
          </a:p>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748 patients</a:t>
            </a:r>
          </a:p>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511 final expected events</a:t>
            </a:r>
          </a:p>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81.7% power</a:t>
            </a:r>
          </a:p>
        </p:txBody>
      </p:sp>
      <p:sp>
        <p:nvSpPr>
          <p:cNvPr id="13" name="">
            <a:extLst xmlns:a="http://schemas.openxmlformats.org/drawingml/2006/main">
              <a:ext uri="{FF2B5EF4-FFF2-40B4-BE49-F238E27FC236}">
                <a16:creationId xmlns:a16="http://schemas.microsoft.com/office/drawing/2014/main" id="{5FA93221-5521-45DD-95D5-D91E0BEDC60B}"/>
              </a:ext>
            </a:extLst>
          </p:cNvPr>
          <p:cNvSpPr>
            <a:spLocks xmlns:a="http://schemas.openxmlformats.org/drawingml/2006/main" noGrp="1"/>
          </p:cNvSpPr>
          <p:nvPr/>
        </p:nvSpPr>
        <p:spPr>
          <a:xfrm xmlns:a="http://schemas.openxmlformats.org/drawingml/2006/main">
            <a:off x="400050" y="5829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128"/>
          </a:bodyPr>
          <a:lstStyle xmlns:a="http://schemas.openxmlformats.org/drawingml/2006/main"/>
          <a:p xmlns:a="http://schemas.openxmlformats.org/drawingml/2006/main">
            <a:pPr algn="l">
              <a:lnSpc>
                <a:spcPct val="105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gsSurv() powers the anchor; gsSurvPower() derives the rest on one timeline.</a:t>
            </a:r>
          </a:p>
        </p:txBody>
      </p:sp>
    </p:spTree>
    <p:extLst>
      <p:ext uri="{BB962C8B-B14F-4D97-AF65-F5344CB8AC3E}">
        <p14:creationId xmlns:p14="http://schemas.microsoft.com/office/powerpoint/2010/main" val="138425490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4820D15-41F6-4995-8C79-77C9F1CEBBB7}"/>
              </a:ext>
            </a:extLst>
          </p:cNvPr>
          <p:cNvSpPr>
            <a:spLocks xmlns:a="http://schemas.openxmlformats.org/drawingml/2006/main" noGrp="1"/>
          </p:cNvSpPr>
          <p:nvPr/>
        </p:nvSpPr>
        <p:spPr>
          <a:xfrm xmlns:a="http://schemas.openxmlformats.org/drawingml/2006/main">
            <a:off x="400050" y="4000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899"/>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A disciplined gsSurvPower workflow</a:t>
            </a:r>
          </a:p>
        </p:txBody>
      </p:sp>
      <p:sp>
        <p:nvSpPr>
          <p:cNvPr id="2" name="">
            <a:extLst xmlns:a="http://schemas.openxmlformats.org/drawingml/2006/main">
              <a:ext uri="{FF2B5EF4-FFF2-40B4-BE49-F238E27FC236}">
                <a16:creationId xmlns:a16="http://schemas.microsoft.com/office/drawing/2014/main" id="{10EA3D20-88F6-41E4-8A6F-6EDC1AC4CE68}"/>
              </a:ext>
            </a:extLst>
          </p:cNvPr>
          <p:cNvSpPr>
            <a:spLocks xmlns:a="http://schemas.openxmlformats.org/drawingml/2006/main" noGrp="1"/>
          </p:cNvSpPr>
          <p:nvPr/>
        </p:nvSpPr>
        <p:spPr>
          <a:xfrm xmlns:a="http://schemas.openxmlformats.org/drawingml/2006/main">
            <a:off x="400050" y="1381125"/>
            <a:ext cx="476250" cy="476250"/>
          </a:xfrm>
          <a:prstGeom xmlns:a="http://schemas.openxmlformats.org/drawingml/2006/main" prst="ellipse">
            <a:avLst/>
          </a:prstGeom>
          <a:solidFill xmlns:a="http://schemas.openxmlformats.org/drawingml/2006/main">
            <a:srgbClr val="F2F2F2"/>
          </a:solidFill>
          <a:ln xmlns:a="http://schemas.openxmlformats.org/drawingml/2006/main" w="0">
            <a:solidFill>
              <a:srgbClr val="F2F2F2"/>
            </a:solidFill>
            <a:prstDash val="solid"/>
          </a:ln>
        </p:spPr>
      </p:sp>
      <p:sp>
        <p:nvSpPr>
          <p:cNvPr id="3" name="">
            <a:extLst xmlns:a="http://schemas.openxmlformats.org/drawingml/2006/main">
              <a:ext uri="{FF2B5EF4-FFF2-40B4-BE49-F238E27FC236}">
                <a16:creationId xmlns:a16="http://schemas.microsoft.com/office/drawing/2014/main" id="{649AD736-0D15-4025-B0F4-28B2DA174D54}"/>
              </a:ext>
            </a:extLst>
          </p:cNvPr>
          <p:cNvSpPr>
            <a:spLocks xmlns:a="http://schemas.openxmlformats.org/drawingml/2006/main" noGrp="1"/>
          </p:cNvSpPr>
          <p:nvPr/>
        </p:nvSpPr>
        <p:spPr>
          <a:xfrm xmlns:a="http://schemas.openxmlformats.org/drawingml/2006/main">
            <a:off x="400050" y="14668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1</a:t>
            </a:r>
          </a:p>
        </p:txBody>
      </p:sp>
      <p:sp>
        <p:nvSpPr>
          <p:cNvPr id="4" name="">
            <a:extLst xmlns:a="http://schemas.openxmlformats.org/drawingml/2006/main">
              <a:ext uri="{FF2B5EF4-FFF2-40B4-BE49-F238E27FC236}">
                <a16:creationId xmlns:a16="http://schemas.microsoft.com/office/drawing/2014/main" id="{FB4F1DFB-A80A-45DB-9F93-8F329F3A3F19}"/>
              </a:ext>
            </a:extLst>
          </p:cNvPr>
          <p:cNvSpPr>
            <a:spLocks xmlns:a="http://schemas.openxmlformats.org/drawingml/2006/main" noGrp="1"/>
          </p:cNvSpPr>
          <p:nvPr/>
        </p:nvSpPr>
        <p:spPr>
          <a:xfrm xmlns:a="http://schemas.openxmlformats.org/drawingml/2006/main">
            <a:off x="1162050" y="14192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Anchor</a:t>
            </a:r>
          </a:p>
        </p:txBody>
      </p:sp>
      <p:sp>
        <p:nvSpPr>
          <p:cNvPr id="5" name="">
            <a:extLst xmlns:a="http://schemas.openxmlformats.org/drawingml/2006/main">
              <a:ext uri="{FF2B5EF4-FFF2-40B4-BE49-F238E27FC236}">
                <a16:creationId xmlns:a16="http://schemas.microsoft.com/office/drawing/2014/main" id="{183D2C67-8737-4B0D-BC96-CFA4DE913FD6}"/>
              </a:ext>
            </a:extLst>
          </p:cNvPr>
          <p:cNvSpPr>
            <a:spLocks xmlns:a="http://schemas.openxmlformats.org/drawingml/2006/main" noGrp="1"/>
          </p:cNvSpPr>
          <p:nvPr/>
        </p:nvSpPr>
        <p:spPr>
          <a:xfrm xmlns:a="http://schemas.openxmlformats.org/drawingml/2006/main">
            <a:off x="3095625" y="1438275"/>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Start from x or specify the full plan.</a:t>
            </a:r>
          </a:p>
        </p:txBody>
      </p:sp>
      <p:sp>
        <p:nvSpPr>
          <p:cNvPr id="6" name="">
            <a:extLst xmlns:a="http://schemas.openxmlformats.org/drawingml/2006/main">
              <a:ext uri="{FF2B5EF4-FFF2-40B4-BE49-F238E27FC236}">
                <a16:creationId xmlns:a16="http://schemas.microsoft.com/office/drawing/2014/main" id="{C32D1301-1939-4B52-ACA2-5D5874740AB4}"/>
              </a:ext>
            </a:extLst>
          </p:cNvPr>
          <p:cNvSpPr>
            <a:spLocks xmlns:a="http://schemas.openxmlformats.org/drawingml/2006/main" noGrp="1"/>
          </p:cNvSpPr>
          <p:nvPr/>
        </p:nvSpPr>
        <p:spPr>
          <a:xfrm xmlns:a="http://schemas.openxmlformats.org/drawingml/2006/main">
            <a:off x="400050" y="2200275"/>
            <a:ext cx="476250" cy="476250"/>
          </a:xfrm>
          <a:prstGeom xmlns:a="http://schemas.openxmlformats.org/drawingml/2006/main" prst="ellipse">
            <a:avLst/>
          </a:prstGeom>
          <a:solidFill xmlns:a="http://schemas.openxmlformats.org/drawingml/2006/main">
            <a:srgbClr val="EAF6FC"/>
          </a:solidFill>
          <a:ln xmlns:a="http://schemas.openxmlformats.org/drawingml/2006/main" w="0">
            <a:solidFill>
              <a:srgbClr val="EAF6FC"/>
            </a:solidFill>
            <a:prstDash val="solid"/>
          </a:ln>
        </p:spPr>
      </p:sp>
      <p:sp>
        <p:nvSpPr>
          <p:cNvPr id="7" name="">
            <a:extLst xmlns:a="http://schemas.openxmlformats.org/drawingml/2006/main">
              <a:ext uri="{FF2B5EF4-FFF2-40B4-BE49-F238E27FC236}">
                <a16:creationId xmlns:a16="http://schemas.microsoft.com/office/drawing/2014/main" id="{38271912-9F83-469B-879C-D7A302B5F052}"/>
              </a:ext>
            </a:extLst>
          </p:cNvPr>
          <p:cNvSpPr>
            <a:spLocks xmlns:a="http://schemas.openxmlformats.org/drawingml/2006/main" noGrp="1"/>
          </p:cNvSpPr>
          <p:nvPr/>
        </p:nvSpPr>
        <p:spPr>
          <a:xfrm xmlns:a="http://schemas.openxmlformats.org/drawingml/2006/main">
            <a:off x="400050" y="22860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070E8086-E66A-4017-A214-637F350A0D20}"/>
              </a:ext>
            </a:extLst>
          </p:cNvPr>
          <p:cNvSpPr>
            <a:spLocks xmlns:a="http://schemas.openxmlformats.org/drawingml/2006/main" noGrp="1"/>
          </p:cNvSpPr>
          <p:nvPr/>
        </p:nvSpPr>
        <p:spPr>
          <a:xfrm xmlns:a="http://schemas.openxmlformats.org/drawingml/2006/main">
            <a:off x="1162050" y="223837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Perturb</a:t>
            </a:r>
          </a:p>
        </p:txBody>
      </p:sp>
      <p:sp>
        <p:nvSpPr>
          <p:cNvPr id="9" name="">
            <a:extLst xmlns:a="http://schemas.openxmlformats.org/drawingml/2006/main">
              <a:ext uri="{FF2B5EF4-FFF2-40B4-BE49-F238E27FC236}">
                <a16:creationId xmlns:a16="http://schemas.microsoft.com/office/drawing/2014/main" id="{E8EC0907-DCC5-4E0A-B983-EEA17B42A65C}"/>
              </a:ext>
            </a:extLst>
          </p:cNvPr>
          <p:cNvSpPr>
            <a:spLocks xmlns:a="http://schemas.openxmlformats.org/drawingml/2006/main" noGrp="1"/>
          </p:cNvSpPr>
          <p:nvPr/>
        </p:nvSpPr>
        <p:spPr>
          <a:xfrm xmlns:a="http://schemas.openxmlformats.org/drawingml/2006/main">
            <a:off x="3095625" y="2257425"/>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Change the scenario assumptions that matter.</a:t>
            </a:r>
          </a:p>
        </p:txBody>
      </p:sp>
      <p:sp>
        <p:nvSpPr>
          <p:cNvPr id="10" name="">
            <a:extLst xmlns:a="http://schemas.openxmlformats.org/drawingml/2006/main">
              <a:ext uri="{FF2B5EF4-FFF2-40B4-BE49-F238E27FC236}">
                <a16:creationId xmlns:a16="http://schemas.microsoft.com/office/drawing/2014/main" id="{80955AA1-2556-4744-933F-EC1FA37C713B}"/>
              </a:ext>
            </a:extLst>
          </p:cNvPr>
          <p:cNvSpPr>
            <a:spLocks xmlns:a="http://schemas.openxmlformats.org/drawingml/2006/main" noGrp="1"/>
          </p:cNvSpPr>
          <p:nvPr/>
        </p:nvSpPr>
        <p:spPr>
          <a:xfrm xmlns:a="http://schemas.openxmlformats.org/drawingml/2006/main">
            <a:off x="400050" y="3019425"/>
            <a:ext cx="476250" cy="476250"/>
          </a:xfrm>
          <a:prstGeom xmlns:a="http://schemas.openxmlformats.org/drawingml/2006/main" prst="ellipse">
            <a:avLst/>
          </a:prstGeom>
          <a:solidFill xmlns:a="http://schemas.openxmlformats.org/drawingml/2006/main">
            <a:srgbClr val="F2F2F2"/>
          </a:solidFill>
          <a:ln xmlns:a="http://schemas.openxmlformats.org/drawingml/2006/main" w="0">
            <a:solidFill>
              <a:srgbClr val="F2F2F2"/>
            </a:solidFill>
            <a:prstDash val="solid"/>
          </a:ln>
        </p:spPr>
      </p:sp>
      <p:sp>
        <p:nvSpPr>
          <p:cNvPr id="11" name="">
            <a:extLst xmlns:a="http://schemas.openxmlformats.org/drawingml/2006/main">
              <a:ext uri="{FF2B5EF4-FFF2-40B4-BE49-F238E27FC236}">
                <a16:creationId xmlns:a16="http://schemas.microsoft.com/office/drawing/2014/main" id="{95350D0D-215E-41A8-A28F-B9A8015A14D6}"/>
              </a:ext>
            </a:extLst>
          </p:cNvPr>
          <p:cNvSpPr>
            <a:spLocks xmlns:a="http://schemas.openxmlformats.org/drawingml/2006/main" noGrp="1"/>
          </p:cNvSpPr>
          <p:nvPr/>
        </p:nvSpPr>
        <p:spPr>
          <a:xfrm xmlns:a="http://schemas.openxmlformats.org/drawingml/2006/main">
            <a:off x="400050" y="31051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3</a:t>
            </a:r>
          </a:p>
        </p:txBody>
      </p:sp>
      <p:sp>
        <p:nvSpPr>
          <p:cNvPr id="12" name="">
            <a:extLst xmlns:a="http://schemas.openxmlformats.org/drawingml/2006/main">
              <a:ext uri="{FF2B5EF4-FFF2-40B4-BE49-F238E27FC236}">
                <a16:creationId xmlns:a16="http://schemas.microsoft.com/office/drawing/2014/main" id="{4A30FFE0-AEDC-41CB-8BA5-ADF443065740}"/>
              </a:ext>
            </a:extLst>
          </p:cNvPr>
          <p:cNvSpPr>
            <a:spLocks xmlns:a="http://schemas.openxmlformats.org/drawingml/2006/main" noGrp="1"/>
          </p:cNvSpPr>
          <p:nvPr/>
        </p:nvSpPr>
        <p:spPr>
          <a:xfrm xmlns:a="http://schemas.openxmlformats.org/drawingml/2006/main">
            <a:off x="1162050" y="30575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Encode</a:t>
            </a:r>
          </a:p>
        </p:txBody>
      </p:sp>
      <p:sp>
        <p:nvSpPr>
          <p:cNvPr id="13" name="">
            <a:extLst xmlns:a="http://schemas.openxmlformats.org/drawingml/2006/main">
              <a:ext uri="{FF2B5EF4-FFF2-40B4-BE49-F238E27FC236}">
                <a16:creationId xmlns:a16="http://schemas.microsoft.com/office/drawing/2014/main" id="{D4DEED66-A7FD-4DFF-9CC1-B9C2A3AF06F1}"/>
              </a:ext>
            </a:extLst>
          </p:cNvPr>
          <p:cNvSpPr>
            <a:spLocks xmlns:a="http://schemas.openxmlformats.org/drawingml/2006/main" noGrp="1"/>
          </p:cNvSpPr>
          <p:nvPr/>
        </p:nvSpPr>
        <p:spPr>
          <a:xfrm xmlns:a="http://schemas.openxmlformats.org/drawingml/2006/main">
            <a:off x="3095625" y="3076575"/>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Translate protocol timing into floors, gates, and caps.</a:t>
            </a:r>
          </a:p>
        </p:txBody>
      </p:sp>
      <p:sp>
        <p:nvSpPr>
          <p:cNvPr id="14" name="">
            <a:extLst xmlns:a="http://schemas.openxmlformats.org/drawingml/2006/main">
              <a:ext uri="{FF2B5EF4-FFF2-40B4-BE49-F238E27FC236}">
                <a16:creationId xmlns:a16="http://schemas.microsoft.com/office/drawing/2014/main" id="{C292576B-4530-4F3A-8C4E-3DC6D1E64B51}"/>
              </a:ext>
            </a:extLst>
          </p:cNvPr>
          <p:cNvSpPr>
            <a:spLocks xmlns:a="http://schemas.openxmlformats.org/drawingml/2006/main" noGrp="1"/>
          </p:cNvSpPr>
          <p:nvPr/>
        </p:nvSpPr>
        <p:spPr>
          <a:xfrm xmlns:a="http://schemas.openxmlformats.org/drawingml/2006/main">
            <a:off x="400050" y="3838575"/>
            <a:ext cx="476250" cy="476250"/>
          </a:xfrm>
          <a:prstGeom xmlns:a="http://schemas.openxmlformats.org/drawingml/2006/main" prst="ellipse">
            <a:avLst/>
          </a:prstGeom>
          <a:solidFill xmlns:a="http://schemas.openxmlformats.org/drawingml/2006/main">
            <a:srgbClr val="EAF6FC"/>
          </a:solidFill>
          <a:ln xmlns:a="http://schemas.openxmlformats.org/drawingml/2006/main" w="0">
            <a:solidFill>
              <a:srgbClr val="EAF6FC"/>
            </a:solidFill>
            <a:prstDash val="solid"/>
          </a:ln>
        </p:spPr>
      </p:sp>
      <p:sp>
        <p:nvSpPr>
          <p:cNvPr id="15" name="">
            <a:extLst xmlns:a="http://schemas.openxmlformats.org/drawingml/2006/main">
              <a:ext uri="{FF2B5EF4-FFF2-40B4-BE49-F238E27FC236}">
                <a16:creationId xmlns:a16="http://schemas.microsoft.com/office/drawing/2014/main" id="{961C30C4-F883-42BC-B771-4FC7336A2AD9}"/>
              </a:ext>
            </a:extLst>
          </p:cNvPr>
          <p:cNvSpPr>
            <a:spLocks xmlns:a="http://schemas.openxmlformats.org/drawingml/2006/main" noGrp="1"/>
          </p:cNvSpPr>
          <p:nvPr/>
        </p:nvSpPr>
        <p:spPr>
          <a:xfrm xmlns:a="http://schemas.openxmlformats.org/drawingml/2006/main">
            <a:off x="400050" y="39243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4</a:t>
            </a:r>
          </a:p>
        </p:txBody>
      </p:sp>
      <p:sp>
        <p:nvSpPr>
          <p:cNvPr id="16" name="">
            <a:extLst xmlns:a="http://schemas.openxmlformats.org/drawingml/2006/main">
              <a:ext uri="{FF2B5EF4-FFF2-40B4-BE49-F238E27FC236}">
                <a16:creationId xmlns:a16="http://schemas.microsoft.com/office/drawing/2014/main" id="{60931950-0399-49F6-9792-ADDC386B9119}"/>
              </a:ext>
            </a:extLst>
          </p:cNvPr>
          <p:cNvSpPr>
            <a:spLocks xmlns:a="http://schemas.openxmlformats.org/drawingml/2006/main" noGrp="1"/>
          </p:cNvSpPr>
          <p:nvPr/>
        </p:nvSpPr>
        <p:spPr>
          <a:xfrm xmlns:a="http://schemas.openxmlformats.org/drawingml/2006/main">
            <a:off x="1162050" y="387667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Spend</a:t>
            </a:r>
          </a:p>
        </p:txBody>
      </p:sp>
      <p:sp>
        <p:nvSpPr>
          <p:cNvPr id="17" name="">
            <a:extLst xmlns:a="http://schemas.openxmlformats.org/drawingml/2006/main">
              <a:ext uri="{FF2B5EF4-FFF2-40B4-BE49-F238E27FC236}">
                <a16:creationId xmlns:a16="http://schemas.microsoft.com/office/drawing/2014/main" id="{AC736AF9-1CE7-4D0B-A68A-5BDAEEAB8317}"/>
              </a:ext>
            </a:extLst>
          </p:cNvPr>
          <p:cNvSpPr>
            <a:spLocks xmlns:a="http://schemas.openxmlformats.org/drawingml/2006/main" noGrp="1"/>
          </p:cNvSpPr>
          <p:nvPr/>
        </p:nvSpPr>
        <p:spPr>
          <a:xfrm xmlns:a="http://schemas.openxmlformats.org/drawingml/2006/main">
            <a:off x="3095625" y="3895725"/>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Choose the clock that should govern alpha and beta.</a:t>
            </a:r>
          </a:p>
        </p:txBody>
      </p:sp>
      <p:sp>
        <p:nvSpPr>
          <p:cNvPr id="18" name="">
            <a:extLst xmlns:a="http://schemas.openxmlformats.org/drawingml/2006/main">
              <a:ext uri="{FF2B5EF4-FFF2-40B4-BE49-F238E27FC236}">
                <a16:creationId xmlns:a16="http://schemas.microsoft.com/office/drawing/2014/main" id="{A7326FA9-DBD9-4B16-A4FC-6FF9B02AEFE6}"/>
              </a:ext>
            </a:extLst>
          </p:cNvPr>
          <p:cNvSpPr>
            <a:spLocks xmlns:a="http://schemas.openxmlformats.org/drawingml/2006/main" noGrp="1"/>
          </p:cNvSpPr>
          <p:nvPr/>
        </p:nvSpPr>
        <p:spPr>
          <a:xfrm xmlns:a="http://schemas.openxmlformats.org/drawingml/2006/main">
            <a:off x="400050" y="4657725"/>
            <a:ext cx="476250" cy="476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9" name="">
            <a:extLst xmlns:a="http://schemas.openxmlformats.org/drawingml/2006/main">
              <a:ext uri="{FF2B5EF4-FFF2-40B4-BE49-F238E27FC236}">
                <a16:creationId xmlns:a16="http://schemas.microsoft.com/office/drawing/2014/main" id="{5403EFB0-1F45-4BB0-922E-AFCB981608E4}"/>
              </a:ext>
            </a:extLst>
          </p:cNvPr>
          <p:cNvSpPr>
            <a:spLocks xmlns:a="http://schemas.openxmlformats.org/drawingml/2006/main" noGrp="1"/>
          </p:cNvSpPr>
          <p:nvPr/>
        </p:nvSpPr>
        <p:spPr>
          <a:xfrm xmlns:a="http://schemas.openxmlformats.org/drawingml/2006/main">
            <a:off x="400050" y="47434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5</a:t>
            </a:r>
          </a:p>
        </p:txBody>
      </p:sp>
      <p:sp>
        <p:nvSpPr>
          <p:cNvPr id="20" name="">
            <a:extLst xmlns:a="http://schemas.openxmlformats.org/drawingml/2006/main">
              <a:ext uri="{FF2B5EF4-FFF2-40B4-BE49-F238E27FC236}">
                <a16:creationId xmlns:a16="http://schemas.microsoft.com/office/drawing/2014/main" id="{B399F552-AA98-487A-8124-340BE2252C8D}"/>
              </a:ext>
            </a:extLst>
          </p:cNvPr>
          <p:cNvSpPr>
            <a:spLocks xmlns:a="http://schemas.openxmlformats.org/drawingml/2006/main" noGrp="1"/>
          </p:cNvSpPr>
          <p:nvPr/>
        </p:nvSpPr>
        <p:spPr>
          <a:xfrm xmlns:a="http://schemas.openxmlformats.org/drawingml/2006/main">
            <a:off x="1162050" y="46958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Simulate</a:t>
            </a:r>
          </a:p>
        </p:txBody>
      </p:sp>
      <p:sp>
        <p:nvSpPr>
          <p:cNvPr id="21" name="">
            <a:extLst xmlns:a="http://schemas.openxmlformats.org/drawingml/2006/main">
              <a:ext uri="{FF2B5EF4-FFF2-40B4-BE49-F238E27FC236}">
                <a16:creationId xmlns:a16="http://schemas.microsoft.com/office/drawing/2014/main" id="{8FB60A8E-0E5F-4AD0-A5D3-2AF94EE6828C}"/>
              </a:ext>
            </a:extLst>
          </p:cNvPr>
          <p:cNvSpPr>
            <a:spLocks xmlns:a="http://schemas.openxmlformats.org/drawingml/2006/main" noGrp="1"/>
          </p:cNvSpPr>
          <p:nvPr/>
        </p:nvSpPr>
        <p:spPr>
          <a:xfrm xmlns:a="http://schemas.openxmlformats.org/drawingml/2006/main">
            <a:off x="3095625" y="4714875"/>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Quantify variability when expected values are not enough.</a:t>
            </a:r>
          </a:p>
        </p:txBody>
      </p:sp>
      <p:sp>
        <p:nvSpPr>
          <p:cNvPr id="22" name="">
            <a:extLst xmlns:a="http://schemas.openxmlformats.org/drawingml/2006/main">
              <a:ext uri="{FF2B5EF4-FFF2-40B4-BE49-F238E27FC236}">
                <a16:creationId xmlns:a16="http://schemas.microsoft.com/office/drawing/2014/main" id="{3DD51828-A339-4109-B7BB-545223E64634}"/>
              </a:ext>
            </a:extLst>
          </p:cNvPr>
          <p:cNvSpPr>
            <a:spLocks xmlns:a="http://schemas.openxmlformats.org/drawingml/2006/main" noGrp="1"/>
          </p:cNvSpPr>
          <p:nvPr/>
        </p:nvSpPr>
        <p:spPr>
          <a:xfrm xmlns:a="http://schemas.openxmlformats.org/drawingml/2006/main">
            <a:off x="400050" y="5810250"/>
            <a:ext cx="11391900" cy="685800"/>
          </a:xfrm>
          <a:prstGeom xmlns:a="http://schemas.openxmlformats.org/drawingml/2006/main" prst="roundRect">
            <a:avLst>
              <a:gd name="adj" fmla="val 16667"/>
            </a:avLst>
          </a:prstGeom>
          <a:solidFill xmlns:a="http://schemas.openxmlformats.org/drawingml/2006/main">
            <a:srgbClr val="EAF6FC"/>
          </a:solidFill>
          <a:ln xmlns:a="http://schemas.openxmlformats.org/drawingml/2006/main" w="0">
            <a:solidFill>
              <a:srgbClr val="EAF6FC"/>
            </a:solidFill>
            <a:prstDash val="solid"/>
          </a:ln>
        </p:spPr>
      </p:sp>
      <p:sp>
        <p:nvSpPr>
          <p:cNvPr id="23" name="">
            <a:extLst xmlns:a="http://schemas.openxmlformats.org/drawingml/2006/main">
              <a:ext uri="{FF2B5EF4-FFF2-40B4-BE49-F238E27FC236}">
                <a16:creationId xmlns:a16="http://schemas.microsoft.com/office/drawing/2014/main" id="{8B654E93-E843-4D8C-A66E-1A76510F6833}"/>
              </a:ext>
            </a:extLst>
          </p:cNvPr>
          <p:cNvSpPr>
            <a:spLocks xmlns:a="http://schemas.openxmlformats.org/drawingml/2006/main" noGrp="1"/>
          </p:cNvSpPr>
          <p:nvPr/>
        </p:nvSpPr>
        <p:spPr>
          <a:xfrm xmlns:a="http://schemas.openxmlformats.org/drawingml/2006/main">
            <a:off x="647700" y="5991225"/>
            <a:ext cx="1090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75" b="1">
                <a:solidFill>
                  <a:srgbClr val="3D8DFF"/>
                </a:solidFill>
                <a:latin typeface="Helvetica Neue"/>
                <a:ea typeface="Helvetica Neue"/>
                <a:cs typeface="Helvetica Neue"/>
              </a:defRPr>
            </a:pPr>
            <a:r>
              <a:rPr sz="2175" b="1">
                <a:solidFill>
                  <a:srgbClr val="3D8DFF"/>
                </a:solidFill>
                <a:latin typeface="Helvetica Neue"/>
                <a:ea typeface="Helvetica Neue"/>
                <a:cs typeface="Helvetica Neue"/>
              </a:rPr>
              <a:t>Design the plan. Stress-test the expectation. Simulate the execution.</a:t>
            </a:r>
          </a:p>
        </p:txBody>
      </p:sp>
    </p:spTree>
    <p:extLst>
      <p:ext uri="{BB962C8B-B14F-4D97-AF65-F5344CB8AC3E}">
        <p14:creationId xmlns:p14="http://schemas.microsoft.com/office/powerpoint/2010/main" val="1759388490"/>
      </p:ext>
    </p:extLst>
  </p:cSld>
</p:sld>
</file>

<file path=ppt/theme/theme1.xml><?xml version="1.0" encoding="utf-8"?>
<a:theme xmlns:a="http://schemas.openxmlformats.org/drawingml/2006/main" name="ChatGPT">
  <a:themeElements>
    <a:clrScheme name="gsSurvPower">
      <a:dk1>
        <a:srgbClr val="000000"/>
      </a:dk1>
      <a:lt1>
        <a:srgbClr val="FFFFFF"/>
      </a:lt1>
      <a:dk2>
        <a:srgbClr val="4B5563"/>
      </a:dk2>
      <a:lt2>
        <a:srgbClr val="F2F2F2"/>
      </a:lt2>
      <a:accent1>
        <a:srgbClr val="3D8DFF"/>
      </a:accent1>
      <a:accent2>
        <a:srgbClr val="6DCBF4"/>
      </a:accent2>
      <a:accent3>
        <a:srgbClr val="2E8B57"/>
      </a:accent3>
      <a:accent4>
        <a:srgbClr val="E07A3F"/>
      </a:accent4>
      <a:accent5>
        <a:srgbClr val="C94B4B"/>
      </a:accent5>
      <a:accent6>
        <a:srgbClr val="7C6CE7"/>
      </a:accent6>
      <a:hlink>
        <a:srgbClr val="3D8DFF"/>
      </a:hlink>
      <a:folHlink>
        <a:srgbClr val="7C6CE7"/>
      </a:folHlink>
    </a:clrScheme>
    <a:fontScheme name="Office">
      <a:majorFont>
        <a:latin typeface="Calibri Light"/>
        <a:ea typeface="Calibri Light"/>
        <a:cs typeface="Calibri Light"/>
      </a:majorFont>
      <a:minorFont>
        <a:latin typeface="Calibri"/>
        <a:ea typeface="Calibri"/>
        <a:cs typeface="Calibri"/>
      </a:minorFont>
    </a:fontScheme>
    <a:fmtScheme name="gsSurvPow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2026-08-23T12:30:30.9560000Z</dcterms:created>
  <dcterms:modified xsi:type="dcterms:W3CDTF">2026-08-23T12:30:30.9560000Z</dcterms:modified>
</coreProperties>
</file>